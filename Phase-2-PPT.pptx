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20"/>
  </p:notesMasterIdLst>
  <p:sldIdLst>
    <p:sldId id="256" r:id="rId2"/>
    <p:sldId id="257" r:id="rId3"/>
    <p:sldId id="276" r:id="rId4"/>
    <p:sldId id="263" r:id="rId5"/>
    <p:sldId id="277" r:id="rId6"/>
    <p:sldId id="264" r:id="rId7"/>
    <p:sldId id="268" r:id="rId8"/>
    <p:sldId id="279" r:id="rId9"/>
    <p:sldId id="280" r:id="rId10"/>
    <p:sldId id="278" r:id="rId11"/>
    <p:sldId id="281" r:id="rId12"/>
    <p:sldId id="269" r:id="rId13"/>
    <p:sldId id="286" r:id="rId14"/>
    <p:sldId id="283" r:id="rId15"/>
    <p:sldId id="284" r:id="rId16"/>
    <p:sldId id="282" r:id="rId17"/>
    <p:sldId id="285" r:id="rId18"/>
    <p:sldId id="287" r:id="rId19"/>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3EBDA19-7459-437E-87C6-172F433A6FFA}">
  <a:tblStyle styleId="{03EBDA19-7459-437E-87C6-172F433A6FFA}"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2cee3756f8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g2cee3756f8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2d027107ea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2d027107ea4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59271424-B7CF-A168-D8E1-2343281525FF}"/>
            </a:ext>
          </a:extLst>
        </p:cNvPr>
        <p:cNvGrpSpPr/>
        <p:nvPr/>
      </p:nvGrpSpPr>
      <p:grpSpPr>
        <a:xfrm>
          <a:off x="0" y="0"/>
          <a:ext cx="0" cy="0"/>
          <a:chOff x="0" y="0"/>
          <a:chExt cx="0" cy="0"/>
        </a:xfrm>
      </p:grpSpPr>
      <p:sp>
        <p:nvSpPr>
          <p:cNvPr id="57" name="Google Shape;57;g2d027107ea4_0_0:notes">
            <a:extLst>
              <a:ext uri="{FF2B5EF4-FFF2-40B4-BE49-F238E27FC236}">
                <a16:creationId xmlns:a16="http://schemas.microsoft.com/office/drawing/2014/main" id="{7D35F02A-A148-4883-D006-4480A945EA4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g2d027107ea4_0_0:notes">
            <a:extLst>
              <a:ext uri="{FF2B5EF4-FFF2-40B4-BE49-F238E27FC236}">
                <a16:creationId xmlns:a16="http://schemas.microsoft.com/office/drawing/2014/main" id="{395F0BCD-11F6-8888-EC00-8F6A322537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362432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g2d027107ea4_0_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2d027107ea4_0_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a:extLst>
            <a:ext uri="{FF2B5EF4-FFF2-40B4-BE49-F238E27FC236}">
              <a16:creationId xmlns:a16="http://schemas.microsoft.com/office/drawing/2014/main" id="{37AEB8DA-03CC-EADA-7625-25766ECE8BDB}"/>
            </a:ext>
          </a:extLst>
        </p:cNvPr>
        <p:cNvGrpSpPr/>
        <p:nvPr/>
      </p:nvGrpSpPr>
      <p:grpSpPr>
        <a:xfrm>
          <a:off x="0" y="0"/>
          <a:ext cx="0" cy="0"/>
          <a:chOff x="0" y="0"/>
          <a:chExt cx="0" cy="0"/>
        </a:xfrm>
      </p:grpSpPr>
      <p:sp>
        <p:nvSpPr>
          <p:cNvPr id="93" name="Google Shape;93;g2d027107ea4_0_9:notes">
            <a:extLst>
              <a:ext uri="{FF2B5EF4-FFF2-40B4-BE49-F238E27FC236}">
                <a16:creationId xmlns:a16="http://schemas.microsoft.com/office/drawing/2014/main" id="{D7A996FA-3BDB-D93D-3527-D13F05B895C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4" name="Google Shape;94;g2d027107ea4_0_9:notes">
            <a:extLst>
              <a:ext uri="{FF2B5EF4-FFF2-40B4-BE49-F238E27FC236}">
                <a16:creationId xmlns:a16="http://schemas.microsoft.com/office/drawing/2014/main" id="{45259C47-0293-2329-F428-E13EACDA5E0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806139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8"/>
        <p:cNvGrpSpPr/>
        <p:nvPr/>
      </p:nvGrpSpPr>
      <p:grpSpPr>
        <a:xfrm>
          <a:off x="0" y="0"/>
          <a:ext cx="0" cy="0"/>
          <a:chOff x="0" y="0"/>
          <a:chExt cx="0" cy="0"/>
        </a:xfrm>
      </p:grpSpPr>
      <p:sp>
        <p:nvSpPr>
          <p:cNvPr id="99" name="Google Shape;99;g2cee3756f84_0_1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0" name="Google Shape;100;g2cee3756f84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p:cNvGrpSpPr/>
        <p:nvPr/>
      </p:nvGrpSpPr>
      <p:grpSpPr>
        <a:xfrm>
          <a:off x="0" y="0"/>
          <a:ext cx="0" cy="0"/>
          <a:chOff x="0" y="0"/>
          <a:chExt cx="0" cy="0"/>
        </a:xfrm>
      </p:grpSpPr>
      <p:sp>
        <p:nvSpPr>
          <p:cNvPr id="125" name="Google Shape;125;g2cee3756f84_0_1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cee3756f84_0_1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36CEC6F7-2CDE-98AC-E184-0A654F1EB639}"/>
            </a:ext>
          </a:extLst>
        </p:cNvPr>
        <p:cNvGrpSpPr/>
        <p:nvPr/>
      </p:nvGrpSpPr>
      <p:grpSpPr>
        <a:xfrm>
          <a:off x="0" y="0"/>
          <a:ext cx="0" cy="0"/>
          <a:chOff x="0" y="0"/>
          <a:chExt cx="0" cy="0"/>
        </a:xfrm>
      </p:grpSpPr>
      <p:sp>
        <p:nvSpPr>
          <p:cNvPr id="125" name="Google Shape;125;g2cee3756f84_0_115:notes">
            <a:extLst>
              <a:ext uri="{FF2B5EF4-FFF2-40B4-BE49-F238E27FC236}">
                <a16:creationId xmlns:a16="http://schemas.microsoft.com/office/drawing/2014/main" id="{360FDE97-1329-3D62-C73D-0A1A89DC06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cee3756f84_0_115:notes">
            <a:extLst>
              <a:ext uri="{FF2B5EF4-FFF2-40B4-BE49-F238E27FC236}">
                <a16:creationId xmlns:a16="http://schemas.microsoft.com/office/drawing/2014/main" id="{741E6B26-1184-2CD0-DCDC-99EFAB022A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5705561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575DBF44-D3C9-F015-AC37-E1517E2348AD}"/>
            </a:ext>
          </a:extLst>
        </p:cNvPr>
        <p:cNvGrpSpPr/>
        <p:nvPr/>
      </p:nvGrpSpPr>
      <p:grpSpPr>
        <a:xfrm>
          <a:off x="0" y="0"/>
          <a:ext cx="0" cy="0"/>
          <a:chOff x="0" y="0"/>
          <a:chExt cx="0" cy="0"/>
        </a:xfrm>
      </p:grpSpPr>
      <p:sp>
        <p:nvSpPr>
          <p:cNvPr id="125" name="Google Shape;125;g2cee3756f84_0_115:notes">
            <a:extLst>
              <a:ext uri="{FF2B5EF4-FFF2-40B4-BE49-F238E27FC236}">
                <a16:creationId xmlns:a16="http://schemas.microsoft.com/office/drawing/2014/main" id="{C5DA322B-7810-FB38-7CEC-B32F338113C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cee3756f84_0_115:notes">
            <a:extLst>
              <a:ext uri="{FF2B5EF4-FFF2-40B4-BE49-F238E27FC236}">
                <a16:creationId xmlns:a16="http://schemas.microsoft.com/office/drawing/2014/main" id="{59B6FF0F-71E7-3DBA-16A1-4D217619FC7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686657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52EE6463-7FF3-2071-21A5-92D3D474029C}"/>
            </a:ext>
          </a:extLst>
        </p:cNvPr>
        <p:cNvGrpSpPr/>
        <p:nvPr/>
      </p:nvGrpSpPr>
      <p:grpSpPr>
        <a:xfrm>
          <a:off x="0" y="0"/>
          <a:ext cx="0" cy="0"/>
          <a:chOff x="0" y="0"/>
          <a:chExt cx="0" cy="0"/>
        </a:xfrm>
      </p:grpSpPr>
      <p:sp>
        <p:nvSpPr>
          <p:cNvPr id="125" name="Google Shape;125;g2cee3756f84_0_115:notes">
            <a:extLst>
              <a:ext uri="{FF2B5EF4-FFF2-40B4-BE49-F238E27FC236}">
                <a16:creationId xmlns:a16="http://schemas.microsoft.com/office/drawing/2014/main" id="{E44E57F3-B442-8D2F-0381-AFAF81E8636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cee3756f84_0_115:notes">
            <a:extLst>
              <a:ext uri="{FF2B5EF4-FFF2-40B4-BE49-F238E27FC236}">
                <a16:creationId xmlns:a16="http://schemas.microsoft.com/office/drawing/2014/main" id="{B63C30A4-C7CE-309A-A52D-2D2221D97193}"/>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8835387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4">
          <a:extLst>
            <a:ext uri="{FF2B5EF4-FFF2-40B4-BE49-F238E27FC236}">
              <a16:creationId xmlns:a16="http://schemas.microsoft.com/office/drawing/2014/main" id="{A6C2B762-AE20-CCF4-1F07-8CA8211AB890}"/>
            </a:ext>
          </a:extLst>
        </p:cNvPr>
        <p:cNvGrpSpPr/>
        <p:nvPr/>
      </p:nvGrpSpPr>
      <p:grpSpPr>
        <a:xfrm>
          <a:off x="0" y="0"/>
          <a:ext cx="0" cy="0"/>
          <a:chOff x="0" y="0"/>
          <a:chExt cx="0" cy="0"/>
        </a:xfrm>
      </p:grpSpPr>
      <p:sp>
        <p:nvSpPr>
          <p:cNvPr id="125" name="Google Shape;125;g2cee3756f84_0_115:notes">
            <a:extLst>
              <a:ext uri="{FF2B5EF4-FFF2-40B4-BE49-F238E27FC236}">
                <a16:creationId xmlns:a16="http://schemas.microsoft.com/office/drawing/2014/main" id="{B52868F0-7EC5-520D-02EC-DA7255561EB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26" name="Google Shape;126;g2cee3756f84_0_115:notes">
            <a:extLst>
              <a:ext uri="{FF2B5EF4-FFF2-40B4-BE49-F238E27FC236}">
                <a16:creationId xmlns:a16="http://schemas.microsoft.com/office/drawing/2014/main" id="{631C0E8B-0C55-BC12-F4F4-CABB7509A0D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03252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6f8927c7bf_0_2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8927c7bf_0_27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309140BC-1F21-C3B9-EF9F-44148404F2B1}"/>
            </a:ext>
          </a:extLst>
        </p:cNvPr>
        <p:cNvGrpSpPr/>
        <p:nvPr/>
      </p:nvGrpSpPr>
      <p:grpSpPr>
        <a:xfrm>
          <a:off x="0" y="0"/>
          <a:ext cx="0" cy="0"/>
          <a:chOff x="0" y="0"/>
          <a:chExt cx="0" cy="0"/>
        </a:xfrm>
      </p:grpSpPr>
      <p:sp>
        <p:nvSpPr>
          <p:cNvPr id="131" name="Google Shape;131;g26f8927c7bf_0_275:notes">
            <a:extLst>
              <a:ext uri="{FF2B5EF4-FFF2-40B4-BE49-F238E27FC236}">
                <a16:creationId xmlns:a16="http://schemas.microsoft.com/office/drawing/2014/main" id="{B30696E7-45BE-2AAF-1112-B9ECE926E8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8927c7bf_0_275:notes">
            <a:extLst>
              <a:ext uri="{FF2B5EF4-FFF2-40B4-BE49-F238E27FC236}">
                <a16:creationId xmlns:a16="http://schemas.microsoft.com/office/drawing/2014/main" id="{2AE24990-3AE7-9138-594D-3D1776814DD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50251615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37A0C751-DE1D-5643-01C0-696DE6258969}"/>
            </a:ext>
          </a:extLst>
        </p:cNvPr>
        <p:cNvGrpSpPr/>
        <p:nvPr/>
      </p:nvGrpSpPr>
      <p:grpSpPr>
        <a:xfrm>
          <a:off x="0" y="0"/>
          <a:ext cx="0" cy="0"/>
          <a:chOff x="0" y="0"/>
          <a:chExt cx="0" cy="0"/>
        </a:xfrm>
      </p:grpSpPr>
      <p:sp>
        <p:nvSpPr>
          <p:cNvPr id="131" name="Google Shape;131;g26f8927c7bf_0_275:notes">
            <a:extLst>
              <a:ext uri="{FF2B5EF4-FFF2-40B4-BE49-F238E27FC236}">
                <a16:creationId xmlns:a16="http://schemas.microsoft.com/office/drawing/2014/main" id="{7BDC8880-68EA-6213-DDB0-22386EE31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8927c7bf_0_275:notes">
            <a:extLst>
              <a:ext uri="{FF2B5EF4-FFF2-40B4-BE49-F238E27FC236}">
                <a16:creationId xmlns:a16="http://schemas.microsoft.com/office/drawing/2014/main" id="{A20FA3B8-84F8-3C39-FF0B-233D9026BD3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220407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09738745-5674-7F85-B454-F8DF6A2535F6}"/>
            </a:ext>
          </a:extLst>
        </p:cNvPr>
        <p:cNvGrpSpPr/>
        <p:nvPr/>
      </p:nvGrpSpPr>
      <p:grpSpPr>
        <a:xfrm>
          <a:off x="0" y="0"/>
          <a:ext cx="0" cy="0"/>
          <a:chOff x="0" y="0"/>
          <a:chExt cx="0" cy="0"/>
        </a:xfrm>
      </p:grpSpPr>
      <p:sp>
        <p:nvSpPr>
          <p:cNvPr id="131" name="Google Shape;131;g26f8927c7bf_0_275:notes">
            <a:extLst>
              <a:ext uri="{FF2B5EF4-FFF2-40B4-BE49-F238E27FC236}">
                <a16:creationId xmlns:a16="http://schemas.microsoft.com/office/drawing/2014/main" id="{264378A1-5FF3-BC8B-4316-3E64BFAC90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8927c7bf_0_275:notes">
            <a:extLst>
              <a:ext uri="{FF2B5EF4-FFF2-40B4-BE49-F238E27FC236}">
                <a16:creationId xmlns:a16="http://schemas.microsoft.com/office/drawing/2014/main" id="{A2E8A532-0BF7-6252-0075-77AAFEDFCF3F}"/>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extLst>
      <p:ext uri="{BB962C8B-B14F-4D97-AF65-F5344CB8AC3E}">
        <p14:creationId xmlns:p14="http://schemas.microsoft.com/office/powerpoint/2010/main" val="187215325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8EC3F12E-638B-DDDF-DE6F-332934F1F715}"/>
            </a:ext>
          </a:extLst>
        </p:cNvPr>
        <p:cNvGrpSpPr/>
        <p:nvPr/>
      </p:nvGrpSpPr>
      <p:grpSpPr>
        <a:xfrm>
          <a:off x="0" y="0"/>
          <a:ext cx="0" cy="0"/>
          <a:chOff x="0" y="0"/>
          <a:chExt cx="0" cy="0"/>
        </a:xfrm>
      </p:grpSpPr>
      <p:sp>
        <p:nvSpPr>
          <p:cNvPr id="131" name="Google Shape;131;g26f8927c7bf_0_275:notes">
            <a:extLst>
              <a:ext uri="{FF2B5EF4-FFF2-40B4-BE49-F238E27FC236}">
                <a16:creationId xmlns:a16="http://schemas.microsoft.com/office/drawing/2014/main" id="{C361DE81-0E54-5ADF-0A06-4FE308C6C94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8927c7bf_0_275:notes">
            <a:extLst>
              <a:ext uri="{FF2B5EF4-FFF2-40B4-BE49-F238E27FC236}">
                <a16:creationId xmlns:a16="http://schemas.microsoft.com/office/drawing/2014/main" id="{0B4F7BFD-EB6C-29BA-2007-A7B640B78D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8537685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A7236D6C-F894-9AEB-4365-2905D86A1947}"/>
            </a:ext>
          </a:extLst>
        </p:cNvPr>
        <p:cNvGrpSpPr/>
        <p:nvPr/>
      </p:nvGrpSpPr>
      <p:grpSpPr>
        <a:xfrm>
          <a:off x="0" y="0"/>
          <a:ext cx="0" cy="0"/>
          <a:chOff x="0" y="0"/>
          <a:chExt cx="0" cy="0"/>
        </a:xfrm>
      </p:grpSpPr>
      <p:sp>
        <p:nvSpPr>
          <p:cNvPr id="131" name="Google Shape;131;g26f8927c7bf_0_275:notes">
            <a:extLst>
              <a:ext uri="{FF2B5EF4-FFF2-40B4-BE49-F238E27FC236}">
                <a16:creationId xmlns:a16="http://schemas.microsoft.com/office/drawing/2014/main" id="{FF671191-C950-90BE-849A-103EEB1E491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8927c7bf_0_275:notes">
            <a:extLst>
              <a:ext uri="{FF2B5EF4-FFF2-40B4-BE49-F238E27FC236}">
                <a16:creationId xmlns:a16="http://schemas.microsoft.com/office/drawing/2014/main" id="{FDCAA204-1C28-6A7E-CA5D-257B439AB440}"/>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13808215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a:extLst>
            <a:ext uri="{FF2B5EF4-FFF2-40B4-BE49-F238E27FC236}">
              <a16:creationId xmlns:a16="http://schemas.microsoft.com/office/drawing/2014/main" id="{D2BFBE05-55D6-945D-BD9C-2AEB8E8FF328}"/>
            </a:ext>
          </a:extLst>
        </p:cNvPr>
        <p:cNvGrpSpPr/>
        <p:nvPr/>
      </p:nvGrpSpPr>
      <p:grpSpPr>
        <a:xfrm>
          <a:off x="0" y="0"/>
          <a:ext cx="0" cy="0"/>
          <a:chOff x="0" y="0"/>
          <a:chExt cx="0" cy="0"/>
        </a:xfrm>
      </p:grpSpPr>
      <p:sp>
        <p:nvSpPr>
          <p:cNvPr id="131" name="Google Shape;131;g26f8927c7bf_0_275:notes">
            <a:extLst>
              <a:ext uri="{FF2B5EF4-FFF2-40B4-BE49-F238E27FC236}">
                <a16:creationId xmlns:a16="http://schemas.microsoft.com/office/drawing/2014/main" id="{2D928A5D-EF34-FF02-AA23-258A82C63CC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g26f8927c7bf_0_275:notes">
            <a:extLst>
              <a:ext uri="{FF2B5EF4-FFF2-40B4-BE49-F238E27FC236}">
                <a16:creationId xmlns:a16="http://schemas.microsoft.com/office/drawing/2014/main" id="{7A8C69F4-4333-3740-7469-2B16B8A3989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878587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hdr="0" ftr="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3.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3.xml"/><Relationship Id="rId5" Type="http://schemas.openxmlformats.org/officeDocument/2006/relationships/hyperlink" Target="https://www.openpolicyagent.org/docs" TargetMode="External"/><Relationship Id="rId4" Type="http://schemas.openxmlformats.org/officeDocument/2006/relationships/hyperlink" Target="https://docs.langchain.com/"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3"/>
        <p:cNvGrpSpPr/>
        <p:nvPr/>
      </p:nvGrpSpPr>
      <p:grpSpPr>
        <a:xfrm>
          <a:off x="0" y="0"/>
          <a:ext cx="0" cy="0"/>
          <a:chOff x="0" y="0"/>
          <a:chExt cx="0" cy="0"/>
        </a:xfrm>
      </p:grpSpPr>
      <p:sp>
        <p:nvSpPr>
          <p:cNvPr id="8" name="Google Shape;54;p13">
            <a:extLst>
              <a:ext uri="{FF2B5EF4-FFF2-40B4-BE49-F238E27FC236}">
                <a16:creationId xmlns:a16="http://schemas.microsoft.com/office/drawing/2014/main" id="{837C5F46-C634-0084-D1A8-B5B07CB67972}"/>
              </a:ext>
            </a:extLst>
          </p:cNvPr>
          <p:cNvSpPr txBox="1"/>
          <p:nvPr/>
        </p:nvSpPr>
        <p:spPr>
          <a:xfrm>
            <a:off x="1833101" y="410175"/>
            <a:ext cx="6963900" cy="283200"/>
          </a:xfrm>
          <a:prstGeom prst="rect">
            <a:avLst/>
          </a:prstGeom>
          <a:noFill/>
          <a:ln>
            <a:noFill/>
          </a:ln>
        </p:spPr>
        <p:txBody>
          <a:bodyPr spcFirstLastPara="1" wrap="square" lIns="0" tIns="6050" rIns="0" bIns="0" anchor="t" anchorCtr="0">
            <a:spAutoFit/>
          </a:bodyPr>
          <a:lstStyle/>
          <a:p>
            <a:pPr marL="0" marR="0" lvl="0" indent="0" algn="ctr" rtl="0">
              <a:lnSpc>
                <a:spcPct val="156666"/>
              </a:lnSpc>
              <a:spcBef>
                <a:spcPts val="0"/>
              </a:spcBef>
              <a:spcAft>
                <a:spcPts val="0"/>
              </a:spcAft>
              <a:buClr>
                <a:srgbClr val="376092"/>
              </a:buClr>
              <a:buSzPts val="1400"/>
              <a:buFont typeface="Verdana"/>
              <a:buNone/>
            </a:pPr>
            <a:r>
              <a:rPr lang="en" sz="1800" b="1" i="0" u="none" strike="noStrike" cap="none">
                <a:solidFill>
                  <a:schemeClr val="dk1"/>
                </a:solidFill>
                <a:latin typeface="Times New Roman"/>
                <a:ea typeface="Times New Roman"/>
                <a:cs typeface="Times New Roman"/>
                <a:sym typeface="Times New Roman"/>
              </a:rPr>
              <a:t>DEPARTMENT OF INFORMATION SCIENCE &amp; ENGINEERING</a:t>
            </a:r>
            <a:endParaRPr sz="1000" b="1" i="0" u="none" strike="noStrike" cap="none">
              <a:solidFill>
                <a:schemeClr val="dk1"/>
              </a:solidFill>
              <a:latin typeface="Times New Roman"/>
              <a:ea typeface="Times New Roman"/>
              <a:cs typeface="Times New Roman"/>
              <a:sym typeface="Times New Roman"/>
            </a:endParaRPr>
          </a:p>
        </p:txBody>
      </p:sp>
      <p:sp>
        <p:nvSpPr>
          <p:cNvPr id="9" name="Google Shape;55;p13">
            <a:extLst>
              <a:ext uri="{FF2B5EF4-FFF2-40B4-BE49-F238E27FC236}">
                <a16:creationId xmlns:a16="http://schemas.microsoft.com/office/drawing/2014/main" id="{60F1ED22-C4C8-5A72-E3AA-3F62BED48C9C}"/>
              </a:ext>
            </a:extLst>
          </p:cNvPr>
          <p:cNvSpPr txBox="1"/>
          <p:nvPr/>
        </p:nvSpPr>
        <p:spPr>
          <a:xfrm>
            <a:off x="848875" y="825575"/>
            <a:ext cx="7349400" cy="2043749"/>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FF0000"/>
              </a:buClr>
              <a:buSzPts val="4400"/>
              <a:buFont typeface="Times New Roman"/>
              <a:buNone/>
            </a:pPr>
            <a:endParaRPr lang="en" sz="1900" b="1"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FF0000"/>
              </a:buClr>
              <a:buSzPts val="4400"/>
              <a:buFont typeface="Times New Roman"/>
              <a:buNone/>
            </a:pPr>
            <a:endParaRPr lang="en" sz="1900" b="1"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FF0000"/>
              </a:buClr>
              <a:buSzPts val="4400"/>
              <a:buFont typeface="Times New Roman"/>
              <a:buNone/>
            </a:pPr>
            <a:r>
              <a:rPr lang="en" sz="1900" b="1" dirty="0">
                <a:solidFill>
                  <a:srgbClr val="FF0000"/>
                </a:solidFill>
                <a:latin typeface="Times New Roman" panose="02020603050405020304" pitchFamily="18" charset="0"/>
                <a:ea typeface="Times New Roman"/>
                <a:cs typeface="Times New Roman" panose="02020603050405020304" pitchFamily="18" charset="0"/>
                <a:sym typeface="Times New Roman"/>
              </a:rPr>
              <a:t>Major Project</a:t>
            </a:r>
            <a:r>
              <a:rPr lang="en" sz="1900" b="1" i="0" u="none" strike="noStrike" cap="none" dirty="0">
                <a:solidFill>
                  <a:srgbClr val="FF0000"/>
                </a:solidFill>
                <a:latin typeface="Times New Roman" panose="02020603050405020304" pitchFamily="18" charset="0"/>
                <a:ea typeface="Times New Roman"/>
                <a:cs typeface="Times New Roman" panose="02020603050405020304" pitchFamily="18" charset="0"/>
                <a:sym typeface="Times New Roman"/>
              </a:rPr>
              <a:t> (IS4</a:t>
            </a:r>
            <a:r>
              <a:rPr lang="en" sz="1900" b="1" dirty="0">
                <a:solidFill>
                  <a:srgbClr val="FF0000"/>
                </a:solidFill>
                <a:latin typeface="Times New Roman" panose="02020603050405020304" pitchFamily="18" charset="0"/>
                <a:ea typeface="Times New Roman"/>
                <a:cs typeface="Times New Roman" panose="02020603050405020304" pitchFamily="18" charset="0"/>
                <a:sym typeface="Times New Roman"/>
              </a:rPr>
              <a:t>81P</a:t>
            </a:r>
            <a:r>
              <a:rPr lang="en" sz="1900" b="1" i="0" u="none" strike="noStrike" cap="none" dirty="0">
                <a:solidFill>
                  <a:srgbClr val="FF0000"/>
                </a:solidFill>
                <a:latin typeface="Times New Roman" panose="02020603050405020304" pitchFamily="18" charset="0"/>
                <a:ea typeface="Times New Roman"/>
                <a:cs typeface="Times New Roman" panose="02020603050405020304" pitchFamily="18" charset="0"/>
                <a:sym typeface="Times New Roman"/>
              </a:rPr>
              <a:t>) </a:t>
            </a:r>
            <a:r>
              <a:rPr lang="en" sz="1900" b="1" dirty="0">
                <a:solidFill>
                  <a:srgbClr val="FF0000"/>
                </a:solidFill>
                <a:latin typeface="Times New Roman" panose="02020603050405020304" pitchFamily="18" charset="0"/>
                <a:ea typeface="Times New Roman"/>
                <a:cs typeface="Times New Roman" panose="02020603050405020304" pitchFamily="18" charset="0"/>
                <a:sym typeface="Times New Roman"/>
              </a:rPr>
              <a:t> </a:t>
            </a:r>
          </a:p>
          <a:p>
            <a:pPr marL="0" marR="0" lvl="0" indent="0" algn="ctr" rtl="0">
              <a:lnSpc>
                <a:spcPct val="100000"/>
              </a:lnSpc>
              <a:spcBef>
                <a:spcPts val="0"/>
              </a:spcBef>
              <a:spcAft>
                <a:spcPts val="0"/>
              </a:spcAft>
              <a:buClr>
                <a:srgbClr val="FF0000"/>
              </a:buClr>
              <a:buSzPts val="4400"/>
              <a:buFont typeface="Times New Roman"/>
              <a:buNone/>
            </a:pPr>
            <a:endParaRPr lang="en" sz="1900" b="1" dirty="0">
              <a:solidFill>
                <a:srgbClr val="FF0000"/>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1F497D"/>
              </a:buClr>
              <a:buSzPts val="4400"/>
              <a:buFont typeface="Times New Roman"/>
              <a:buNone/>
            </a:pPr>
            <a:r>
              <a:rPr lang="en-US" sz="1900" b="1" dirty="0">
                <a:solidFill>
                  <a:schemeClr val="dk1"/>
                </a:solidFill>
                <a:latin typeface="Times New Roman" panose="02020603050405020304" pitchFamily="18" charset="0"/>
                <a:ea typeface="Times New Roman"/>
                <a:cs typeface="Times New Roman" panose="02020603050405020304" pitchFamily="18" charset="0"/>
                <a:sym typeface="Times New Roman"/>
              </a:rPr>
              <a:t>“Non-Human Identity Governance Agent”</a:t>
            </a:r>
          </a:p>
          <a:p>
            <a:pPr marL="0" marR="0" lvl="0" indent="0" algn="l" rtl="0">
              <a:lnSpc>
                <a:spcPct val="100000"/>
              </a:lnSpc>
              <a:spcBef>
                <a:spcPts val="0"/>
              </a:spcBef>
              <a:spcAft>
                <a:spcPts val="0"/>
              </a:spcAft>
              <a:buClr>
                <a:schemeClr val="dk1"/>
              </a:buClr>
              <a:buSzPts val="4400"/>
              <a:buFont typeface="Calibri"/>
              <a:buNone/>
            </a:pPr>
            <a:endParaRPr sz="1900"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marR="0" lvl="0" indent="0" algn="ctr" rtl="0">
              <a:lnSpc>
                <a:spcPct val="100000"/>
              </a:lnSpc>
              <a:spcBef>
                <a:spcPts val="0"/>
              </a:spcBef>
              <a:spcAft>
                <a:spcPts val="0"/>
              </a:spcAft>
              <a:buClr>
                <a:srgbClr val="1F497D"/>
              </a:buClr>
              <a:buSzPts val="4400"/>
              <a:buFont typeface="Times New Roman"/>
              <a:buNone/>
            </a:pPr>
            <a:r>
              <a:rPr lang="en" b="1" i="0" u="none" strike="noStrike" cap="none" dirty="0">
                <a:solidFill>
                  <a:schemeClr val="dk1"/>
                </a:solidFill>
                <a:latin typeface="Times New Roman" panose="02020603050405020304" pitchFamily="18" charset="0"/>
                <a:ea typeface="Times New Roman"/>
                <a:cs typeface="Times New Roman" panose="02020603050405020304" pitchFamily="18" charset="0"/>
                <a:sym typeface="Times New Roman"/>
              </a:rPr>
              <a:t>Evaluation- Phase-II</a:t>
            </a:r>
            <a:endParaRPr b="0" i="0" u="none" strike="noStrike" cap="none" dirty="0">
              <a:solidFill>
                <a:schemeClr val="dk1"/>
              </a:solidFill>
              <a:latin typeface="Times New Roman" panose="02020603050405020304" pitchFamily="18" charset="0"/>
              <a:cs typeface="Times New Roman" panose="02020603050405020304" pitchFamily="18" charset="0"/>
              <a:sym typeface="Arial"/>
            </a:endParaRPr>
          </a:p>
          <a:p>
            <a:pPr marL="0" marR="0" lvl="0" indent="0" algn="ctr" rtl="0">
              <a:lnSpc>
                <a:spcPct val="100000"/>
              </a:lnSpc>
              <a:spcBef>
                <a:spcPts val="0"/>
              </a:spcBef>
              <a:spcAft>
                <a:spcPts val="0"/>
              </a:spcAft>
              <a:buClr>
                <a:srgbClr val="1F497D"/>
              </a:buClr>
              <a:buSzPts val="4400"/>
              <a:buFont typeface="Calibri"/>
              <a:buNone/>
            </a:pPr>
            <a:r>
              <a:rPr lang="en"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rPr>
              <a:t>Academic Year – 2025-26</a:t>
            </a:r>
          </a:p>
          <a:p>
            <a:pPr marL="0" marR="0" lvl="0" indent="0" algn="ctr" rtl="0">
              <a:lnSpc>
                <a:spcPct val="100000"/>
              </a:lnSpc>
              <a:spcBef>
                <a:spcPts val="0"/>
              </a:spcBef>
              <a:spcAft>
                <a:spcPts val="0"/>
              </a:spcAft>
              <a:buClr>
                <a:srgbClr val="1F497D"/>
              </a:buClr>
              <a:buSzPts val="4400"/>
              <a:buFont typeface="Calibri"/>
              <a:buNone/>
            </a:pPr>
            <a:endParaRPr sz="1900" b="0" i="0" u="none" strike="noStrike" cap="none" dirty="0">
              <a:solidFill>
                <a:schemeClr val="dk1"/>
              </a:solidFill>
              <a:latin typeface="Times New Roman" panose="02020603050405020304" pitchFamily="18" charset="0"/>
              <a:ea typeface="Calibri"/>
              <a:cs typeface="Times New Roman" panose="02020603050405020304" pitchFamily="18" charset="0"/>
              <a:sym typeface="Calibri"/>
            </a:endParaRPr>
          </a:p>
          <a:p>
            <a:pPr marL="0" marR="0" lvl="0" indent="0" algn="l" rtl="0">
              <a:lnSpc>
                <a:spcPct val="100000"/>
              </a:lnSpc>
              <a:spcBef>
                <a:spcPts val="0"/>
              </a:spcBef>
              <a:spcAft>
                <a:spcPts val="0"/>
              </a:spcAft>
              <a:buClr>
                <a:srgbClr val="1F497D"/>
              </a:buClr>
              <a:buSzPts val="4400"/>
              <a:buFont typeface="Calibri"/>
              <a:buNone/>
            </a:pPr>
            <a:endParaRPr lang="en-IN" dirty="0">
              <a:solidFill>
                <a:schemeClr val="dk1"/>
              </a:solidFill>
              <a:latin typeface="Calibri"/>
              <a:ea typeface="Calibri"/>
              <a:cs typeface="Calibri"/>
              <a:sym typeface="Calibri"/>
            </a:endParaRPr>
          </a:p>
        </p:txBody>
      </p:sp>
      <p:sp>
        <p:nvSpPr>
          <p:cNvPr id="10" name="Slide Number Placeholder 1">
            <a:extLst>
              <a:ext uri="{FF2B5EF4-FFF2-40B4-BE49-F238E27FC236}">
                <a16:creationId xmlns:a16="http://schemas.microsoft.com/office/drawing/2014/main" id="{207ABD86-AE59-5869-0CC8-0D058A718D05}"/>
              </a:ext>
            </a:extLst>
          </p:cNvPr>
          <p:cNvSpPr>
            <a:spLocks noGrp="1"/>
          </p:cNvSpPr>
          <p:nvPr>
            <p:ph type="sldNum" idx="12"/>
          </p:nvPr>
        </p:nvSpPr>
        <p:spPr>
          <a:xfrm>
            <a:off x="8472458" y="4663217"/>
            <a:ext cx="548700" cy="393600"/>
          </a:xfrm>
        </p:spPr>
        <p:txBody>
          <a:bodyPr/>
          <a:lstStyle/>
          <a:p>
            <a:pPr marL="0" lvl="0" indent="0" algn="r" rtl="0">
              <a:spcBef>
                <a:spcPts val="0"/>
              </a:spcBef>
              <a:spcAft>
                <a:spcPts val="0"/>
              </a:spcAft>
              <a:buNone/>
            </a:pPr>
            <a:fld id="{00000000-1234-1234-1234-123412341234}" type="slidenum">
              <a:rPr lang="en" smtClean="0"/>
              <a:t>1</a:t>
            </a:fld>
            <a:endParaRPr lang="en"/>
          </a:p>
        </p:txBody>
      </p:sp>
      <p:sp>
        <p:nvSpPr>
          <p:cNvPr id="11" name="TextBox 10">
            <a:extLst>
              <a:ext uri="{FF2B5EF4-FFF2-40B4-BE49-F238E27FC236}">
                <a16:creationId xmlns:a16="http://schemas.microsoft.com/office/drawing/2014/main" id="{31A7D294-30E6-8A19-B0D1-E7603CB44EB1}"/>
              </a:ext>
            </a:extLst>
          </p:cNvPr>
          <p:cNvSpPr txBox="1"/>
          <p:nvPr/>
        </p:nvSpPr>
        <p:spPr>
          <a:xfrm>
            <a:off x="681069" y="3058510"/>
            <a:ext cx="3626069" cy="1384995"/>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Carried Out By:</a:t>
            </a:r>
          </a:p>
          <a:p>
            <a:r>
              <a:rPr lang="en-US" dirty="0">
                <a:latin typeface="Times New Roman" panose="02020603050405020304" pitchFamily="18" charset="0"/>
                <a:cs typeface="Times New Roman" panose="02020603050405020304" pitchFamily="18" charset="0"/>
              </a:rPr>
              <a:t>Manu Prakash Bhat (1RV22IS035) </a:t>
            </a:r>
          </a:p>
          <a:p>
            <a:r>
              <a:rPr lang="en-US" b="1" dirty="0">
                <a:latin typeface="Times New Roman" panose="02020603050405020304" pitchFamily="18" charset="0"/>
                <a:cs typeface="Times New Roman" panose="02020603050405020304" pitchFamily="18" charset="0"/>
              </a:rPr>
              <a:t>Internal Guide: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Dr. Merin </a:t>
            </a:r>
            <a:r>
              <a:rPr lang="en-US" dirty="0" err="1">
                <a:latin typeface="Times New Roman" panose="02020603050405020304" pitchFamily="18" charset="0"/>
                <a:cs typeface="Times New Roman" panose="02020603050405020304" pitchFamily="18" charset="0"/>
              </a:rPr>
              <a:t>Meleet</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Associate Professor,</a:t>
            </a:r>
          </a:p>
          <a:p>
            <a:r>
              <a:rPr lang="en-US" dirty="0">
                <a:latin typeface="Times New Roman" panose="02020603050405020304" pitchFamily="18" charset="0"/>
                <a:cs typeface="Times New Roman" panose="02020603050405020304" pitchFamily="18" charset="0"/>
              </a:rPr>
              <a:t>Dept. of ISE</a:t>
            </a:r>
          </a:p>
        </p:txBody>
      </p:sp>
      <p:sp>
        <p:nvSpPr>
          <p:cNvPr id="12" name="TextBox 11">
            <a:extLst>
              <a:ext uri="{FF2B5EF4-FFF2-40B4-BE49-F238E27FC236}">
                <a16:creationId xmlns:a16="http://schemas.microsoft.com/office/drawing/2014/main" id="{2223E24F-E094-74DB-3CF4-F86946E781AC}"/>
              </a:ext>
            </a:extLst>
          </p:cNvPr>
          <p:cNvSpPr txBox="1"/>
          <p:nvPr/>
        </p:nvSpPr>
        <p:spPr>
          <a:xfrm>
            <a:off x="5590295" y="3058510"/>
            <a:ext cx="3206706" cy="1384995"/>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Carried Out At:</a:t>
            </a:r>
          </a:p>
          <a:p>
            <a:r>
              <a:rPr lang="en-US" dirty="0">
                <a:latin typeface="Times New Roman" panose="02020603050405020304" pitchFamily="18" charset="0"/>
                <a:cs typeface="Times New Roman" panose="02020603050405020304" pitchFamily="18" charset="0"/>
              </a:rPr>
              <a:t>Honeywell</a:t>
            </a:r>
          </a:p>
          <a:p>
            <a:r>
              <a:rPr lang="en-US" b="1" dirty="0">
                <a:latin typeface="Times New Roman" panose="02020603050405020304" pitchFamily="18" charset="0"/>
                <a:cs typeface="Times New Roman" panose="02020603050405020304" pitchFamily="18" charset="0"/>
              </a:rPr>
              <a:t>External Guide:</a:t>
            </a:r>
            <a:r>
              <a:rPr lang="en-US" dirty="0">
                <a:latin typeface="Times New Roman" panose="02020603050405020304" pitchFamily="18" charset="0"/>
                <a:cs typeface="Times New Roman" panose="02020603050405020304" pitchFamily="18" charset="0"/>
              </a:rPr>
              <a:t> </a:t>
            </a:r>
          </a:p>
          <a:p>
            <a:r>
              <a:rPr lang="en-US" dirty="0">
                <a:latin typeface="Times New Roman" panose="02020603050405020304" pitchFamily="18" charset="0"/>
                <a:cs typeface="Times New Roman" panose="02020603050405020304" pitchFamily="18" charset="0"/>
              </a:rPr>
              <a:t>Tejeshwar Rao</a:t>
            </a:r>
          </a:p>
          <a:p>
            <a:r>
              <a:rPr lang="en-US" dirty="0">
                <a:latin typeface="Times New Roman" panose="02020603050405020304" pitchFamily="18" charset="0"/>
                <a:cs typeface="Times New Roman" panose="02020603050405020304" pitchFamily="18" charset="0"/>
              </a:rPr>
              <a:t>Manager </a:t>
            </a:r>
            <a:r>
              <a:rPr lang="en-US" dirty="0" err="1">
                <a:latin typeface="Times New Roman" panose="02020603050405020304" pitchFamily="18" charset="0"/>
                <a:cs typeface="Times New Roman" panose="02020603050405020304" pitchFamily="18" charset="0"/>
              </a:rPr>
              <a:t>DevSecOps</a:t>
            </a:r>
            <a:r>
              <a:rPr lang="en-US" dirty="0">
                <a:latin typeface="Times New Roman" panose="02020603050405020304" pitchFamily="18" charset="0"/>
                <a:cs typeface="Times New Roman" panose="02020603050405020304" pitchFamily="18" charset="0"/>
              </a:rPr>
              <a:t> &amp; Cloud</a:t>
            </a:r>
          </a:p>
          <a:p>
            <a:r>
              <a:rPr lang="en-US" dirty="0">
                <a:latin typeface="Times New Roman" panose="02020603050405020304" pitchFamily="18" charset="0"/>
                <a:cs typeface="Times New Roman" panose="02020603050405020304" pitchFamily="18" charset="0"/>
              </a:rPr>
              <a:t>Honeywell</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dirty="0">
                <a:latin typeface="Times New Roman"/>
                <a:ea typeface="Times New Roman"/>
                <a:cs typeface="Times New Roman"/>
                <a:sym typeface="Times New Roman"/>
              </a:rPr>
              <a:t>Design methodology </a:t>
            </a:r>
          </a:p>
        </p:txBody>
      </p:sp>
      <p:sp>
        <p:nvSpPr>
          <p:cNvPr id="61" name="Google Shape;61;p14"/>
          <p:cNvSpPr txBox="1">
            <a:spLocks noGrp="1"/>
          </p:cNvSpPr>
          <p:nvPr>
            <p:ph type="body" idx="1"/>
          </p:nvPr>
        </p:nvSpPr>
        <p:spPr>
          <a:xfrm>
            <a:off x="129831" y="1064110"/>
            <a:ext cx="8884500" cy="4010100"/>
          </a:xfrm>
          <a:prstGeom prst="rect">
            <a:avLst/>
          </a:prstGeom>
          <a:noFill/>
          <a:ln>
            <a:noFill/>
          </a:ln>
        </p:spPr>
        <p:txBody>
          <a:bodyPr spcFirstLastPara="1" wrap="square" lIns="91425" tIns="91425" rIns="91425" bIns="91425" anchor="t" anchorCtr="0">
            <a:noAutofit/>
          </a:bodyPr>
          <a:lstStyle/>
          <a:p>
            <a:pPr marL="0" lvl="0" indent="0" algn="just" rtl="0">
              <a:lnSpc>
                <a:spcPct val="115000"/>
              </a:lnSpc>
              <a:spcBef>
                <a:spcPts val="0"/>
              </a:spcBef>
              <a:spcAft>
                <a:spcPts val="0"/>
              </a:spcAft>
              <a:buNone/>
            </a:pPr>
            <a:endParaRPr lang="en-IN"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15000"/>
              </a:lnSpc>
              <a:spcBef>
                <a:spcPts val="0"/>
              </a:spcBef>
              <a:spcAft>
                <a:spcPts val="0"/>
              </a:spcAft>
              <a:buNone/>
            </a:pPr>
            <a:endParaRPr lang="en-IN"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0" lvl="0" indent="0" algn="just" rtl="0">
              <a:lnSpc>
                <a:spcPct val="115000"/>
              </a:lnSpc>
              <a:spcBef>
                <a:spcPts val="0"/>
              </a:spcBef>
              <a:spcAft>
                <a:spcPts val="0"/>
              </a:spcAft>
              <a:buNone/>
            </a:pPr>
            <a:endParaRPr sz="1600" dirty="0">
              <a:solidFill>
                <a:schemeClr val="dk1"/>
              </a:solidFill>
              <a:latin typeface="Times New Roman" panose="02020603050405020304" pitchFamily="18" charset="0"/>
              <a:ea typeface="Times New Roman"/>
              <a:cs typeface="Times New Roman" panose="02020603050405020304" pitchFamily="18" charset="0"/>
              <a:sym typeface="Times New Roman"/>
            </a:endParaRPr>
          </a:p>
          <a:p>
            <a:pPr marL="114300" indent="0" algn="just">
              <a:buNone/>
            </a:pPr>
            <a:r>
              <a:rPr lang="en-US" sz="1600" b="1" dirty="0">
                <a:latin typeface="Times New Roman" panose="02020603050405020304" pitchFamily="18" charset="0"/>
                <a:cs typeface="Times New Roman" panose="02020603050405020304" pitchFamily="18" charset="0"/>
              </a:rPr>
              <a:t>Design Approach</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The system follows a four-phase design methodology that moves from identity discovery through risk classification, policy enforcement, and automated remediation.</a:t>
            </a:r>
          </a:p>
          <a:p>
            <a:pPr marL="114300" indent="0" algn="just">
              <a:buNone/>
            </a:pPr>
            <a:r>
              <a:rPr lang="en-US" sz="1600" b="1" dirty="0">
                <a:latin typeface="Times New Roman" panose="02020603050405020304" pitchFamily="18" charset="0"/>
                <a:cs typeface="Times New Roman" panose="02020603050405020304" pitchFamily="18" charset="0"/>
              </a:rPr>
              <a:t>Phase 1 — Continuous Discovery</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Integrate with Azure Active Directory (Entra ID) and GitHub REST API to build a live NHI inventory</a:t>
            </a:r>
          </a:p>
          <a:p>
            <a:pPr algn="just"/>
            <a:r>
              <a:rPr lang="en-US" sz="1600" dirty="0">
                <a:latin typeface="Times New Roman" panose="02020603050405020304" pitchFamily="18" charset="0"/>
                <a:cs typeface="Times New Roman" panose="02020603050405020304" pitchFamily="18" charset="0"/>
              </a:rPr>
              <a:t>Capture metadata: credential type, creation date, last used timestamp, privilege scope, and owner</a:t>
            </a:r>
          </a:p>
          <a:p>
            <a:pPr algn="just"/>
            <a:r>
              <a:rPr lang="en-US" sz="1600" dirty="0">
                <a:latin typeface="Times New Roman" panose="02020603050405020304" pitchFamily="18" charset="0"/>
                <a:cs typeface="Times New Roman" panose="02020603050405020304" pitchFamily="18" charset="0"/>
              </a:rPr>
              <a:t>Detect dormant and orphaned identities missed by traditional point-in-time tools</a:t>
            </a:r>
          </a:p>
          <a:p>
            <a:pPr marL="114300" indent="0" algn="just">
              <a:buNone/>
            </a:pPr>
            <a:endParaRPr sz="1600" dirty="0">
              <a:latin typeface="Times New Roman" panose="02020603050405020304" pitchFamily="18" charset="0"/>
              <a:ea typeface="Times New Roman"/>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7AC1AF62-5E0D-4E5B-9BF4-04147E02A59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2</a:t>
            </a:fld>
            <a:endParaRPr lang="en"/>
          </a:p>
        </p:txBody>
      </p:sp>
      <p:pic>
        <p:nvPicPr>
          <p:cNvPr id="5" name="Picture 4">
            <a:extLst>
              <a:ext uri="{FF2B5EF4-FFF2-40B4-BE49-F238E27FC236}">
                <a16:creationId xmlns:a16="http://schemas.microsoft.com/office/drawing/2014/main" id="{A832C842-870D-2409-0FC0-9127078CA730}"/>
              </a:ext>
            </a:extLst>
          </p:cNvPr>
          <p:cNvPicPr>
            <a:picLocks noChangeAspect="1"/>
          </p:cNvPicPr>
          <p:nvPr/>
        </p:nvPicPr>
        <p:blipFill>
          <a:blip r:embed="rId4"/>
          <a:stretch>
            <a:fillRect/>
          </a:stretch>
        </p:blipFill>
        <p:spPr>
          <a:xfrm>
            <a:off x="477510" y="1178489"/>
            <a:ext cx="7782713" cy="830002"/>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59">
          <a:extLst>
            <a:ext uri="{FF2B5EF4-FFF2-40B4-BE49-F238E27FC236}">
              <a16:creationId xmlns:a16="http://schemas.microsoft.com/office/drawing/2014/main" id="{3BFDE0AA-8F70-BF46-EF74-401D7F67DD2D}"/>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E095FDA9-6B09-9F1F-EB06-64F705EDF31D}"/>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dirty="0">
                <a:latin typeface="Times New Roman"/>
                <a:ea typeface="Times New Roman"/>
                <a:cs typeface="Times New Roman"/>
                <a:sym typeface="Times New Roman"/>
              </a:rPr>
              <a:t>Design methodology </a:t>
            </a:r>
          </a:p>
        </p:txBody>
      </p:sp>
      <p:sp>
        <p:nvSpPr>
          <p:cNvPr id="61" name="Google Shape;61;p14">
            <a:extLst>
              <a:ext uri="{FF2B5EF4-FFF2-40B4-BE49-F238E27FC236}">
                <a16:creationId xmlns:a16="http://schemas.microsoft.com/office/drawing/2014/main" id="{C4EBADB6-9342-DF6D-832E-159E6C89CEB6}"/>
              </a:ext>
            </a:extLst>
          </p:cNvPr>
          <p:cNvSpPr txBox="1">
            <a:spLocks noGrp="1"/>
          </p:cNvSpPr>
          <p:nvPr>
            <p:ph type="body" idx="1"/>
          </p:nvPr>
        </p:nvSpPr>
        <p:spPr>
          <a:xfrm>
            <a:off x="136658" y="877250"/>
            <a:ext cx="8884500" cy="4010100"/>
          </a:xfrm>
          <a:prstGeom prst="rect">
            <a:avLst/>
          </a:prstGeom>
          <a:noFill/>
          <a:ln>
            <a:noFill/>
          </a:ln>
        </p:spPr>
        <p:txBody>
          <a:bodyPr spcFirstLastPara="1" wrap="square" lIns="91425" tIns="91425" rIns="91425" bIns="91425" anchor="t" anchorCtr="0">
            <a:noAutofit/>
          </a:bodyPr>
          <a:lstStyle/>
          <a:p>
            <a:pPr marL="114300" indent="0" algn="just">
              <a:buNone/>
            </a:pPr>
            <a:r>
              <a:rPr lang="en-US" sz="1600" b="1" dirty="0">
                <a:latin typeface="Times New Roman" panose="02020603050405020304" pitchFamily="18" charset="0"/>
                <a:cs typeface="Times New Roman" panose="02020603050405020304" pitchFamily="18" charset="0"/>
              </a:rPr>
              <a:t>Phase 2 — AI-Driven Classification</a:t>
            </a:r>
            <a:endParaRPr lang="en-US" sz="1600" dirty="0">
              <a:latin typeface="Times New Roman" panose="02020603050405020304" pitchFamily="18" charset="0"/>
              <a:cs typeface="Times New Roman" panose="02020603050405020304" pitchFamily="18" charset="0"/>
            </a:endParaRPr>
          </a:p>
          <a:p>
            <a:pPr algn="just"/>
            <a:r>
              <a:rPr lang="en-US" sz="1600" dirty="0" err="1">
                <a:latin typeface="Times New Roman" panose="02020603050405020304" pitchFamily="18" charset="0"/>
                <a:cs typeface="Times New Roman" panose="02020603050405020304" pitchFamily="18" charset="0"/>
              </a:rPr>
              <a:t>LangChain</a:t>
            </a:r>
            <a:r>
              <a:rPr lang="en-US" sz="1600" dirty="0">
                <a:latin typeface="Times New Roman" panose="02020603050405020304" pitchFamily="18" charset="0"/>
                <a:cs typeface="Times New Roman" panose="02020603050405020304" pitchFamily="18" charset="0"/>
              </a:rPr>
              <a:t> orchestrates an agentic reasoning loop over collected identity metadata</a:t>
            </a:r>
          </a:p>
          <a:p>
            <a:pPr algn="just"/>
            <a:r>
              <a:rPr lang="en-US" sz="1600" dirty="0">
                <a:latin typeface="Times New Roman" panose="02020603050405020304" pitchFamily="18" charset="0"/>
                <a:cs typeface="Times New Roman" panose="02020603050405020304" pitchFamily="18" charset="0"/>
              </a:rPr>
              <a:t>Risk scoring engine evaluates each identity across three dimensions: privilege scope, usage frequency, and credential age</a:t>
            </a:r>
          </a:p>
          <a:p>
            <a:pPr algn="just"/>
            <a:r>
              <a:rPr lang="en-US" sz="1600" dirty="0">
                <a:latin typeface="Times New Roman" panose="02020603050405020304" pitchFamily="18" charset="0"/>
                <a:cs typeface="Times New Roman" panose="02020603050405020304" pitchFamily="18" charset="0"/>
              </a:rPr>
              <a:t>Anomalous </a:t>
            </a:r>
            <a:r>
              <a:rPr lang="en-US" sz="1600" dirty="0" err="1">
                <a:latin typeface="Times New Roman" panose="02020603050405020304" pitchFamily="18" charset="0"/>
                <a:cs typeface="Times New Roman" panose="02020603050405020304" pitchFamily="18" charset="0"/>
              </a:rPr>
              <a:t>behaviours</a:t>
            </a:r>
            <a:r>
              <a:rPr lang="en-US" sz="1600" dirty="0">
                <a:latin typeface="Times New Roman" panose="02020603050405020304" pitchFamily="18" charset="0"/>
                <a:cs typeface="Times New Roman" panose="02020603050405020304" pitchFamily="18" charset="0"/>
              </a:rPr>
              <a:t> such as dormant identities suddenly becoming active are flagged in real time</a:t>
            </a:r>
          </a:p>
          <a:p>
            <a:pPr marL="114300" indent="0" algn="just">
              <a:buNone/>
            </a:pPr>
            <a:r>
              <a:rPr lang="en-US" sz="1600" b="1" dirty="0">
                <a:latin typeface="Times New Roman" panose="02020603050405020304" pitchFamily="18" charset="0"/>
                <a:cs typeface="Times New Roman" panose="02020603050405020304" pitchFamily="18" charset="0"/>
              </a:rPr>
              <a:t>Phase 3 — Policy-as-Code Enforcement</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Open Policy Agent (OPA) with Rego policy language encodes governance rules as machine-executable constraints</a:t>
            </a:r>
          </a:p>
          <a:p>
            <a:pPr algn="just"/>
            <a:r>
              <a:rPr lang="en-US" sz="1600" dirty="0">
                <a:latin typeface="Times New Roman" panose="02020603050405020304" pitchFamily="18" charset="0"/>
                <a:cs typeface="Times New Roman" panose="02020603050405020304" pitchFamily="18" charset="0"/>
              </a:rPr>
              <a:t>Example rules: no secret older than 30 days, no identity unused for 7+ days remains active</a:t>
            </a:r>
          </a:p>
          <a:p>
            <a:pPr algn="just"/>
            <a:r>
              <a:rPr lang="en-US" sz="1600" dirty="0">
                <a:latin typeface="Times New Roman" panose="02020603050405020304" pitchFamily="18" charset="0"/>
                <a:cs typeface="Times New Roman" panose="02020603050405020304" pitchFamily="18" charset="0"/>
              </a:rPr>
              <a:t>Policy violations are logged, reported, and escalated to the remediation pipeline</a:t>
            </a:r>
          </a:p>
          <a:p>
            <a:pPr marL="114300" indent="0" algn="just">
              <a:buNone/>
            </a:pPr>
            <a:r>
              <a:rPr lang="en-US" sz="1600" b="1" dirty="0">
                <a:latin typeface="Times New Roman" panose="02020603050405020304" pitchFamily="18" charset="0"/>
                <a:cs typeface="Times New Roman" panose="02020603050405020304" pitchFamily="18" charset="0"/>
              </a:rPr>
              <a:t>Phase 4 — Automated Remediation</a:t>
            </a:r>
            <a:endParaRPr lang="en-US" sz="1600" dirty="0">
              <a:latin typeface="Times New Roman" panose="02020603050405020304" pitchFamily="18" charset="0"/>
              <a:cs typeface="Times New Roman" panose="02020603050405020304" pitchFamily="18" charset="0"/>
            </a:endParaRPr>
          </a:p>
          <a:p>
            <a:pPr algn="just"/>
            <a:r>
              <a:rPr lang="en-US" sz="1600" dirty="0">
                <a:latin typeface="Times New Roman" panose="02020603050405020304" pitchFamily="18" charset="0"/>
                <a:cs typeface="Times New Roman" panose="02020603050405020304" pitchFamily="18" charset="0"/>
              </a:rPr>
              <a:t>GitHub Actions workflows are triggered autonomously upon policy violation detection</a:t>
            </a:r>
          </a:p>
          <a:p>
            <a:pPr algn="just"/>
            <a:r>
              <a:rPr lang="en-US" sz="1600" dirty="0">
                <a:latin typeface="Times New Roman" panose="02020603050405020304" pitchFamily="18" charset="0"/>
                <a:cs typeface="Times New Roman" panose="02020603050405020304" pitchFamily="18" charset="0"/>
              </a:rPr>
              <a:t>Azure Key Vault and Managed Identities are updated to rotate credentials</a:t>
            </a:r>
          </a:p>
          <a:p>
            <a:pPr algn="just"/>
            <a:r>
              <a:rPr lang="en-US" sz="1600" dirty="0">
                <a:latin typeface="Times New Roman" panose="02020603050405020304" pitchFamily="18" charset="0"/>
                <a:cs typeface="Times New Roman" panose="02020603050405020304" pitchFamily="18" charset="0"/>
              </a:rPr>
              <a:t>Zero standing secrets are maintained at all times without human intervention</a:t>
            </a:r>
          </a:p>
        </p:txBody>
      </p:sp>
      <p:sp>
        <p:nvSpPr>
          <p:cNvPr id="2" name="Slide Number Placeholder 1">
            <a:extLst>
              <a:ext uri="{FF2B5EF4-FFF2-40B4-BE49-F238E27FC236}">
                <a16:creationId xmlns:a16="http://schemas.microsoft.com/office/drawing/2014/main" id="{502359F1-1BB7-0559-31F5-A399A71DEE3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3</a:t>
            </a:fld>
            <a:endParaRPr lang="en"/>
          </a:p>
        </p:txBody>
      </p:sp>
    </p:spTree>
    <p:extLst>
      <p:ext uri="{BB962C8B-B14F-4D97-AF65-F5344CB8AC3E}">
        <p14:creationId xmlns:p14="http://schemas.microsoft.com/office/powerpoint/2010/main" val="11161009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5"/>
        <p:cNvGrpSpPr/>
        <p:nvPr/>
      </p:nvGrpSpPr>
      <p:grpSpPr>
        <a:xfrm>
          <a:off x="0" y="0"/>
          <a:ext cx="0" cy="0"/>
          <a:chOff x="0" y="0"/>
          <a:chExt cx="0" cy="0"/>
        </a:xfrm>
      </p:grpSpPr>
      <p:sp>
        <p:nvSpPr>
          <p:cNvPr id="96" name="Google Shape;96;p20"/>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dirty="0">
                <a:latin typeface="Times New Roman"/>
                <a:ea typeface="Times New Roman"/>
                <a:cs typeface="Times New Roman"/>
                <a:sym typeface="Times New Roman"/>
              </a:rPr>
              <a:t>Planning of Project Work </a:t>
            </a:r>
            <a:endParaRPr sz="2400" b="1" dirty="0">
              <a:latin typeface="Times New Roman"/>
              <a:ea typeface="Times New Roman"/>
              <a:cs typeface="Times New Roman"/>
              <a:sym typeface="Times New Roman"/>
            </a:endParaRPr>
          </a:p>
        </p:txBody>
      </p:sp>
      <p:sp>
        <p:nvSpPr>
          <p:cNvPr id="97" name="Google Shape;97;p20"/>
          <p:cNvSpPr txBox="1">
            <a:spLocks noGrp="1"/>
          </p:cNvSpPr>
          <p:nvPr>
            <p:ph type="body" idx="1"/>
          </p:nvPr>
        </p:nvSpPr>
        <p:spPr>
          <a:xfrm>
            <a:off x="129825" y="1064102"/>
            <a:ext cx="8884500" cy="3819598"/>
          </a:xfrm>
          <a:prstGeom prst="rect">
            <a:avLst/>
          </a:prstGeom>
          <a:noFill/>
          <a:ln>
            <a:noFill/>
          </a:ln>
        </p:spPr>
        <p:txBody>
          <a:bodyPr spcFirstLastPara="1" wrap="square" lIns="91425" tIns="91425" rIns="91425" bIns="91425" anchor="t" anchorCtr="0">
            <a:noAutofit/>
          </a:bodyPr>
          <a:lstStyle/>
          <a:p>
            <a:pPr marL="114300" indent="0">
              <a:buNone/>
            </a:pPr>
            <a:r>
              <a:rPr lang="en-US" sz="1600" b="1" dirty="0">
                <a:latin typeface="Times New Roman" panose="02020603050405020304" pitchFamily="18" charset="0"/>
                <a:cs typeface="Times New Roman" panose="02020603050405020304" pitchFamily="18" charset="0"/>
              </a:rPr>
              <a:t>Weeks 1–4 — Requirements, Research and System Design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Literature survey of NHI threat landscape, existing tools, and governance frameworks</a:t>
            </a:r>
          </a:p>
          <a:p>
            <a:r>
              <a:rPr lang="en-US" sz="1600" dirty="0">
                <a:latin typeface="Times New Roman" panose="02020603050405020304" pitchFamily="18" charset="0"/>
                <a:cs typeface="Times New Roman" panose="02020603050405020304" pitchFamily="18" charset="0"/>
              </a:rPr>
              <a:t>Feasibility assessment of Azure SDK, Microsoft Graph API, </a:t>
            </a:r>
            <a:r>
              <a:rPr lang="en-US" sz="1600" dirty="0" err="1">
                <a:latin typeface="Times New Roman" panose="02020603050405020304" pitchFamily="18" charset="0"/>
                <a:cs typeface="Times New Roman" panose="02020603050405020304" pitchFamily="18" charset="0"/>
              </a:rPr>
              <a:t>LangChain</a:t>
            </a:r>
            <a:r>
              <a:rPr lang="en-US" sz="1600" dirty="0">
                <a:latin typeface="Times New Roman" panose="02020603050405020304" pitchFamily="18" charset="0"/>
                <a:cs typeface="Times New Roman" panose="02020603050405020304" pitchFamily="18" charset="0"/>
              </a:rPr>
              <a:t>, and OPA</a:t>
            </a:r>
          </a:p>
          <a:p>
            <a:r>
              <a:rPr lang="en-US" sz="1600" dirty="0">
                <a:latin typeface="Times New Roman" panose="02020603050405020304" pitchFamily="18" charset="0"/>
                <a:cs typeface="Times New Roman" panose="02020603050405020304" pitchFamily="18" charset="0"/>
              </a:rPr>
              <a:t>Definition of monitoring scope: Azure AD service principals and TLS certificates</a:t>
            </a:r>
          </a:p>
          <a:p>
            <a:r>
              <a:rPr lang="en-US" sz="1600" dirty="0">
                <a:latin typeface="Times New Roman" panose="02020603050405020304" pitchFamily="18" charset="0"/>
                <a:cs typeface="Times New Roman" panose="02020603050405020304" pitchFamily="18" charset="0"/>
              </a:rPr>
              <a:t>Design four-layer system architecture and configuration schema</a:t>
            </a:r>
          </a:p>
          <a:p>
            <a:r>
              <a:rPr lang="en-US" sz="1600" dirty="0">
                <a:latin typeface="Times New Roman" panose="02020603050405020304" pitchFamily="18" charset="0"/>
                <a:cs typeface="Times New Roman" panose="02020603050405020304" pitchFamily="18" charset="0"/>
              </a:rPr>
              <a:t>Set up GitHub repository, self-hosted runner, and project structure</a:t>
            </a:r>
          </a:p>
          <a:p>
            <a:pPr marL="114300" indent="0">
              <a:buNone/>
            </a:pPr>
            <a:r>
              <a:rPr lang="en-US" sz="1600" b="1" dirty="0">
                <a:latin typeface="Times New Roman" panose="02020603050405020304" pitchFamily="18" charset="0"/>
                <a:cs typeface="Times New Roman" panose="02020603050405020304" pitchFamily="18" charset="0"/>
              </a:rPr>
              <a:t>Weeks 5–8 — Core Monitoring Implementation</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Build TLS Certificate Monitor using OpenSSL </a:t>
            </a:r>
            <a:r>
              <a:rPr lang="en-US" sz="1600" dirty="0" err="1">
                <a:latin typeface="Times New Roman" panose="02020603050405020304" pitchFamily="18" charset="0"/>
                <a:cs typeface="Times New Roman" panose="02020603050405020304" pitchFamily="18" charset="0"/>
              </a:rPr>
              <a:t>s_client</a:t>
            </a:r>
            <a:r>
              <a:rPr lang="en-US" sz="1600" dirty="0">
                <a:latin typeface="Times New Roman" panose="02020603050405020304" pitchFamily="18" charset="0"/>
                <a:cs typeface="Times New Roman" panose="02020603050405020304" pitchFamily="18" charset="0"/>
              </a:rPr>
              <a:t> with SNI and custom port support</a:t>
            </a:r>
          </a:p>
          <a:p>
            <a:r>
              <a:rPr lang="en-US" sz="1600" dirty="0">
                <a:latin typeface="Times New Roman" panose="02020603050405020304" pitchFamily="18" charset="0"/>
                <a:cs typeface="Times New Roman" panose="02020603050405020304" pitchFamily="18" charset="0"/>
              </a:rPr>
              <a:t>Build Azure SP Credential Monitor using Microsoft Graph API</a:t>
            </a:r>
          </a:p>
          <a:p>
            <a:r>
              <a:rPr lang="en-US" sz="1600" dirty="0">
                <a:latin typeface="Times New Roman" panose="02020603050405020304" pitchFamily="18" charset="0"/>
                <a:cs typeface="Times New Roman" panose="02020603050405020304" pitchFamily="18" charset="0"/>
              </a:rPr>
              <a:t>Implement dual-filter support by application UUID and display name</a:t>
            </a:r>
          </a:p>
          <a:p>
            <a:r>
              <a:rPr lang="en-US" sz="1600" dirty="0">
                <a:latin typeface="Times New Roman" panose="02020603050405020304" pitchFamily="18" charset="0"/>
                <a:cs typeface="Times New Roman" panose="02020603050405020304" pitchFamily="18" charset="0"/>
              </a:rPr>
              <a:t>Handle both client secret and certificate-based credentials</a:t>
            </a:r>
          </a:p>
          <a:p>
            <a:r>
              <a:rPr lang="en-US" sz="1600" dirty="0">
                <a:latin typeface="Times New Roman" panose="02020603050405020304" pitchFamily="18" charset="0"/>
                <a:cs typeface="Times New Roman" panose="02020603050405020304" pitchFamily="18" charset="0"/>
              </a:rPr>
              <a:t>Unit test against live and mock endpoints</a:t>
            </a:r>
          </a:p>
        </p:txBody>
      </p:sp>
      <p:sp>
        <p:nvSpPr>
          <p:cNvPr id="2" name="Slide Number Placeholder 1">
            <a:extLst>
              <a:ext uri="{FF2B5EF4-FFF2-40B4-BE49-F238E27FC236}">
                <a16:creationId xmlns:a16="http://schemas.microsoft.com/office/drawing/2014/main" id="{D0CD0DBE-A6FA-4A55-96D9-C4DA6059ACAA}"/>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4</a:t>
            </a:fld>
            <a:endParaRPr lang="e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95">
          <a:extLst>
            <a:ext uri="{FF2B5EF4-FFF2-40B4-BE49-F238E27FC236}">
              <a16:creationId xmlns:a16="http://schemas.microsoft.com/office/drawing/2014/main" id="{BC306666-3EF5-D6BB-2C91-6D579601F06F}"/>
            </a:ext>
          </a:extLst>
        </p:cNvPr>
        <p:cNvGrpSpPr/>
        <p:nvPr/>
      </p:nvGrpSpPr>
      <p:grpSpPr>
        <a:xfrm>
          <a:off x="0" y="0"/>
          <a:ext cx="0" cy="0"/>
          <a:chOff x="0" y="0"/>
          <a:chExt cx="0" cy="0"/>
        </a:xfrm>
      </p:grpSpPr>
      <p:sp>
        <p:nvSpPr>
          <p:cNvPr id="96" name="Google Shape;96;p20">
            <a:extLst>
              <a:ext uri="{FF2B5EF4-FFF2-40B4-BE49-F238E27FC236}">
                <a16:creationId xmlns:a16="http://schemas.microsoft.com/office/drawing/2014/main" id="{7BEFEF39-F633-A786-B697-1A892E113F86}"/>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dirty="0">
                <a:latin typeface="Times New Roman"/>
                <a:ea typeface="Times New Roman"/>
                <a:cs typeface="Times New Roman"/>
                <a:sym typeface="Times New Roman"/>
              </a:rPr>
              <a:t>Planning of Project Work </a:t>
            </a:r>
            <a:endParaRPr sz="2400" b="1" dirty="0">
              <a:latin typeface="Times New Roman"/>
              <a:ea typeface="Times New Roman"/>
              <a:cs typeface="Times New Roman"/>
              <a:sym typeface="Times New Roman"/>
            </a:endParaRPr>
          </a:p>
        </p:txBody>
      </p:sp>
      <p:sp>
        <p:nvSpPr>
          <p:cNvPr id="97" name="Google Shape;97;p20">
            <a:extLst>
              <a:ext uri="{FF2B5EF4-FFF2-40B4-BE49-F238E27FC236}">
                <a16:creationId xmlns:a16="http://schemas.microsoft.com/office/drawing/2014/main" id="{96E9589C-6761-65B5-6C13-3BED00A29034}"/>
              </a:ext>
            </a:extLst>
          </p:cNvPr>
          <p:cNvSpPr txBox="1">
            <a:spLocks noGrp="1"/>
          </p:cNvSpPr>
          <p:nvPr>
            <p:ph type="body" idx="1"/>
          </p:nvPr>
        </p:nvSpPr>
        <p:spPr>
          <a:xfrm>
            <a:off x="129825" y="1064102"/>
            <a:ext cx="8884500" cy="3335400"/>
          </a:xfrm>
          <a:prstGeom prst="rect">
            <a:avLst/>
          </a:prstGeom>
          <a:noFill/>
          <a:ln>
            <a:noFill/>
          </a:ln>
        </p:spPr>
        <p:txBody>
          <a:bodyPr spcFirstLastPara="1" wrap="square" lIns="91425" tIns="91425" rIns="91425" bIns="91425" anchor="t" anchorCtr="0">
            <a:noAutofit/>
          </a:bodyPr>
          <a:lstStyle/>
          <a:p>
            <a:pPr marL="114300" indent="0">
              <a:buNone/>
            </a:pPr>
            <a:r>
              <a:rPr lang="en-IN" sz="1600" b="1" dirty="0">
                <a:latin typeface="Times New Roman" panose="02020603050405020304" pitchFamily="18" charset="0"/>
                <a:cs typeface="Times New Roman" panose="02020603050405020304" pitchFamily="18" charset="0"/>
              </a:rPr>
              <a:t>Weeks 9–12 — Classification, Reporting, Alerting and Automation</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Implement three-tier threshold classification: CRITICAL, EXPIRING, OK</a:t>
            </a:r>
          </a:p>
          <a:p>
            <a:r>
              <a:rPr lang="en-IN" sz="1600" dirty="0">
                <a:latin typeface="Times New Roman" panose="02020603050405020304" pitchFamily="18" charset="0"/>
                <a:cs typeface="Times New Roman" panose="02020603050405020304" pitchFamily="18" charset="0"/>
              </a:rPr>
              <a:t>Generate timestamped HTML reports with colour-coded status indicators</a:t>
            </a:r>
          </a:p>
          <a:p>
            <a:r>
              <a:rPr lang="en-IN" sz="1600" dirty="0">
                <a:latin typeface="Times New Roman" panose="02020603050405020304" pitchFamily="18" charset="0"/>
                <a:cs typeface="Times New Roman" panose="02020603050405020304" pitchFamily="18" charset="0"/>
              </a:rPr>
              <a:t>Implement CSV export for SIEM integration and rolling 15-report retention</a:t>
            </a:r>
          </a:p>
          <a:p>
            <a:r>
              <a:rPr lang="en-IN" sz="1600" dirty="0">
                <a:latin typeface="Times New Roman" panose="02020603050405020304" pitchFamily="18" charset="0"/>
                <a:cs typeface="Times New Roman" panose="02020603050405020304" pitchFamily="18" charset="0"/>
              </a:rPr>
              <a:t>Configure conditional SMTP email alerts triggered only on actionable conditions</a:t>
            </a:r>
          </a:p>
          <a:p>
            <a:r>
              <a:rPr lang="en-IN" sz="1600" dirty="0">
                <a:latin typeface="Times New Roman" panose="02020603050405020304" pitchFamily="18" charset="0"/>
                <a:cs typeface="Times New Roman" panose="02020603050405020304" pitchFamily="18" charset="0"/>
              </a:rPr>
              <a:t>Deploy all three GitHub Actions workflows: cert-expiry, azure-</a:t>
            </a:r>
            <a:r>
              <a:rPr lang="en-IN" sz="1600" dirty="0" err="1">
                <a:latin typeface="Times New Roman" panose="02020603050405020304" pitchFamily="18" charset="0"/>
                <a:cs typeface="Times New Roman" panose="02020603050405020304" pitchFamily="18" charset="0"/>
              </a:rPr>
              <a:t>sp</a:t>
            </a:r>
            <a:r>
              <a:rPr lang="en-IN" sz="1600" dirty="0">
                <a:latin typeface="Times New Roman" panose="02020603050405020304" pitchFamily="18" charset="0"/>
                <a:cs typeface="Times New Roman" panose="02020603050405020304" pitchFamily="18" charset="0"/>
              </a:rPr>
              <a:t>-expiry, automate-build</a:t>
            </a:r>
          </a:p>
          <a:p>
            <a:pPr marL="114300" indent="0">
              <a:buNone/>
            </a:pPr>
            <a:r>
              <a:rPr lang="en-IN" sz="1600" b="1" dirty="0">
                <a:latin typeface="Times New Roman" panose="02020603050405020304" pitchFamily="18" charset="0"/>
                <a:cs typeface="Times New Roman" panose="02020603050405020304" pitchFamily="18" charset="0"/>
              </a:rPr>
              <a:t>Weeks 13–18 — AI Layer, Rotation, Dashboard, Testing and Submission</a:t>
            </a:r>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Integrate </a:t>
            </a:r>
            <a:r>
              <a:rPr lang="en-IN" sz="1600" dirty="0" err="1">
                <a:latin typeface="Times New Roman" panose="02020603050405020304" pitchFamily="18" charset="0"/>
                <a:cs typeface="Times New Roman" panose="02020603050405020304" pitchFamily="18" charset="0"/>
              </a:rPr>
              <a:t>LangChain</a:t>
            </a:r>
            <a:r>
              <a:rPr lang="en-IN" sz="1600" dirty="0">
                <a:latin typeface="Times New Roman" panose="02020603050405020304" pitchFamily="18" charset="0"/>
                <a:cs typeface="Times New Roman" panose="02020603050405020304" pitchFamily="18" charset="0"/>
              </a:rPr>
              <a:t> agent for multi-dimensional risk scoring</a:t>
            </a:r>
          </a:p>
          <a:p>
            <a:r>
              <a:rPr lang="en-IN" sz="1600" dirty="0">
                <a:latin typeface="Times New Roman" panose="02020603050405020304" pitchFamily="18" charset="0"/>
                <a:cs typeface="Times New Roman" panose="02020603050405020304" pitchFamily="18" charset="0"/>
              </a:rPr>
              <a:t>Define and validate OPA/Rego policy ruleset</a:t>
            </a:r>
          </a:p>
          <a:p>
            <a:r>
              <a:rPr lang="en-IN" sz="1600" dirty="0">
                <a:latin typeface="Times New Roman" panose="02020603050405020304" pitchFamily="18" charset="0"/>
                <a:cs typeface="Times New Roman" panose="02020603050405020304" pitchFamily="18" charset="0"/>
              </a:rPr>
              <a:t>Build automated credential rotation pipeline via Azure Key Vault</a:t>
            </a:r>
          </a:p>
          <a:p>
            <a:r>
              <a:rPr lang="en-IN" sz="1600" dirty="0">
                <a:latin typeface="Times New Roman" panose="02020603050405020304" pitchFamily="18" charset="0"/>
                <a:cs typeface="Times New Roman" panose="02020603050405020304" pitchFamily="18" charset="0"/>
              </a:rPr>
              <a:t>Deploy Azure-hosted real-time NHI inventory dashboard with audit log</a:t>
            </a:r>
          </a:p>
          <a:p>
            <a:r>
              <a:rPr lang="en-IN" sz="1600" dirty="0">
                <a:latin typeface="Times New Roman" panose="02020603050405020304" pitchFamily="18" charset="0"/>
                <a:cs typeface="Times New Roman" panose="02020603050405020304" pitchFamily="18" charset="0"/>
              </a:rPr>
              <a:t>End-to-end integration testing across Azure and GitHub platforms</a:t>
            </a:r>
          </a:p>
          <a:p>
            <a:r>
              <a:rPr lang="en-IN" sz="1600" dirty="0">
                <a:latin typeface="Times New Roman" panose="02020603050405020304" pitchFamily="18" charset="0"/>
                <a:cs typeface="Times New Roman" panose="02020603050405020304" pitchFamily="18" charset="0"/>
              </a:rPr>
              <a:t>Security audit, final report preparation, and project submission</a:t>
            </a:r>
          </a:p>
        </p:txBody>
      </p:sp>
      <p:sp>
        <p:nvSpPr>
          <p:cNvPr id="2" name="Slide Number Placeholder 1">
            <a:extLst>
              <a:ext uri="{FF2B5EF4-FFF2-40B4-BE49-F238E27FC236}">
                <a16:creationId xmlns:a16="http://schemas.microsoft.com/office/drawing/2014/main" id="{7FD19255-7A94-EDE4-5E1A-49A5CB98B42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5</a:t>
            </a:fld>
            <a:endParaRPr lang="en"/>
          </a:p>
        </p:txBody>
      </p:sp>
    </p:spTree>
    <p:extLst>
      <p:ext uri="{BB962C8B-B14F-4D97-AF65-F5344CB8AC3E}">
        <p14:creationId xmlns:p14="http://schemas.microsoft.com/office/powerpoint/2010/main" val="21683087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01"/>
        <p:cNvGrpSpPr/>
        <p:nvPr/>
      </p:nvGrpSpPr>
      <p:grpSpPr>
        <a:xfrm>
          <a:off x="0" y="0"/>
          <a:ext cx="0" cy="0"/>
          <a:chOff x="0" y="0"/>
          <a:chExt cx="0" cy="0"/>
        </a:xfrm>
      </p:grpSpPr>
      <p:sp>
        <p:nvSpPr>
          <p:cNvPr id="102" name="Google Shape;102;p21"/>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a:latin typeface="Times New Roman"/>
                <a:ea typeface="Times New Roman"/>
                <a:cs typeface="Times New Roman"/>
                <a:sym typeface="Times New Roman"/>
              </a:rPr>
              <a:t>System Architecture </a:t>
            </a:r>
            <a:endParaRPr lang="en-IN" sz="2400" b="1" dirty="0">
              <a:latin typeface="Times New Roman"/>
              <a:ea typeface="Times New Roman"/>
              <a:cs typeface="Times New Roman"/>
              <a:sym typeface="Times New Roman"/>
            </a:endParaRPr>
          </a:p>
        </p:txBody>
      </p:sp>
      <p:sp>
        <p:nvSpPr>
          <p:cNvPr id="103" name="Google Shape;103;p21"/>
          <p:cNvSpPr txBox="1">
            <a:spLocks noGrp="1"/>
          </p:cNvSpPr>
          <p:nvPr>
            <p:ph type="body" idx="1"/>
          </p:nvPr>
        </p:nvSpPr>
        <p:spPr>
          <a:xfrm>
            <a:off x="129748" y="904050"/>
            <a:ext cx="8884500" cy="3335400"/>
          </a:xfrm>
          <a:prstGeom prst="rect">
            <a:avLst/>
          </a:prstGeom>
          <a:noFill/>
          <a:ln>
            <a:noFill/>
          </a:ln>
        </p:spPr>
        <p:txBody>
          <a:bodyPr spcFirstLastPara="1" wrap="square" lIns="91425" tIns="91425" rIns="91425" bIns="91425" anchor="t" anchorCtr="0">
            <a:noAutofit/>
          </a:bodyPr>
          <a:lstStyle/>
          <a:p>
            <a:pPr marL="114300" indent="0">
              <a:buNone/>
            </a:pPr>
            <a:r>
              <a:rPr lang="en-US" sz="1600" b="1" dirty="0">
                <a:latin typeface="Times New Roman" panose="02020603050405020304" pitchFamily="18" charset="0"/>
                <a:cs typeface="Times New Roman" panose="02020603050405020304" pitchFamily="18" charset="0"/>
              </a:rPr>
              <a:t>Architecture Overview</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platform is structured as four independent, loosely-coupled layers. Each layer can be maintained or extended without impacting the others.</a:t>
            </a: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endParaRPr lang="en-US" sz="1600" dirty="0">
              <a:latin typeface="Times New Roman" panose="02020603050405020304" pitchFamily="18" charset="0"/>
              <a:cs typeface="Times New Roman" panose="02020603050405020304" pitchFamily="18" charset="0"/>
            </a:endParaRPr>
          </a:p>
          <a:p>
            <a:pPr marL="114300" indent="0">
              <a:buNone/>
            </a:pPr>
            <a:r>
              <a:rPr lang="en-US" sz="1600" b="1" dirty="0">
                <a:latin typeface="Times New Roman" panose="02020603050405020304" pitchFamily="18" charset="0"/>
                <a:cs typeface="Times New Roman" panose="02020603050405020304" pitchFamily="18" charset="0"/>
              </a:rPr>
              <a:t>Key Design Decisions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All credentials stored as GitHub encrypted repository secrets — never in source code</a:t>
            </a:r>
          </a:p>
          <a:p>
            <a:r>
              <a:rPr lang="en-US" sz="1600" dirty="0">
                <a:latin typeface="Times New Roman" panose="02020603050405020304" pitchFamily="18" charset="0"/>
                <a:cs typeface="Times New Roman" panose="02020603050405020304" pitchFamily="18" charset="0"/>
              </a:rPr>
              <a:t>Monitoring identity holds read-only permissions only (</a:t>
            </a:r>
            <a:r>
              <a:rPr lang="en-US" sz="1600" dirty="0" err="1">
                <a:latin typeface="Times New Roman" panose="02020603050405020304" pitchFamily="18" charset="0"/>
                <a:cs typeface="Times New Roman" panose="02020603050405020304" pitchFamily="18" charset="0"/>
              </a:rPr>
              <a:t>Application.Read.All</a:t>
            </a:r>
            <a:r>
              <a:rPr lang="en-US" sz="1600" dirty="0">
                <a:latin typeface="Times New Roman" panose="02020603050405020304" pitchFamily="18" charset="0"/>
                <a:cs typeface="Times New Roman" panose="02020603050405020304" pitchFamily="18" charset="0"/>
              </a:rPr>
              <a:t>)</a:t>
            </a:r>
          </a:p>
          <a:p>
            <a:r>
              <a:rPr lang="en-US" sz="1600" dirty="0">
                <a:latin typeface="Times New Roman" panose="02020603050405020304" pitchFamily="18" charset="0"/>
                <a:cs typeface="Times New Roman" panose="02020603050405020304" pitchFamily="18" charset="0"/>
              </a:rPr>
              <a:t>Self-hosted private runner pool ensures execution within secure network perimeter</a:t>
            </a:r>
          </a:p>
          <a:p>
            <a:r>
              <a:rPr lang="en-US" sz="1600" dirty="0">
                <a:latin typeface="Times New Roman" panose="02020603050405020304" pitchFamily="18" charset="0"/>
                <a:cs typeface="Times New Roman" panose="02020603050405020304" pitchFamily="18" charset="0"/>
              </a:rPr>
              <a:t>Rolling report retention — fifteen most recent reports kept automatically</a:t>
            </a:r>
          </a:p>
          <a:p>
            <a:pPr marL="114300" indent="0">
              <a:buNone/>
            </a:pPr>
            <a:br>
              <a:rPr lang="en-US" sz="1600" dirty="0">
                <a:latin typeface="Times New Roman" panose="02020603050405020304" pitchFamily="18" charset="0"/>
                <a:cs typeface="Times New Roman" panose="02020603050405020304" pitchFamily="18" charset="0"/>
              </a:rPr>
            </a:br>
            <a:endParaRPr lang="en-US" sz="1600" dirty="0">
              <a:latin typeface="Times New Roman" panose="02020603050405020304" pitchFamily="18" charset="0"/>
              <a:cs typeface="Times New Roman" panose="02020603050405020304" pitchFamily="18" charset="0"/>
            </a:endParaRPr>
          </a:p>
        </p:txBody>
      </p:sp>
      <p:sp>
        <p:nvSpPr>
          <p:cNvPr id="2" name="Slide Number Placeholder 1">
            <a:extLst>
              <a:ext uri="{FF2B5EF4-FFF2-40B4-BE49-F238E27FC236}">
                <a16:creationId xmlns:a16="http://schemas.microsoft.com/office/drawing/2014/main" id="{63524F1F-A5D3-4CEE-B656-1DAD048ECFE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6</a:t>
            </a:fld>
            <a:endParaRPr lang="en"/>
          </a:p>
        </p:txBody>
      </p:sp>
      <p:pic>
        <p:nvPicPr>
          <p:cNvPr id="17" name="Picture 16">
            <a:extLst>
              <a:ext uri="{FF2B5EF4-FFF2-40B4-BE49-F238E27FC236}">
                <a16:creationId xmlns:a16="http://schemas.microsoft.com/office/drawing/2014/main" id="{17AFFFBF-C611-4B50-9C1C-AD4DD44D1406}"/>
              </a:ext>
            </a:extLst>
          </p:cNvPr>
          <p:cNvPicPr>
            <a:picLocks noChangeAspect="1"/>
          </p:cNvPicPr>
          <p:nvPr/>
        </p:nvPicPr>
        <p:blipFill>
          <a:blip r:embed="rId4"/>
          <a:stretch>
            <a:fillRect/>
          </a:stretch>
        </p:blipFill>
        <p:spPr>
          <a:xfrm>
            <a:off x="257215" y="1927858"/>
            <a:ext cx="8629565" cy="1727201"/>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7"/>
        <p:cNvGrpSpPr/>
        <p:nvPr/>
      </p:nvGrpSpPr>
      <p:grpSpPr>
        <a:xfrm>
          <a:off x="0" y="0"/>
          <a:ext cx="0" cy="0"/>
          <a:chOff x="0" y="0"/>
          <a:chExt cx="0" cy="0"/>
        </a:xfrm>
      </p:grpSpPr>
      <p:sp>
        <p:nvSpPr>
          <p:cNvPr id="128" name="Google Shape;128;p25"/>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lvl="0" algn="ctr"/>
            <a:r>
              <a:rPr lang="en-IN" sz="2400" b="1" dirty="0">
                <a:latin typeface="Times New Roman"/>
                <a:ea typeface="Times New Roman"/>
                <a:cs typeface="Times New Roman"/>
                <a:sym typeface="Times New Roman"/>
              </a:rPr>
              <a:t>UML Class diagram</a:t>
            </a:r>
          </a:p>
        </p:txBody>
      </p:sp>
      <p:sp>
        <p:nvSpPr>
          <p:cNvPr id="129" name="Google Shape;129;p25"/>
          <p:cNvSpPr txBox="1">
            <a:spLocks noGrp="1"/>
          </p:cNvSpPr>
          <p:nvPr>
            <p:ph type="body" idx="1"/>
          </p:nvPr>
        </p:nvSpPr>
        <p:spPr>
          <a:xfrm>
            <a:off x="191834" y="3482017"/>
            <a:ext cx="8760331" cy="1574800"/>
          </a:xfrm>
          <a:prstGeom prst="rect">
            <a:avLst/>
          </a:prstGeom>
          <a:noFill/>
          <a:ln>
            <a:noFill/>
          </a:ln>
        </p:spPr>
        <p:txBody>
          <a:bodyPr spcFirstLastPara="1" wrap="square" lIns="91425" tIns="91425" rIns="91425" bIns="91425" anchor="t" anchorCtr="0">
            <a:noAutofit/>
          </a:bodyPr>
          <a:lstStyle/>
          <a:p>
            <a:pPr marL="114300" indent="0" algn="just">
              <a:buNone/>
            </a:pPr>
            <a:r>
              <a:rPr lang="en-US" sz="1400" dirty="0">
                <a:latin typeface="Times New Roman" panose="02020603050405020304" pitchFamily="18" charset="0"/>
                <a:cs typeface="Times New Roman" panose="02020603050405020304" pitchFamily="18" charset="0"/>
              </a:rPr>
              <a:t>The class diagram models the internal structure of the NHI Governance Platform, showing the six core classes, their attributes, methods, and relationships. The </a:t>
            </a:r>
            <a:r>
              <a:rPr lang="en-US" sz="1400" dirty="0" err="1">
                <a:latin typeface="Times New Roman" panose="02020603050405020304" pitchFamily="18" charset="0"/>
                <a:cs typeface="Times New Roman" panose="02020603050405020304" pitchFamily="18" charset="0"/>
              </a:rPr>
              <a:t>NHIGovernancePlatform</a:t>
            </a:r>
            <a:r>
              <a:rPr lang="en-US" sz="1400" dirty="0">
                <a:latin typeface="Times New Roman" panose="02020603050405020304" pitchFamily="18" charset="0"/>
                <a:cs typeface="Times New Roman" panose="02020603050405020304" pitchFamily="18" charset="0"/>
              </a:rPr>
              <a:t> acts as the central orchestrator, delegating to </a:t>
            </a:r>
            <a:r>
              <a:rPr lang="en-US" sz="1400" dirty="0" err="1">
                <a:latin typeface="Times New Roman" panose="02020603050405020304" pitchFamily="18" charset="0"/>
                <a:cs typeface="Times New Roman" panose="02020603050405020304" pitchFamily="18" charset="0"/>
              </a:rPr>
              <a:t>TLSCertificateMonitor</a:t>
            </a:r>
            <a:r>
              <a:rPr lang="en-US" sz="1400" dirty="0">
                <a:latin typeface="Times New Roman" panose="02020603050405020304" pitchFamily="18" charset="0"/>
                <a:cs typeface="Times New Roman" panose="02020603050405020304" pitchFamily="18" charset="0"/>
              </a:rPr>
              <a:t> and </a:t>
            </a:r>
            <a:r>
              <a:rPr lang="en-US" sz="1400" dirty="0" err="1">
                <a:latin typeface="Times New Roman" panose="02020603050405020304" pitchFamily="18" charset="0"/>
                <a:cs typeface="Times New Roman" panose="02020603050405020304" pitchFamily="18" charset="0"/>
              </a:rPr>
              <a:t>AzureSPMonitor</a:t>
            </a:r>
            <a:r>
              <a:rPr lang="en-US" sz="1400" dirty="0">
                <a:latin typeface="Times New Roman" panose="02020603050405020304" pitchFamily="18" charset="0"/>
                <a:cs typeface="Times New Roman" panose="02020603050405020304" pitchFamily="18" charset="0"/>
              </a:rPr>
              <a:t> for credential scanning. Both monitors share a common </a:t>
            </a:r>
            <a:r>
              <a:rPr lang="en-US" sz="1400" dirty="0" err="1">
                <a:latin typeface="Times New Roman" panose="02020603050405020304" pitchFamily="18" charset="0"/>
                <a:cs typeface="Times New Roman" panose="02020603050405020304" pitchFamily="18" charset="0"/>
              </a:rPr>
              <a:t>ThresholdClassifier</a:t>
            </a:r>
            <a:r>
              <a:rPr lang="en-US" sz="1400" dirty="0">
                <a:latin typeface="Times New Roman" panose="02020603050405020304" pitchFamily="18" charset="0"/>
                <a:cs typeface="Times New Roman" panose="02020603050405020304" pitchFamily="18" charset="0"/>
              </a:rPr>
              <a:t> for risk classification and feed results into ReportGenerator, which triggers </a:t>
            </a:r>
            <a:r>
              <a:rPr lang="en-US" sz="1400" dirty="0" err="1">
                <a:latin typeface="Times New Roman" panose="02020603050405020304" pitchFamily="18" charset="0"/>
                <a:cs typeface="Times New Roman" panose="02020603050405020304" pitchFamily="18" charset="0"/>
              </a:rPr>
              <a:t>EmailNotifier</a:t>
            </a:r>
            <a:r>
              <a:rPr lang="en-US" sz="1400" dirty="0">
                <a:latin typeface="Times New Roman" panose="02020603050405020304" pitchFamily="18" charset="0"/>
                <a:cs typeface="Times New Roman" panose="02020603050405020304" pitchFamily="18" charset="0"/>
              </a:rPr>
              <a:t> for alerts. The proposed </a:t>
            </a:r>
            <a:r>
              <a:rPr lang="en-US" sz="1400" dirty="0" err="1">
                <a:latin typeface="Times New Roman" panose="02020603050405020304" pitchFamily="18" charset="0"/>
                <a:cs typeface="Times New Roman" panose="02020603050405020304" pitchFamily="18" charset="0"/>
              </a:rPr>
              <a:t>AIRiskEngine</a:t>
            </a:r>
            <a:r>
              <a:rPr lang="en-US" sz="1400" dirty="0">
                <a:latin typeface="Times New Roman" panose="02020603050405020304" pitchFamily="18" charset="0"/>
                <a:cs typeface="Times New Roman" panose="02020603050405020304" pitchFamily="18" charset="0"/>
              </a:rPr>
              <a:t> extends the classifier with autonomous policy enforcement and rotation capabilities.</a:t>
            </a:r>
          </a:p>
        </p:txBody>
      </p:sp>
      <p:sp>
        <p:nvSpPr>
          <p:cNvPr id="2" name="Slide Number Placeholder 1">
            <a:extLst>
              <a:ext uri="{FF2B5EF4-FFF2-40B4-BE49-F238E27FC236}">
                <a16:creationId xmlns:a16="http://schemas.microsoft.com/office/drawing/2014/main" id="{FAE86ED1-86B0-4B20-8836-5107CE72B6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7</a:t>
            </a:fld>
            <a:endParaRPr lang="en"/>
          </a:p>
        </p:txBody>
      </p:sp>
      <p:pic>
        <p:nvPicPr>
          <p:cNvPr id="8" name="Picture 7">
            <a:extLst>
              <a:ext uri="{FF2B5EF4-FFF2-40B4-BE49-F238E27FC236}">
                <a16:creationId xmlns:a16="http://schemas.microsoft.com/office/drawing/2014/main" id="{043EA31C-831E-2D95-EEB8-5CAADD45006D}"/>
              </a:ext>
            </a:extLst>
          </p:cNvPr>
          <p:cNvPicPr>
            <a:picLocks noChangeAspect="1"/>
          </p:cNvPicPr>
          <p:nvPr/>
        </p:nvPicPr>
        <p:blipFill>
          <a:blip r:embed="rId4"/>
          <a:stretch>
            <a:fillRect/>
          </a:stretch>
        </p:blipFill>
        <p:spPr>
          <a:xfrm>
            <a:off x="541468" y="881057"/>
            <a:ext cx="7654798" cy="260096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7">
          <a:extLst>
            <a:ext uri="{FF2B5EF4-FFF2-40B4-BE49-F238E27FC236}">
              <a16:creationId xmlns:a16="http://schemas.microsoft.com/office/drawing/2014/main" id="{6B3DC208-F816-4C3B-2B91-53869BBEB355}"/>
            </a:ext>
          </a:extLst>
        </p:cNvPr>
        <p:cNvGrpSpPr/>
        <p:nvPr/>
      </p:nvGrpSpPr>
      <p:grpSpPr>
        <a:xfrm>
          <a:off x="0" y="0"/>
          <a:ext cx="0" cy="0"/>
          <a:chOff x="0" y="0"/>
          <a:chExt cx="0" cy="0"/>
        </a:xfrm>
      </p:grpSpPr>
      <p:sp>
        <p:nvSpPr>
          <p:cNvPr id="128" name="Google Shape;128;p25">
            <a:extLst>
              <a:ext uri="{FF2B5EF4-FFF2-40B4-BE49-F238E27FC236}">
                <a16:creationId xmlns:a16="http://schemas.microsoft.com/office/drawing/2014/main" id="{97DD5AC0-2770-B82D-B4F1-1B0E3CF7FE52}"/>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lvl="0" algn="ctr"/>
            <a:r>
              <a:rPr lang="en-IN" sz="2400" b="1" dirty="0">
                <a:latin typeface="Times New Roman"/>
                <a:ea typeface="Times New Roman"/>
                <a:cs typeface="Times New Roman"/>
                <a:sym typeface="Times New Roman"/>
              </a:rPr>
              <a:t>Level 0 DFD diagram</a:t>
            </a:r>
          </a:p>
        </p:txBody>
      </p:sp>
      <p:sp>
        <p:nvSpPr>
          <p:cNvPr id="129" name="Google Shape;129;p25">
            <a:extLst>
              <a:ext uri="{FF2B5EF4-FFF2-40B4-BE49-F238E27FC236}">
                <a16:creationId xmlns:a16="http://schemas.microsoft.com/office/drawing/2014/main" id="{AC8A19CB-986A-437C-0151-36AAA7C03BD4}"/>
              </a:ext>
            </a:extLst>
          </p:cNvPr>
          <p:cNvSpPr txBox="1">
            <a:spLocks noGrp="1"/>
          </p:cNvSpPr>
          <p:nvPr>
            <p:ph type="body" idx="1"/>
          </p:nvPr>
        </p:nvSpPr>
        <p:spPr>
          <a:xfrm>
            <a:off x="122842" y="3814336"/>
            <a:ext cx="8884500" cy="1209739"/>
          </a:xfrm>
          <a:prstGeom prst="rect">
            <a:avLst/>
          </a:prstGeom>
          <a:noFill/>
          <a:ln>
            <a:noFill/>
          </a:ln>
        </p:spPr>
        <p:txBody>
          <a:bodyPr spcFirstLastPara="1" wrap="square" lIns="91425" tIns="91425" rIns="91425" bIns="91425" anchor="t" anchorCtr="0">
            <a:noAutofit/>
          </a:bodyPr>
          <a:lstStyle/>
          <a:p>
            <a:pPr marL="114300" indent="0" algn="just">
              <a:buNone/>
            </a:pPr>
            <a:r>
              <a:rPr lang="en-US" sz="1400" dirty="0">
                <a:latin typeface="Times New Roman" panose="02020603050405020304" pitchFamily="18" charset="0"/>
                <a:cs typeface="Times New Roman" panose="02020603050405020304" pitchFamily="18" charset="0"/>
              </a:rPr>
              <a:t>The Level 0 DFD shows the NHI Governance Platform as a single system interacting with four external entities. The Security Operator configures monitoring targets and receives generated reports and email alerts. Azure AD provides credential metadata in response to Graph API queries. The GitHub repository triggers scheduled workflows and stores generated artifacts. The SMTP Gateway dispatches email notifications to the operator when credentials enter the risk window.</a:t>
            </a:r>
          </a:p>
          <a:p>
            <a:pPr marL="114300" indent="0" algn="just">
              <a:buNone/>
            </a:pPr>
            <a:br>
              <a:rPr lang="en-US" sz="1400" dirty="0">
                <a:latin typeface="Times New Roman" panose="02020603050405020304" pitchFamily="18" charset="0"/>
                <a:cs typeface="Times New Roman" panose="02020603050405020304" pitchFamily="18" charset="0"/>
              </a:rPr>
            </a:br>
            <a:endParaRPr sz="1400" dirty="0">
              <a:latin typeface="Times New Roman" panose="02020603050405020304" pitchFamily="18" charset="0"/>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CC338B00-F2BC-87E9-9F1A-BCD1E491D57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8</a:t>
            </a:fld>
            <a:endParaRPr lang="en"/>
          </a:p>
        </p:txBody>
      </p:sp>
      <p:pic>
        <p:nvPicPr>
          <p:cNvPr id="9" name="Picture 8">
            <a:extLst>
              <a:ext uri="{FF2B5EF4-FFF2-40B4-BE49-F238E27FC236}">
                <a16:creationId xmlns:a16="http://schemas.microsoft.com/office/drawing/2014/main" id="{4A28D73C-5A37-9B22-A4FC-18C5A16A1CCA}"/>
              </a:ext>
            </a:extLst>
          </p:cNvPr>
          <p:cNvPicPr>
            <a:picLocks noChangeAspect="1"/>
          </p:cNvPicPr>
          <p:nvPr/>
        </p:nvPicPr>
        <p:blipFill>
          <a:blip r:embed="rId4"/>
          <a:stretch>
            <a:fillRect/>
          </a:stretch>
        </p:blipFill>
        <p:spPr>
          <a:xfrm>
            <a:off x="765242" y="724294"/>
            <a:ext cx="7207250" cy="3122784"/>
          </a:xfrm>
          <a:prstGeom prst="rect">
            <a:avLst/>
          </a:prstGeom>
        </p:spPr>
      </p:pic>
    </p:spTree>
    <p:extLst>
      <p:ext uri="{BB962C8B-B14F-4D97-AF65-F5344CB8AC3E}">
        <p14:creationId xmlns:p14="http://schemas.microsoft.com/office/powerpoint/2010/main" val="39127840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7">
          <a:extLst>
            <a:ext uri="{FF2B5EF4-FFF2-40B4-BE49-F238E27FC236}">
              <a16:creationId xmlns:a16="http://schemas.microsoft.com/office/drawing/2014/main" id="{0C659775-8E57-2297-584A-24A813B6583E}"/>
            </a:ext>
          </a:extLst>
        </p:cNvPr>
        <p:cNvGrpSpPr/>
        <p:nvPr/>
      </p:nvGrpSpPr>
      <p:grpSpPr>
        <a:xfrm>
          <a:off x="0" y="0"/>
          <a:ext cx="0" cy="0"/>
          <a:chOff x="0" y="0"/>
          <a:chExt cx="0" cy="0"/>
        </a:xfrm>
      </p:grpSpPr>
      <p:sp>
        <p:nvSpPr>
          <p:cNvPr id="128" name="Google Shape;128;p25">
            <a:extLst>
              <a:ext uri="{FF2B5EF4-FFF2-40B4-BE49-F238E27FC236}">
                <a16:creationId xmlns:a16="http://schemas.microsoft.com/office/drawing/2014/main" id="{2FDEE972-9065-C857-70D0-29877B405258}"/>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lvl="0" algn="ctr"/>
            <a:r>
              <a:rPr lang="en-IN" sz="2000" b="1" dirty="0">
                <a:latin typeface="Times New Roman"/>
                <a:ea typeface="Times New Roman"/>
                <a:cs typeface="Times New Roman"/>
                <a:sym typeface="Times New Roman"/>
              </a:rPr>
              <a:t>Level 1 DFD-Internal Process diagram</a:t>
            </a:r>
          </a:p>
        </p:txBody>
      </p:sp>
      <p:sp>
        <p:nvSpPr>
          <p:cNvPr id="129" name="Google Shape;129;p25">
            <a:extLst>
              <a:ext uri="{FF2B5EF4-FFF2-40B4-BE49-F238E27FC236}">
                <a16:creationId xmlns:a16="http://schemas.microsoft.com/office/drawing/2014/main" id="{F03FC964-EB52-B488-2A22-AB10ECEE000A}"/>
              </a:ext>
            </a:extLst>
          </p:cNvPr>
          <p:cNvSpPr txBox="1">
            <a:spLocks noGrp="1"/>
          </p:cNvSpPr>
          <p:nvPr>
            <p:ph type="body" idx="1"/>
          </p:nvPr>
        </p:nvSpPr>
        <p:spPr>
          <a:xfrm>
            <a:off x="110142" y="3928952"/>
            <a:ext cx="9084181" cy="730810"/>
          </a:xfrm>
          <a:prstGeom prst="rect">
            <a:avLst/>
          </a:prstGeom>
          <a:noFill/>
          <a:ln>
            <a:noFill/>
          </a:ln>
        </p:spPr>
        <p:txBody>
          <a:bodyPr spcFirstLastPara="1" wrap="square" lIns="91425" tIns="91425" rIns="91425" bIns="91425" anchor="t" anchorCtr="0">
            <a:noAutofit/>
          </a:bodyPr>
          <a:lstStyle/>
          <a:p>
            <a:pPr marL="0" indent="0" algn="just">
              <a:buNone/>
            </a:pPr>
            <a:r>
              <a:rPr lang="en-US" sz="1400" dirty="0">
                <a:latin typeface="Times New Roman" panose="02020603050405020304" pitchFamily="18" charset="0"/>
                <a:cs typeface="Times New Roman" panose="02020603050405020304" pitchFamily="18" charset="0"/>
              </a:rPr>
              <a:t>The Level 1 DFD breaks the platform into five processes. P1 queries Azure AD and TLS endpoints to collect credential metadata and stores it in the NHI Inventory. P2 reads the inventory and classifies each credential as CRITICAL, EXPIRING, or OK. P3 converts results into HTML and CSV reports for operator download. P4 sends email alerts for any CRITICAL credential. P5, part of the proposed phase, automatically rotates violated credentials back in Azure AD.</a:t>
            </a:r>
            <a:endParaRPr sz="1400" dirty="0">
              <a:latin typeface="Times New Roman" panose="02020603050405020304" pitchFamily="18" charset="0"/>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149C288E-52C0-78C4-5595-D8CE10658FC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9</a:t>
            </a:fld>
            <a:endParaRPr lang="en"/>
          </a:p>
        </p:txBody>
      </p:sp>
      <p:pic>
        <p:nvPicPr>
          <p:cNvPr id="8" name="Picture 7">
            <a:extLst>
              <a:ext uri="{FF2B5EF4-FFF2-40B4-BE49-F238E27FC236}">
                <a16:creationId xmlns:a16="http://schemas.microsoft.com/office/drawing/2014/main" id="{09B8026A-8AF1-8DF9-6D50-61A5D25F1C82}"/>
              </a:ext>
            </a:extLst>
          </p:cNvPr>
          <p:cNvPicPr>
            <a:picLocks noChangeAspect="1"/>
          </p:cNvPicPr>
          <p:nvPr/>
        </p:nvPicPr>
        <p:blipFill>
          <a:blip r:embed="rId4"/>
          <a:stretch>
            <a:fillRect/>
          </a:stretch>
        </p:blipFill>
        <p:spPr>
          <a:xfrm>
            <a:off x="1304484" y="781050"/>
            <a:ext cx="6128766" cy="3215995"/>
          </a:xfrm>
          <a:prstGeom prst="rect">
            <a:avLst/>
          </a:prstGeom>
        </p:spPr>
      </p:pic>
    </p:spTree>
    <p:extLst>
      <p:ext uri="{BB962C8B-B14F-4D97-AF65-F5344CB8AC3E}">
        <p14:creationId xmlns:p14="http://schemas.microsoft.com/office/powerpoint/2010/main" val="1579052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7">
          <a:extLst>
            <a:ext uri="{FF2B5EF4-FFF2-40B4-BE49-F238E27FC236}">
              <a16:creationId xmlns:a16="http://schemas.microsoft.com/office/drawing/2014/main" id="{B63F6FBA-B5A2-A0E5-67C7-6A0BD530A224}"/>
            </a:ext>
          </a:extLst>
        </p:cNvPr>
        <p:cNvGrpSpPr/>
        <p:nvPr/>
      </p:nvGrpSpPr>
      <p:grpSpPr>
        <a:xfrm>
          <a:off x="0" y="0"/>
          <a:ext cx="0" cy="0"/>
          <a:chOff x="0" y="0"/>
          <a:chExt cx="0" cy="0"/>
        </a:xfrm>
      </p:grpSpPr>
      <p:sp>
        <p:nvSpPr>
          <p:cNvPr id="128" name="Google Shape;128;p25">
            <a:extLst>
              <a:ext uri="{FF2B5EF4-FFF2-40B4-BE49-F238E27FC236}">
                <a16:creationId xmlns:a16="http://schemas.microsoft.com/office/drawing/2014/main" id="{5EC25F72-1605-4EE1-7E20-9FC05F595D0E}"/>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dirty="0">
                <a:latin typeface="Times New Roman"/>
                <a:ea typeface="Times New Roman"/>
                <a:cs typeface="Times New Roman"/>
                <a:sym typeface="Times New Roman"/>
              </a:rPr>
              <a:t>System Requirements Specification</a:t>
            </a:r>
          </a:p>
        </p:txBody>
      </p:sp>
      <p:sp>
        <p:nvSpPr>
          <p:cNvPr id="129" name="Google Shape;129;p25">
            <a:extLst>
              <a:ext uri="{FF2B5EF4-FFF2-40B4-BE49-F238E27FC236}">
                <a16:creationId xmlns:a16="http://schemas.microsoft.com/office/drawing/2014/main" id="{13FE2465-BA85-2884-438E-B0D65EC0DC62}"/>
              </a:ext>
            </a:extLst>
          </p:cNvPr>
          <p:cNvSpPr txBox="1">
            <a:spLocks noGrp="1"/>
          </p:cNvSpPr>
          <p:nvPr>
            <p:ph type="body" idx="1"/>
          </p:nvPr>
        </p:nvSpPr>
        <p:spPr>
          <a:xfrm>
            <a:off x="129831" y="1064110"/>
            <a:ext cx="8884500" cy="4010100"/>
          </a:xfrm>
          <a:prstGeom prst="rect">
            <a:avLst/>
          </a:prstGeom>
          <a:noFill/>
          <a:ln>
            <a:noFill/>
          </a:ln>
        </p:spPr>
        <p:txBody>
          <a:bodyPr spcFirstLastPara="1" wrap="square" lIns="91425" tIns="91425" rIns="91425" bIns="91425" anchor="t" anchorCtr="0">
            <a:noAutofit/>
          </a:bodyPr>
          <a:lstStyle/>
          <a:p>
            <a:pPr marL="114300" indent="0">
              <a:buNone/>
            </a:pPr>
            <a:r>
              <a:rPr lang="en-IN" b="1" dirty="0">
                <a:latin typeface="Times New Roman" panose="02020603050405020304" pitchFamily="18" charset="0"/>
                <a:cs typeface="Times New Roman" panose="02020603050405020304" pitchFamily="18" charset="0"/>
              </a:rPr>
              <a:t>Hardware Requirements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Cloud Platform: Microsoft Azure for hosting the agent, workflows, and dashboards</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Compute: Azure VMs or containerised instances for continuous Python workflow execution</a:t>
            </a:r>
          </a:p>
          <a:p>
            <a:pPr>
              <a:buFont typeface="Wingdings" panose="05000000000000000000" pitchFamily="2" charset="2"/>
              <a:buChar char="§"/>
            </a:pPr>
            <a:r>
              <a:rPr lang="en-IN" dirty="0">
                <a:latin typeface="Times New Roman" panose="02020603050405020304" pitchFamily="18" charset="0"/>
                <a:cs typeface="Times New Roman" panose="02020603050405020304" pitchFamily="18" charset="0"/>
              </a:rPr>
              <a:t>Storage: Azure Monitor and secure cloud storage for inventory states, logs, and audit records</a:t>
            </a:r>
          </a:p>
          <a:p>
            <a:pPr marL="114300" indent="0">
              <a:buNone/>
            </a:pPr>
            <a:r>
              <a:rPr lang="en-IN" b="1" dirty="0">
                <a:latin typeface="Times New Roman" panose="02020603050405020304" pitchFamily="18" charset="0"/>
                <a:cs typeface="Times New Roman" panose="02020603050405020304" pitchFamily="18" charset="0"/>
              </a:rPr>
              <a:t>Software Requirements</a:t>
            </a:r>
            <a:endParaRPr lang="en-IN" dirty="0">
              <a:latin typeface="Times New Roman" panose="02020603050405020304" pitchFamily="18" charset="0"/>
              <a:cs typeface="Times New Roman" panose="02020603050405020304" pitchFamily="18" charset="0"/>
            </a:endParaRP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Programming Language: Python 3.11, Bash</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APIs and SDKs: Azure SDK, Microsoft Graph API, GitHub REST API</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Cloud Services: Azure Key Vault, Azure Managed Identities, Azure Monitor</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AI and Orchestration: </a:t>
            </a:r>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Open Policy Agent (OPA) with Rego</a:t>
            </a:r>
          </a:p>
          <a:p>
            <a:pPr>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CI/CD and Automation: GitHub Actions</a:t>
            </a:r>
          </a:p>
        </p:txBody>
      </p:sp>
      <p:sp>
        <p:nvSpPr>
          <p:cNvPr id="2" name="Slide Number Placeholder 1">
            <a:extLst>
              <a:ext uri="{FF2B5EF4-FFF2-40B4-BE49-F238E27FC236}">
                <a16:creationId xmlns:a16="http://schemas.microsoft.com/office/drawing/2014/main" id="{6009B9C8-6CB9-7607-2FF9-8E5299690760}"/>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10</a:t>
            </a:fld>
            <a:endParaRPr lang="en"/>
          </a:p>
        </p:txBody>
      </p:sp>
    </p:spTree>
    <p:extLst>
      <p:ext uri="{BB962C8B-B14F-4D97-AF65-F5344CB8AC3E}">
        <p14:creationId xmlns:p14="http://schemas.microsoft.com/office/powerpoint/2010/main" val="105337565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27">
          <a:extLst>
            <a:ext uri="{FF2B5EF4-FFF2-40B4-BE49-F238E27FC236}">
              <a16:creationId xmlns:a16="http://schemas.microsoft.com/office/drawing/2014/main" id="{78AD7272-4DE6-6CBB-F3C5-5FD63999ADFA}"/>
            </a:ext>
          </a:extLst>
        </p:cNvPr>
        <p:cNvGrpSpPr/>
        <p:nvPr/>
      </p:nvGrpSpPr>
      <p:grpSpPr>
        <a:xfrm>
          <a:off x="0" y="0"/>
          <a:ext cx="0" cy="0"/>
          <a:chOff x="0" y="0"/>
          <a:chExt cx="0" cy="0"/>
        </a:xfrm>
      </p:grpSpPr>
      <p:sp>
        <p:nvSpPr>
          <p:cNvPr id="128" name="Google Shape;128;p25">
            <a:extLst>
              <a:ext uri="{FF2B5EF4-FFF2-40B4-BE49-F238E27FC236}">
                <a16:creationId xmlns:a16="http://schemas.microsoft.com/office/drawing/2014/main" id="{0384BE6A-F45C-2E59-0F10-FB8624A41944}"/>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dirty="0">
                <a:latin typeface="Times New Roman"/>
                <a:ea typeface="Times New Roman"/>
                <a:cs typeface="Times New Roman"/>
                <a:sym typeface="Times New Roman"/>
              </a:rPr>
              <a:t>System Requirements Specification</a:t>
            </a:r>
          </a:p>
        </p:txBody>
      </p:sp>
      <p:sp>
        <p:nvSpPr>
          <p:cNvPr id="129" name="Google Shape;129;p25">
            <a:extLst>
              <a:ext uri="{FF2B5EF4-FFF2-40B4-BE49-F238E27FC236}">
                <a16:creationId xmlns:a16="http://schemas.microsoft.com/office/drawing/2014/main" id="{653AD470-D827-6A71-7E64-FE176B66A3DE}"/>
              </a:ext>
            </a:extLst>
          </p:cNvPr>
          <p:cNvSpPr txBox="1">
            <a:spLocks noGrp="1"/>
          </p:cNvSpPr>
          <p:nvPr>
            <p:ph type="body" idx="1"/>
          </p:nvPr>
        </p:nvSpPr>
        <p:spPr>
          <a:xfrm>
            <a:off x="129750" y="999567"/>
            <a:ext cx="8884500" cy="4010100"/>
          </a:xfrm>
          <a:prstGeom prst="rect">
            <a:avLst/>
          </a:prstGeom>
          <a:noFill/>
          <a:ln>
            <a:noFill/>
          </a:ln>
        </p:spPr>
        <p:txBody>
          <a:bodyPr spcFirstLastPara="1" wrap="square" lIns="91425" tIns="91425" rIns="91425" bIns="91425" anchor="t" anchorCtr="0">
            <a:noAutofit/>
          </a:bodyPr>
          <a:lstStyle/>
          <a:p>
            <a:pPr marL="114300" indent="0">
              <a:buNone/>
            </a:pPr>
            <a:r>
              <a:rPr lang="en-US" sz="1600" b="1" dirty="0">
                <a:latin typeface="Times New Roman" panose="02020603050405020304" pitchFamily="18" charset="0"/>
                <a:cs typeface="Times New Roman" panose="02020603050405020304" pitchFamily="18" charset="0"/>
              </a:rPr>
              <a:t>Functional Requirements</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Continuously discover all NHIs across Azure AD and GitHub including dormant and orphaned identities</a:t>
            </a:r>
          </a:p>
          <a:p>
            <a:pPr>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Classify each credential using three-tier threshold model: CRITICAL, EXPIRING, OK</a:t>
            </a:r>
          </a:p>
          <a:p>
            <a:pPr>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Calculate AI risk scores per identity based on privilege scope, usage, and age</a:t>
            </a:r>
          </a:p>
          <a:p>
            <a:pPr>
              <a:buFont typeface="Wingdings" panose="05000000000000000000" pitchFamily="2" charset="2"/>
              <a:buChar char="v"/>
            </a:pPr>
            <a:r>
              <a:rPr lang="en-US" sz="1600" dirty="0">
                <a:latin typeface="Times New Roman" panose="02020603050405020304" pitchFamily="18" charset="0"/>
                <a:cs typeface="Times New Roman" panose="02020603050405020304" pitchFamily="18" charset="0"/>
              </a:rPr>
              <a:t>Execute automated credential rotation upon policy violation without human initiation</a:t>
            </a:r>
          </a:p>
          <a:p>
            <a:pPr marL="114300" indent="0">
              <a:buNone/>
            </a:pPr>
            <a:r>
              <a:rPr lang="en-US" sz="1600" b="1" dirty="0">
                <a:latin typeface="Times New Roman" panose="02020603050405020304" pitchFamily="18" charset="0"/>
                <a:cs typeface="Times New Roman" panose="02020603050405020304" pitchFamily="18" charset="0"/>
              </a:rPr>
              <a:t>Non-Functional Requirements</a:t>
            </a:r>
            <a:endParaRPr lang="en-US" sz="1600" dirty="0">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High availability: continuous operation without scheduled downtime</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Secure state management with least-privilege access controls</a:t>
            </a:r>
          </a:p>
          <a:p>
            <a:pPr>
              <a:buFont typeface="Wingdings" panose="05000000000000000000" pitchFamily="2" charset="2"/>
              <a:buChar char="Ø"/>
            </a:pPr>
            <a:r>
              <a:rPr lang="en-US" sz="1600" dirty="0">
                <a:latin typeface="Times New Roman" panose="02020603050405020304" pitchFamily="18" charset="0"/>
                <a:cs typeface="Times New Roman" panose="02020603050405020304" pitchFamily="18" charset="0"/>
              </a:rPr>
              <a:t>Scalable to handle enterprise-scale NHI volumes without performance degradation</a:t>
            </a:r>
          </a:p>
          <a:p>
            <a:pPr marL="114300" indent="0">
              <a:buNone/>
            </a:pPr>
            <a:r>
              <a:rPr lang="en-US" sz="1600" b="1" dirty="0">
                <a:latin typeface="Times New Roman" panose="02020603050405020304" pitchFamily="18" charset="0"/>
                <a:cs typeface="Times New Roman" panose="02020603050405020304" pitchFamily="18" charset="0"/>
              </a:rPr>
              <a:t>User Requirements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Security teams need a real-time dashboard showing NHI inventory and risk posture</a:t>
            </a:r>
          </a:p>
          <a:p>
            <a:r>
              <a:rPr lang="en-US" sz="1600" dirty="0">
                <a:latin typeface="Times New Roman" panose="02020603050405020304" pitchFamily="18" charset="0"/>
                <a:cs typeface="Times New Roman" panose="02020603050405020304" pitchFamily="18" charset="0"/>
              </a:rPr>
              <a:t>CISOs need audit-ready reports for SOC 2 and ISO 27001 compliance evidence</a:t>
            </a:r>
          </a:p>
          <a:p>
            <a:r>
              <a:rPr lang="en-US" sz="1600" dirty="0">
                <a:latin typeface="Times New Roman" panose="02020603050405020304" pitchFamily="18" charset="0"/>
                <a:cs typeface="Times New Roman" panose="02020603050405020304" pitchFamily="18" charset="0"/>
              </a:rPr>
              <a:t>Administrators alerted only for critical violations requiring manual override</a:t>
            </a:r>
          </a:p>
        </p:txBody>
      </p:sp>
      <p:sp>
        <p:nvSpPr>
          <p:cNvPr id="2" name="Slide Number Placeholder 1">
            <a:extLst>
              <a:ext uri="{FF2B5EF4-FFF2-40B4-BE49-F238E27FC236}">
                <a16:creationId xmlns:a16="http://schemas.microsoft.com/office/drawing/2014/main" id="{B3EC589C-C04D-070A-2F37-350C5C254F48}"/>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11</a:t>
            </a:fld>
            <a:endParaRPr lang="en"/>
          </a:p>
        </p:txBody>
      </p:sp>
    </p:spTree>
    <p:extLst>
      <p:ext uri="{BB962C8B-B14F-4D97-AF65-F5344CB8AC3E}">
        <p14:creationId xmlns:p14="http://schemas.microsoft.com/office/powerpoint/2010/main" val="8919321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
        <p:cNvGrpSpPr/>
        <p:nvPr/>
      </p:nvGrpSpPr>
      <p:grpSpPr>
        <a:xfrm>
          <a:off x="0" y="0"/>
          <a:ext cx="0" cy="0"/>
          <a:chOff x="0" y="0"/>
          <a:chExt cx="0" cy="0"/>
        </a:xfrm>
      </p:grpSpPr>
      <p:sp>
        <p:nvSpPr>
          <p:cNvPr id="134" name="Google Shape;134;p26"/>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IN" sz="2400" b="1">
                <a:latin typeface="Times New Roman"/>
                <a:ea typeface="Times New Roman"/>
                <a:cs typeface="Times New Roman"/>
                <a:sym typeface="Times New Roman"/>
              </a:rPr>
              <a:t>Demonstration</a:t>
            </a:r>
            <a:endParaRPr lang="en-IN" sz="2400" b="1" dirty="0">
              <a:latin typeface="Times New Roman"/>
              <a:ea typeface="Times New Roman"/>
              <a:cs typeface="Times New Roman"/>
              <a:sym typeface="Times New Roman"/>
            </a:endParaRPr>
          </a:p>
        </p:txBody>
      </p:sp>
      <p:sp>
        <p:nvSpPr>
          <p:cNvPr id="135" name="Google Shape;135;p26"/>
          <p:cNvSpPr txBox="1">
            <a:spLocks noGrp="1"/>
          </p:cNvSpPr>
          <p:nvPr>
            <p:ph type="body" idx="1"/>
          </p:nvPr>
        </p:nvSpPr>
        <p:spPr>
          <a:xfrm>
            <a:off x="5731183" y="1064100"/>
            <a:ext cx="3276158" cy="3232530"/>
          </a:xfrm>
          <a:prstGeom prst="rect">
            <a:avLst/>
          </a:prstGeom>
          <a:noFill/>
          <a:ln>
            <a:noFill/>
          </a:ln>
        </p:spPr>
        <p:txBody>
          <a:bodyPr spcFirstLastPara="1" wrap="square" lIns="91425" tIns="91425" rIns="91425" bIns="91425" anchor="t" anchorCtr="0">
            <a:noAutofit/>
          </a:bodyPr>
          <a:lstStyle/>
          <a:p>
            <a:pPr marL="0" indent="0" algn="just">
              <a:buNone/>
            </a:pPr>
            <a:r>
              <a:rPr lang="en-IN" sz="1400" dirty="0">
                <a:latin typeface="Times New Roman" panose="02020603050405020304" pitchFamily="18" charset="0"/>
                <a:cs typeface="Times New Roman" panose="02020603050405020304" pitchFamily="18" charset="0"/>
              </a:rPr>
              <a:t>The check_certs.sh script performs live OpenSSL TLS handshakes against configured Honeywell domain endpoints and generates a timestamped HTML report. The report displays each host, port, SNI, expiry date, days remaining, and a colour-coded status. In the demo above, adminportal.psr.forge.connected.honeywell.com is flagged </a:t>
            </a:r>
            <a:r>
              <a:rPr lang="en-IN" sz="1400" b="1" dirty="0">
                <a:latin typeface="Times New Roman" panose="02020603050405020304" pitchFamily="18" charset="0"/>
                <a:cs typeface="Times New Roman" panose="02020603050405020304" pitchFamily="18" charset="0"/>
              </a:rPr>
              <a:t>CRITICAL</a:t>
            </a:r>
            <a:r>
              <a:rPr lang="en-IN" sz="1400" dirty="0">
                <a:latin typeface="Times New Roman" panose="02020603050405020304" pitchFamily="18" charset="0"/>
                <a:cs typeface="Times New Roman" panose="02020603050405020304" pitchFamily="18" charset="0"/>
              </a:rPr>
              <a:t> with only </a:t>
            </a:r>
            <a:r>
              <a:rPr lang="en-IN" sz="1400" b="1" dirty="0">
                <a:latin typeface="Times New Roman" panose="02020603050405020304" pitchFamily="18" charset="0"/>
                <a:cs typeface="Times New Roman" panose="02020603050405020304" pitchFamily="18" charset="0"/>
              </a:rPr>
              <a:t>6 days</a:t>
            </a:r>
            <a:r>
              <a:rPr lang="en-IN" sz="1400" dirty="0">
                <a:latin typeface="Times New Roman" panose="02020603050405020304" pitchFamily="18" charset="0"/>
                <a:cs typeface="Times New Roman" panose="02020603050405020304" pitchFamily="18" charset="0"/>
              </a:rPr>
              <a:t> remaining, while connectors-dev.forgeforutilities.connectors.honeywell.com shows </a:t>
            </a:r>
            <a:r>
              <a:rPr lang="en-IN" sz="1400" b="1" dirty="0">
                <a:latin typeface="Times New Roman" panose="02020603050405020304" pitchFamily="18" charset="0"/>
                <a:cs typeface="Times New Roman" panose="02020603050405020304" pitchFamily="18" charset="0"/>
              </a:rPr>
              <a:t>OK</a:t>
            </a:r>
            <a:r>
              <a:rPr lang="en-IN" sz="1400" dirty="0">
                <a:latin typeface="Times New Roman" panose="02020603050405020304" pitchFamily="18" charset="0"/>
                <a:cs typeface="Times New Roman" panose="02020603050405020304" pitchFamily="18" charset="0"/>
              </a:rPr>
              <a:t> with 300 days left — demonstrating the three-tier classification in a real production environment.</a:t>
            </a:r>
            <a:endParaRPr lang="en-IN" sz="1400" dirty="0">
              <a:latin typeface="Times New Roman" panose="02020603050405020304" pitchFamily="18" charset="0"/>
              <a:ea typeface="MS Mincho" panose="02020609040205080304" pitchFamily="49" charset="-128"/>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1963E166-A2F1-4C7B-9188-4F1ED1CD6247}"/>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12</a:t>
            </a:fld>
            <a:endParaRPr lang="en"/>
          </a:p>
        </p:txBody>
      </p:sp>
      <p:pic>
        <p:nvPicPr>
          <p:cNvPr id="4" name="Picture 3">
            <a:extLst>
              <a:ext uri="{FF2B5EF4-FFF2-40B4-BE49-F238E27FC236}">
                <a16:creationId xmlns:a16="http://schemas.microsoft.com/office/drawing/2014/main" id="{9D719651-91C7-2A64-DB6E-6907E4418255}"/>
              </a:ext>
            </a:extLst>
          </p:cNvPr>
          <p:cNvPicPr>
            <a:picLocks noChangeAspect="1"/>
          </p:cNvPicPr>
          <p:nvPr/>
        </p:nvPicPr>
        <p:blipFill>
          <a:blip r:embed="rId4"/>
          <a:srcRect l="20902" t="13243" r="19774" b="42008"/>
          <a:stretch>
            <a:fillRect/>
          </a:stretch>
        </p:blipFill>
        <p:spPr>
          <a:xfrm>
            <a:off x="0" y="1188215"/>
            <a:ext cx="5731183" cy="2923147"/>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
          <a:extLst>
            <a:ext uri="{FF2B5EF4-FFF2-40B4-BE49-F238E27FC236}">
              <a16:creationId xmlns:a16="http://schemas.microsoft.com/office/drawing/2014/main" id="{C1197BAE-AA2C-EDDC-680C-8206EE2E166C}"/>
            </a:ext>
          </a:extLst>
        </p:cNvPr>
        <p:cNvGrpSpPr/>
        <p:nvPr/>
      </p:nvGrpSpPr>
      <p:grpSpPr>
        <a:xfrm>
          <a:off x="0" y="0"/>
          <a:ext cx="0" cy="0"/>
          <a:chOff x="0" y="0"/>
          <a:chExt cx="0" cy="0"/>
        </a:xfrm>
      </p:grpSpPr>
      <p:sp>
        <p:nvSpPr>
          <p:cNvPr id="134" name="Google Shape;134;p26">
            <a:extLst>
              <a:ext uri="{FF2B5EF4-FFF2-40B4-BE49-F238E27FC236}">
                <a16:creationId xmlns:a16="http://schemas.microsoft.com/office/drawing/2014/main" id="{37EB3D26-D9B7-5460-02C3-68045F5401CB}"/>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SzPts val="2800"/>
              <a:buNone/>
            </a:pPr>
            <a:r>
              <a:rPr lang="en" sz="2400" b="1" dirty="0">
                <a:latin typeface="Times New Roman"/>
                <a:ea typeface="Times New Roman"/>
                <a:cs typeface="Times New Roman"/>
                <a:sym typeface="Times New Roman"/>
              </a:rPr>
              <a:t>Demonstration</a:t>
            </a:r>
            <a:endParaRPr sz="2400" b="1" dirty="0">
              <a:latin typeface="Times New Roman"/>
              <a:ea typeface="Times New Roman"/>
              <a:cs typeface="Times New Roman"/>
              <a:sym typeface="Times New Roman"/>
            </a:endParaRPr>
          </a:p>
        </p:txBody>
      </p:sp>
      <p:sp>
        <p:nvSpPr>
          <p:cNvPr id="135" name="Google Shape;135;p26">
            <a:extLst>
              <a:ext uri="{FF2B5EF4-FFF2-40B4-BE49-F238E27FC236}">
                <a16:creationId xmlns:a16="http://schemas.microsoft.com/office/drawing/2014/main" id="{311241A1-EDAC-AA6D-F568-2ADAB714FD70}"/>
              </a:ext>
            </a:extLst>
          </p:cNvPr>
          <p:cNvSpPr txBox="1">
            <a:spLocks noGrp="1"/>
          </p:cNvSpPr>
          <p:nvPr>
            <p:ph type="body" idx="1"/>
          </p:nvPr>
        </p:nvSpPr>
        <p:spPr>
          <a:xfrm>
            <a:off x="5026304" y="1109970"/>
            <a:ext cx="3994853" cy="3773730"/>
          </a:xfrm>
          <a:prstGeom prst="rect">
            <a:avLst/>
          </a:prstGeom>
          <a:noFill/>
          <a:ln>
            <a:noFill/>
          </a:ln>
        </p:spPr>
        <p:txBody>
          <a:bodyPr spcFirstLastPara="1" wrap="square" lIns="91425" tIns="91425" rIns="91425" bIns="91425" anchor="t" anchorCtr="0">
            <a:noAutofit/>
          </a:bodyPr>
          <a:lstStyle/>
          <a:p>
            <a:pPr marL="0" indent="0" algn="just">
              <a:buNone/>
            </a:pPr>
            <a:r>
              <a:rPr lang="en-US" sz="1400" dirty="0">
                <a:latin typeface="Times New Roman" panose="02020603050405020304" pitchFamily="18" charset="0"/>
                <a:cs typeface="Times New Roman" panose="02020603050405020304" pitchFamily="18" charset="0"/>
              </a:rPr>
              <a:t>The check_azure_sp.py script queries Microsoft Graph API for all configured Azure AD application credentials and produces a timestamped HTML report. The demo shows </a:t>
            </a:r>
            <a:r>
              <a:rPr lang="en-US" sz="1400" b="1" dirty="0">
                <a:latin typeface="Times New Roman" panose="02020603050405020304" pitchFamily="18" charset="0"/>
                <a:cs typeface="Times New Roman" panose="02020603050405020304" pitchFamily="18" charset="0"/>
              </a:rPr>
              <a:t>5 active credentials</a:t>
            </a:r>
            <a:r>
              <a:rPr lang="en-US" sz="1400" dirty="0">
                <a:latin typeface="Times New Roman" panose="02020603050405020304" pitchFamily="18" charset="0"/>
                <a:cs typeface="Times New Roman" panose="02020603050405020304" pitchFamily="18" charset="0"/>
              </a:rPr>
              <a:t> across two applications (</a:t>
            </a:r>
            <a:r>
              <a:rPr lang="en-US" sz="1400" dirty="0" err="1">
                <a:latin typeface="Times New Roman" panose="02020603050405020304" pitchFamily="18" charset="0"/>
                <a:cs typeface="Times New Roman" panose="02020603050405020304" pitchFamily="18" charset="0"/>
              </a:rPr>
              <a:t>databricks</a:t>
            </a:r>
            <a:r>
              <a:rPr lang="en-US" sz="1400" dirty="0">
                <a:latin typeface="Times New Roman" panose="02020603050405020304" pitchFamily="18" charset="0"/>
                <a:cs typeface="Times New Roman" panose="02020603050405020304" pitchFamily="18" charset="0"/>
              </a:rPr>
              <a:t>-for-mark-</a:t>
            </a:r>
            <a:r>
              <a:rPr lang="en-US" sz="1400" dirty="0" err="1">
                <a:latin typeface="Times New Roman" panose="02020603050405020304" pitchFamily="18" charset="0"/>
                <a:cs typeface="Times New Roman" panose="02020603050405020304" pitchFamily="18" charset="0"/>
              </a:rPr>
              <a:t>heinze</a:t>
            </a:r>
            <a:r>
              <a:rPr lang="en-US" sz="1400" dirty="0">
                <a:latin typeface="Times New Roman" panose="02020603050405020304" pitchFamily="18" charset="0"/>
                <a:cs typeface="Times New Roman" panose="02020603050405020304" pitchFamily="18" charset="0"/>
              </a:rPr>
              <a:t> and PMT-HPS-CU-DEVOPS-NONPROD-AAD), with the summary bar showing </a:t>
            </a:r>
            <a:r>
              <a:rPr lang="en-US" sz="1400" b="1" dirty="0">
                <a:latin typeface="Times New Roman" panose="02020603050405020304" pitchFamily="18" charset="0"/>
                <a:cs typeface="Times New Roman" panose="02020603050405020304" pitchFamily="18" charset="0"/>
              </a:rPr>
              <a:t>Critical: 1 | Expiring: 1 | Total: 5</a:t>
            </a:r>
            <a:r>
              <a:rPr lang="en-US" sz="1400" dirty="0">
                <a:latin typeface="Times New Roman" panose="02020603050405020304" pitchFamily="18" charset="0"/>
                <a:cs typeface="Times New Roman" panose="02020603050405020304" pitchFamily="18" charset="0"/>
              </a:rPr>
              <a:t>. The "Dash Demo" secret for </a:t>
            </a:r>
            <a:r>
              <a:rPr lang="en-US" sz="1400" dirty="0" err="1">
                <a:latin typeface="Times New Roman" panose="02020603050405020304" pitchFamily="18" charset="0"/>
                <a:cs typeface="Times New Roman" panose="02020603050405020304" pitchFamily="18" charset="0"/>
              </a:rPr>
              <a:t>databricks</a:t>
            </a:r>
            <a:r>
              <a:rPr lang="en-US" sz="1400" dirty="0">
                <a:latin typeface="Times New Roman" panose="02020603050405020304" pitchFamily="18" charset="0"/>
                <a:cs typeface="Times New Roman" panose="02020603050405020304" pitchFamily="18" charset="0"/>
              </a:rPr>
              <a:t>-for-mark-</a:t>
            </a:r>
            <a:r>
              <a:rPr lang="en-US" sz="1400" dirty="0" err="1">
                <a:latin typeface="Times New Roman" panose="02020603050405020304" pitchFamily="18" charset="0"/>
                <a:cs typeface="Times New Roman" panose="02020603050405020304" pitchFamily="18" charset="0"/>
              </a:rPr>
              <a:t>heinze</a:t>
            </a:r>
            <a:r>
              <a:rPr lang="en-US" sz="1400" dirty="0">
                <a:latin typeface="Times New Roman" panose="02020603050405020304" pitchFamily="18" charset="0"/>
                <a:cs typeface="Times New Roman" panose="02020603050405020304" pitchFamily="18" charset="0"/>
              </a:rPr>
              <a:t> is flagged </a:t>
            </a:r>
            <a:r>
              <a:rPr lang="en-US" sz="1400" b="1" dirty="0">
                <a:latin typeface="Times New Roman" panose="02020603050405020304" pitchFamily="18" charset="0"/>
                <a:cs typeface="Times New Roman" panose="02020603050405020304" pitchFamily="18" charset="0"/>
              </a:rPr>
              <a:t>CRITICAL</a:t>
            </a:r>
            <a:r>
              <a:rPr lang="en-US" sz="1400" dirty="0">
                <a:latin typeface="Times New Roman" panose="02020603050405020304" pitchFamily="18" charset="0"/>
                <a:cs typeface="Times New Roman" panose="02020603050405020304" pitchFamily="18" charset="0"/>
              </a:rPr>
              <a:t> at 17 days — only the hint (</a:t>
            </a:r>
            <a:r>
              <a:rPr lang="en-US" sz="1400" dirty="0" err="1">
                <a:latin typeface="Times New Roman" panose="02020603050405020304" pitchFamily="18" charset="0"/>
                <a:cs typeface="Times New Roman" panose="02020603050405020304" pitchFamily="18" charset="0"/>
              </a:rPr>
              <a:t>Vvj</a:t>
            </a:r>
            <a:r>
              <a:rPr lang="en-US" sz="1400" dirty="0">
                <a:latin typeface="Times New Roman" panose="02020603050405020304" pitchFamily="18" charset="0"/>
                <a:cs typeface="Times New Roman" panose="02020603050405020304" pitchFamily="18" charset="0"/>
              </a:rPr>
              <a:t>) is shown, never the full secret value, preserving security. Remaining credentials sorted by urgency show clearly actionable output.</a:t>
            </a:r>
            <a:endParaRPr sz="1400" dirty="0">
              <a:latin typeface="Times New Roman" panose="02020603050405020304" pitchFamily="18" charset="0"/>
              <a:ea typeface="MS Mincho" panose="02020609040205080304" pitchFamily="49" charset="-128"/>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2D2867BB-E3BD-5518-1C31-F615CA2467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13</a:t>
            </a:fld>
            <a:endParaRPr lang="en"/>
          </a:p>
        </p:txBody>
      </p:sp>
      <p:pic>
        <p:nvPicPr>
          <p:cNvPr id="4" name="Picture 3">
            <a:extLst>
              <a:ext uri="{FF2B5EF4-FFF2-40B4-BE49-F238E27FC236}">
                <a16:creationId xmlns:a16="http://schemas.microsoft.com/office/drawing/2014/main" id="{42362802-9750-6011-C536-6D918B31E275}"/>
              </a:ext>
            </a:extLst>
          </p:cNvPr>
          <p:cNvPicPr>
            <a:picLocks noChangeAspect="1"/>
          </p:cNvPicPr>
          <p:nvPr/>
        </p:nvPicPr>
        <p:blipFill>
          <a:blip r:embed="rId4"/>
          <a:srcRect l="18346" t="13968" r="17443" b="20303"/>
          <a:stretch>
            <a:fillRect/>
          </a:stretch>
        </p:blipFill>
        <p:spPr>
          <a:xfrm>
            <a:off x="136657" y="1252352"/>
            <a:ext cx="4889647" cy="2920885"/>
          </a:xfrm>
          <a:prstGeom prst="rect">
            <a:avLst/>
          </a:prstGeom>
        </p:spPr>
      </p:pic>
    </p:spTree>
    <p:extLst>
      <p:ext uri="{BB962C8B-B14F-4D97-AF65-F5344CB8AC3E}">
        <p14:creationId xmlns:p14="http://schemas.microsoft.com/office/powerpoint/2010/main" val="220200321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
          <a:extLst>
            <a:ext uri="{FF2B5EF4-FFF2-40B4-BE49-F238E27FC236}">
              <a16:creationId xmlns:a16="http://schemas.microsoft.com/office/drawing/2014/main" id="{61DBAF70-AD0B-E4BF-067A-301D93EE802B}"/>
            </a:ext>
          </a:extLst>
        </p:cNvPr>
        <p:cNvGrpSpPr/>
        <p:nvPr/>
      </p:nvGrpSpPr>
      <p:grpSpPr>
        <a:xfrm>
          <a:off x="0" y="0"/>
          <a:ext cx="0" cy="0"/>
          <a:chOff x="0" y="0"/>
          <a:chExt cx="0" cy="0"/>
        </a:xfrm>
      </p:grpSpPr>
      <p:sp>
        <p:nvSpPr>
          <p:cNvPr id="134" name="Google Shape;134;p26">
            <a:extLst>
              <a:ext uri="{FF2B5EF4-FFF2-40B4-BE49-F238E27FC236}">
                <a16:creationId xmlns:a16="http://schemas.microsoft.com/office/drawing/2014/main" id="{D7343118-1211-F8AE-7B66-7170AFF6496E}"/>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lvl="0" algn="ctr"/>
            <a:r>
              <a:rPr lang="en-IN" sz="2400" b="1" dirty="0">
                <a:latin typeface="Times New Roman"/>
                <a:ea typeface="Times New Roman"/>
                <a:cs typeface="Times New Roman"/>
                <a:sym typeface="Times New Roman"/>
              </a:rPr>
              <a:t>Project Management and Cost</a:t>
            </a:r>
            <a:endParaRPr sz="2400" b="1" dirty="0">
              <a:latin typeface="Times New Roman"/>
              <a:ea typeface="Times New Roman"/>
              <a:cs typeface="Times New Roman"/>
              <a:sym typeface="Times New Roman"/>
            </a:endParaRPr>
          </a:p>
        </p:txBody>
      </p:sp>
      <p:sp>
        <p:nvSpPr>
          <p:cNvPr id="135" name="Google Shape;135;p26">
            <a:extLst>
              <a:ext uri="{FF2B5EF4-FFF2-40B4-BE49-F238E27FC236}">
                <a16:creationId xmlns:a16="http://schemas.microsoft.com/office/drawing/2014/main" id="{2BED2428-B07A-4601-2A54-750B68380716}"/>
              </a:ext>
            </a:extLst>
          </p:cNvPr>
          <p:cNvSpPr txBox="1">
            <a:spLocks noGrp="1"/>
          </p:cNvSpPr>
          <p:nvPr>
            <p:ph type="body" idx="1"/>
          </p:nvPr>
        </p:nvSpPr>
        <p:spPr>
          <a:xfrm>
            <a:off x="129831" y="1064110"/>
            <a:ext cx="8884500" cy="4010100"/>
          </a:xfrm>
          <a:prstGeom prst="rect">
            <a:avLst/>
          </a:prstGeom>
          <a:noFill/>
          <a:ln>
            <a:noFill/>
          </a:ln>
        </p:spPr>
        <p:txBody>
          <a:bodyPr spcFirstLastPara="1" wrap="square" lIns="91425" tIns="91425" rIns="91425" bIns="91425" anchor="t" anchorCtr="0">
            <a:noAutofit/>
          </a:bodyPr>
          <a:lstStyle/>
          <a:p>
            <a:pPr marL="114300" indent="0">
              <a:buNone/>
            </a:pPr>
            <a:r>
              <a:rPr lang="en-US" sz="1600" b="1" dirty="0">
                <a:latin typeface="Times New Roman" panose="02020603050405020304" pitchFamily="18" charset="0"/>
                <a:cs typeface="Times New Roman" panose="02020603050405020304" pitchFamily="18" charset="0"/>
              </a:rPr>
              <a:t>Project Management Approach</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The project follows an Agile-inspired iterative delivery model with two-week sprint cycles. Each sprint delivers a tested, working increment of the system. Progress is tracked through GitHub Issues and Projects with weekly internal guide reviews.</a:t>
            </a:r>
          </a:p>
          <a:p>
            <a:pPr marL="114300" indent="0">
              <a:buNone/>
            </a:pPr>
            <a:r>
              <a:rPr lang="en-US" sz="1600" b="1" dirty="0">
                <a:latin typeface="Times New Roman" panose="02020603050405020304" pitchFamily="18" charset="0"/>
                <a:cs typeface="Times New Roman" panose="02020603050405020304" pitchFamily="18" charset="0"/>
              </a:rPr>
              <a:t>Team Roles</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Project Lead: Overall architecture, Azure integration, GitHub Actions workflows</a:t>
            </a:r>
          </a:p>
          <a:p>
            <a:r>
              <a:rPr lang="en-US" sz="1600" dirty="0">
                <a:latin typeface="Times New Roman" panose="02020603050405020304" pitchFamily="18" charset="0"/>
                <a:cs typeface="Times New Roman" panose="02020603050405020304" pitchFamily="18" charset="0"/>
              </a:rPr>
              <a:t>Backend Developer: Python monitoring scripts, API integration, report generation</a:t>
            </a:r>
          </a:p>
          <a:p>
            <a:r>
              <a:rPr lang="en-US" sz="1600" dirty="0">
                <a:latin typeface="Times New Roman" panose="02020603050405020304" pitchFamily="18" charset="0"/>
                <a:cs typeface="Times New Roman" panose="02020603050405020304" pitchFamily="18" charset="0"/>
              </a:rPr>
              <a:t>AI/ML Engineer: </a:t>
            </a:r>
            <a:r>
              <a:rPr lang="en-US" sz="1600" dirty="0" err="1">
                <a:latin typeface="Times New Roman" panose="02020603050405020304" pitchFamily="18" charset="0"/>
                <a:cs typeface="Times New Roman" panose="02020603050405020304" pitchFamily="18" charset="0"/>
              </a:rPr>
              <a:t>LangChain</a:t>
            </a:r>
            <a:r>
              <a:rPr lang="en-US" sz="1600" dirty="0">
                <a:latin typeface="Times New Roman" panose="02020603050405020304" pitchFamily="18" charset="0"/>
                <a:cs typeface="Times New Roman" panose="02020603050405020304" pitchFamily="18" charset="0"/>
              </a:rPr>
              <a:t> agent design, OPA policy development (proposed phase)</a:t>
            </a:r>
          </a:p>
          <a:p>
            <a:r>
              <a:rPr lang="en-US" sz="1600" dirty="0">
                <a:latin typeface="Times New Roman" panose="02020603050405020304" pitchFamily="18" charset="0"/>
                <a:cs typeface="Times New Roman" panose="02020603050405020304" pitchFamily="18" charset="0"/>
              </a:rPr>
              <a:t>Documentation: Requirements, test plans, final report preparation</a:t>
            </a:r>
          </a:p>
          <a:p>
            <a:pPr marL="114300" indent="0">
              <a:buNone/>
            </a:pPr>
            <a:r>
              <a:rPr lang="en-US" sz="1600" b="1" dirty="0">
                <a:latin typeface="Times New Roman" panose="02020603050405020304" pitchFamily="18" charset="0"/>
                <a:cs typeface="Times New Roman" panose="02020603050405020304" pitchFamily="18" charset="0"/>
              </a:rPr>
              <a:t>Tools Used for Project Management</a:t>
            </a:r>
            <a:endParaRPr lang="en-US" sz="1600" dirty="0">
              <a:latin typeface="Times New Roman" panose="02020603050405020304" pitchFamily="18" charset="0"/>
              <a:cs typeface="Times New Roman" panose="02020603050405020304" pitchFamily="18" charset="0"/>
            </a:endParaRPr>
          </a:p>
          <a:p>
            <a:r>
              <a:rPr lang="en-US" sz="1600" dirty="0">
                <a:latin typeface="Times New Roman" panose="02020603050405020304" pitchFamily="18" charset="0"/>
                <a:cs typeface="Times New Roman" panose="02020603050405020304" pitchFamily="18" charset="0"/>
              </a:rPr>
              <a:t>GitHub Projects for task tracking and sprint board</a:t>
            </a:r>
          </a:p>
          <a:p>
            <a:r>
              <a:rPr lang="en-US" sz="1600" dirty="0">
                <a:latin typeface="Times New Roman" panose="02020603050405020304" pitchFamily="18" charset="0"/>
                <a:cs typeface="Times New Roman" panose="02020603050405020304" pitchFamily="18" charset="0"/>
              </a:rPr>
              <a:t>GitHub Actions for CI/CD pipeline and automated testing</a:t>
            </a:r>
          </a:p>
          <a:p>
            <a:r>
              <a:rPr lang="en-US" sz="1600" dirty="0">
                <a:latin typeface="Times New Roman" panose="02020603050405020304" pitchFamily="18" charset="0"/>
                <a:cs typeface="Times New Roman" panose="02020603050405020304" pitchFamily="18" charset="0"/>
              </a:rPr>
              <a:t>Microsoft Teams for internal communication and guide meetings</a:t>
            </a:r>
          </a:p>
          <a:p>
            <a:pPr marL="0" indent="0">
              <a:buNone/>
            </a:pPr>
            <a:endParaRPr lang="en-US" sz="1600" dirty="0">
              <a:latin typeface="Times New Roman" panose="02020603050405020304" pitchFamily="18" charset="0"/>
              <a:ea typeface="MS Mincho" panose="02020609040205080304" pitchFamily="49" charset="-128"/>
              <a:cs typeface="Times New Roman" panose="02020603050405020304" pitchFamily="18" charset="0"/>
              <a:sym typeface="Times New Roman"/>
            </a:endParaRPr>
          </a:p>
          <a:p>
            <a:pPr marL="0" indent="0">
              <a:buNone/>
            </a:pPr>
            <a:endParaRPr sz="1600" dirty="0">
              <a:latin typeface="Times New Roman" panose="02020603050405020304" pitchFamily="18" charset="0"/>
              <a:ea typeface="MS Mincho" panose="02020609040205080304" pitchFamily="49" charset="-128"/>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E157E823-C0F5-45E2-716C-6FBB7E9D43D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14</a:t>
            </a:fld>
            <a:endParaRPr lang="en"/>
          </a:p>
        </p:txBody>
      </p:sp>
    </p:spTree>
    <p:extLst>
      <p:ext uri="{BB962C8B-B14F-4D97-AF65-F5344CB8AC3E}">
        <p14:creationId xmlns:p14="http://schemas.microsoft.com/office/powerpoint/2010/main" val="177779908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
          <a:extLst>
            <a:ext uri="{FF2B5EF4-FFF2-40B4-BE49-F238E27FC236}">
              <a16:creationId xmlns:a16="http://schemas.microsoft.com/office/drawing/2014/main" id="{EA192D03-389E-02AD-AB56-D40AA6A35747}"/>
            </a:ext>
          </a:extLst>
        </p:cNvPr>
        <p:cNvGrpSpPr/>
        <p:nvPr/>
      </p:nvGrpSpPr>
      <p:grpSpPr>
        <a:xfrm>
          <a:off x="0" y="0"/>
          <a:ext cx="0" cy="0"/>
          <a:chOff x="0" y="0"/>
          <a:chExt cx="0" cy="0"/>
        </a:xfrm>
      </p:grpSpPr>
      <p:sp>
        <p:nvSpPr>
          <p:cNvPr id="134" name="Google Shape;134;p26">
            <a:extLst>
              <a:ext uri="{FF2B5EF4-FFF2-40B4-BE49-F238E27FC236}">
                <a16:creationId xmlns:a16="http://schemas.microsoft.com/office/drawing/2014/main" id="{85229AB4-ADC3-93B9-78E7-F4B53D7256F2}"/>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lvl="0" algn="ctr"/>
            <a:r>
              <a:rPr lang="en-IN" sz="2400" b="1" dirty="0">
                <a:latin typeface="Times New Roman"/>
                <a:ea typeface="Times New Roman"/>
                <a:cs typeface="Times New Roman"/>
                <a:sym typeface="Times New Roman"/>
              </a:rPr>
              <a:t>Project Management and Cost</a:t>
            </a:r>
            <a:endParaRPr sz="2400" b="1" dirty="0">
              <a:latin typeface="Times New Roman"/>
              <a:ea typeface="Times New Roman"/>
              <a:cs typeface="Times New Roman"/>
              <a:sym typeface="Times New Roman"/>
            </a:endParaRPr>
          </a:p>
        </p:txBody>
      </p:sp>
      <p:sp>
        <p:nvSpPr>
          <p:cNvPr id="135" name="Google Shape;135;p26">
            <a:extLst>
              <a:ext uri="{FF2B5EF4-FFF2-40B4-BE49-F238E27FC236}">
                <a16:creationId xmlns:a16="http://schemas.microsoft.com/office/drawing/2014/main" id="{02AABA8A-E9A7-3649-D027-2CCE3F2BF434}"/>
              </a:ext>
            </a:extLst>
          </p:cNvPr>
          <p:cNvSpPr txBox="1">
            <a:spLocks noGrp="1"/>
          </p:cNvSpPr>
          <p:nvPr>
            <p:ph type="body" idx="1"/>
          </p:nvPr>
        </p:nvSpPr>
        <p:spPr>
          <a:xfrm>
            <a:off x="129831" y="1064110"/>
            <a:ext cx="8884500" cy="4010100"/>
          </a:xfrm>
          <a:prstGeom prst="rect">
            <a:avLst/>
          </a:prstGeom>
          <a:noFill/>
          <a:ln>
            <a:noFill/>
          </a:ln>
        </p:spPr>
        <p:txBody>
          <a:bodyPr spcFirstLastPara="1" wrap="square" lIns="91425" tIns="91425" rIns="91425" bIns="91425" anchor="t" anchorCtr="0">
            <a:noAutofit/>
          </a:bodyPr>
          <a:lstStyle/>
          <a:p>
            <a:pPr marL="0" lvl="0" indent="0" eaLnBrk="0" fontAlgn="base" hangingPunct="0">
              <a:lnSpc>
                <a:spcPct val="100000"/>
              </a:lnSpc>
              <a:spcBef>
                <a:spcPct val="0"/>
              </a:spcBef>
              <a:spcAft>
                <a:spcPct val="0"/>
              </a:spcAft>
              <a:buClrTx/>
              <a:buSzTx/>
              <a:buNone/>
            </a:pPr>
            <a:r>
              <a:rPr lang="en-US" altLang="en-US" b="1" dirty="0">
                <a:latin typeface="Times New Roman" panose="02020603050405020304" pitchFamily="18" charset="0"/>
                <a:cs typeface="Times New Roman" panose="02020603050405020304" pitchFamily="18" charset="0"/>
              </a:rPr>
              <a:t>Cost Estimation</a:t>
            </a:r>
            <a:endParaRPr lang="en-US" altLang="en-US" dirty="0">
              <a:latin typeface="Times New Roman" panose="02020603050405020304" pitchFamily="18" charset="0"/>
              <a:cs typeface="Times New Roman" panose="02020603050405020304" pitchFamily="18" charset="0"/>
            </a:endParaRPr>
          </a:p>
          <a:p>
            <a:pPr marL="0" lvl="0" indent="0" eaLnBrk="0" fontAlgn="base" hangingPunct="0">
              <a:lnSpc>
                <a:spcPct val="100000"/>
              </a:lnSpc>
              <a:spcBef>
                <a:spcPct val="0"/>
              </a:spcBef>
              <a:spcAft>
                <a:spcPct val="0"/>
              </a:spcAft>
              <a:buClrTx/>
              <a:buSzTx/>
              <a:buNone/>
            </a:pPr>
            <a:r>
              <a:rPr lang="en-US" altLang="en-US" dirty="0">
                <a:latin typeface="Times New Roman" panose="02020603050405020304" pitchFamily="18" charset="0"/>
                <a:cs typeface="Times New Roman" panose="02020603050405020304" pitchFamily="18" charset="0"/>
              </a:rPr>
              <a:t>Development tools including VS Code, Python, OPA, and GitHub are open source and free of cost.</a:t>
            </a:r>
          </a:p>
          <a:p>
            <a:pPr marL="0" lvl="0" indent="0" eaLnBrk="0" fontAlgn="base" hangingPunct="0">
              <a:lnSpc>
                <a:spcPct val="100000"/>
              </a:lnSpc>
              <a:spcBef>
                <a:spcPct val="0"/>
              </a:spcBef>
              <a:spcAft>
                <a:spcPct val="0"/>
              </a:spcAft>
              <a:buClrTx/>
              <a:buSzTx/>
              <a:buNone/>
            </a:pPr>
            <a:br>
              <a:rPr lang="en-US" altLang="en-US" dirty="0">
                <a:latin typeface="Times New Roman" panose="02020603050405020304" pitchFamily="18" charset="0"/>
                <a:cs typeface="Times New Roman" panose="02020603050405020304" pitchFamily="18" charset="0"/>
              </a:rPr>
            </a:br>
            <a:endParaRPr lang="en-US" altLang="en-US" dirty="0">
              <a:latin typeface="Times New Roman" panose="02020603050405020304" pitchFamily="18" charset="0"/>
              <a:cs typeface="Times New Roman" panose="02020603050405020304" pitchFamily="18" charset="0"/>
            </a:endParaRPr>
          </a:p>
          <a:p>
            <a:pPr marL="0" indent="0">
              <a:buNone/>
            </a:pPr>
            <a:endParaRPr dirty="0">
              <a:latin typeface="Times New Roman" panose="02020603050405020304" pitchFamily="18" charset="0"/>
              <a:ea typeface="MS Mincho" panose="02020609040205080304" pitchFamily="49" charset="-128"/>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C3A89B0F-2570-A4EF-8795-88EF0D7BDD76}"/>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15</a:t>
            </a:fld>
            <a:endParaRPr lang="en"/>
          </a:p>
        </p:txBody>
      </p:sp>
      <p:graphicFrame>
        <p:nvGraphicFramePr>
          <p:cNvPr id="3" name="Table 2">
            <a:extLst>
              <a:ext uri="{FF2B5EF4-FFF2-40B4-BE49-F238E27FC236}">
                <a16:creationId xmlns:a16="http://schemas.microsoft.com/office/drawing/2014/main" id="{86A5DE66-BC1D-D8BE-AC5F-E6005D3926AF}"/>
              </a:ext>
            </a:extLst>
          </p:cNvPr>
          <p:cNvGraphicFramePr>
            <a:graphicFrameLocks noGrp="1"/>
          </p:cNvGraphicFramePr>
          <p:nvPr>
            <p:extLst>
              <p:ext uri="{D42A27DB-BD31-4B8C-83A1-F6EECF244321}">
                <p14:modId xmlns:p14="http://schemas.microsoft.com/office/powerpoint/2010/main" val="2753455051"/>
              </p:ext>
            </p:extLst>
          </p:nvPr>
        </p:nvGraphicFramePr>
        <p:xfrm>
          <a:off x="225108" y="2125550"/>
          <a:ext cx="8521700" cy="2026920"/>
        </p:xfrm>
        <a:graphic>
          <a:graphicData uri="http://schemas.openxmlformats.org/drawingml/2006/table">
            <a:tbl>
              <a:tblPr>
                <a:tableStyleId>{3C2FFA5D-87B4-456A-9821-1D502468CF0F}</a:tableStyleId>
              </a:tblPr>
              <a:tblGrid>
                <a:gridCol w="4260850">
                  <a:extLst>
                    <a:ext uri="{9D8B030D-6E8A-4147-A177-3AD203B41FA5}">
                      <a16:colId xmlns:a16="http://schemas.microsoft.com/office/drawing/2014/main" val="3701072647"/>
                    </a:ext>
                  </a:extLst>
                </a:gridCol>
                <a:gridCol w="4260850">
                  <a:extLst>
                    <a:ext uri="{9D8B030D-6E8A-4147-A177-3AD203B41FA5}">
                      <a16:colId xmlns:a16="http://schemas.microsoft.com/office/drawing/2014/main" val="3365796236"/>
                    </a:ext>
                  </a:extLst>
                </a:gridCol>
              </a:tblGrid>
              <a:tr h="0">
                <a:tc>
                  <a:txBody>
                    <a:bodyPr/>
                    <a:lstStyle/>
                    <a:p>
                      <a:pPr>
                        <a:buNone/>
                      </a:pPr>
                      <a:r>
                        <a:rPr lang="en-IN" b="1">
                          <a:effectLst/>
                        </a:rPr>
                        <a:t>Resource</a:t>
                      </a:r>
                    </a:p>
                  </a:txBody>
                  <a:tcPr marL="82550" marR="82550" marT="38100" marB="38100" anchor="ctr"/>
                </a:tc>
                <a:tc>
                  <a:txBody>
                    <a:bodyPr/>
                    <a:lstStyle/>
                    <a:p>
                      <a:pPr>
                        <a:buNone/>
                      </a:pPr>
                      <a:r>
                        <a:rPr lang="en-IN" b="1">
                          <a:effectLst/>
                        </a:rPr>
                        <a:t>Estimated Cost</a:t>
                      </a:r>
                    </a:p>
                  </a:txBody>
                  <a:tcPr marL="82550" marR="82550" marT="38100" marB="38100" anchor="ctr"/>
                </a:tc>
                <a:extLst>
                  <a:ext uri="{0D108BD9-81ED-4DB2-BD59-A6C34878D82A}">
                    <a16:rowId xmlns:a16="http://schemas.microsoft.com/office/drawing/2014/main" val="3095248933"/>
                  </a:ext>
                </a:extLst>
              </a:tr>
              <a:tr h="0">
                <a:tc>
                  <a:txBody>
                    <a:bodyPr/>
                    <a:lstStyle/>
                    <a:p>
                      <a:pPr>
                        <a:buNone/>
                      </a:pPr>
                      <a:r>
                        <a:rPr lang="en-US" dirty="0">
                          <a:effectLst/>
                        </a:rPr>
                        <a:t>Azure Virtual Machine (B2s, 1 month)</a:t>
                      </a:r>
                    </a:p>
                  </a:txBody>
                  <a:tcPr marL="82550" marR="82550" marT="38100" marB="38100" anchor="ctr"/>
                </a:tc>
                <a:tc>
                  <a:txBody>
                    <a:bodyPr/>
                    <a:lstStyle/>
                    <a:p>
                      <a:pPr>
                        <a:buNone/>
                      </a:pPr>
                      <a:r>
                        <a:rPr lang="en-IN">
                          <a:effectLst/>
                        </a:rPr>
                        <a:t>~₹2,500</a:t>
                      </a:r>
                    </a:p>
                  </a:txBody>
                  <a:tcPr marL="82550" marR="82550" marT="38100" marB="38100" anchor="ctr"/>
                </a:tc>
                <a:extLst>
                  <a:ext uri="{0D108BD9-81ED-4DB2-BD59-A6C34878D82A}">
                    <a16:rowId xmlns:a16="http://schemas.microsoft.com/office/drawing/2014/main" val="1084305884"/>
                  </a:ext>
                </a:extLst>
              </a:tr>
              <a:tr h="0">
                <a:tc>
                  <a:txBody>
                    <a:bodyPr/>
                    <a:lstStyle/>
                    <a:p>
                      <a:pPr>
                        <a:buNone/>
                      </a:pPr>
                      <a:r>
                        <a:rPr lang="en-US">
                          <a:effectLst/>
                        </a:rPr>
                        <a:t>Azure Key Vault (standard tier)</a:t>
                      </a:r>
                    </a:p>
                  </a:txBody>
                  <a:tcPr marL="82550" marR="82550" marT="38100" marB="38100" anchor="ctr"/>
                </a:tc>
                <a:tc>
                  <a:txBody>
                    <a:bodyPr/>
                    <a:lstStyle/>
                    <a:p>
                      <a:pPr>
                        <a:buNone/>
                      </a:pPr>
                      <a:r>
                        <a:rPr lang="en-IN">
                          <a:effectLst/>
                        </a:rPr>
                        <a:t>~₹800/month</a:t>
                      </a:r>
                    </a:p>
                  </a:txBody>
                  <a:tcPr marL="82550" marR="82550" marT="38100" marB="38100" anchor="ctr"/>
                </a:tc>
                <a:extLst>
                  <a:ext uri="{0D108BD9-81ED-4DB2-BD59-A6C34878D82A}">
                    <a16:rowId xmlns:a16="http://schemas.microsoft.com/office/drawing/2014/main" val="2532285289"/>
                  </a:ext>
                </a:extLst>
              </a:tr>
              <a:tr h="0">
                <a:tc>
                  <a:txBody>
                    <a:bodyPr/>
                    <a:lstStyle/>
                    <a:p>
                      <a:pPr>
                        <a:buNone/>
                      </a:pPr>
                      <a:r>
                        <a:rPr lang="en-US">
                          <a:effectLst/>
                        </a:rPr>
                        <a:t>Azure Monitor and Log Analytics</a:t>
                      </a:r>
                    </a:p>
                  </a:txBody>
                  <a:tcPr marL="82550" marR="82550" marT="38100" marB="38100" anchor="ctr"/>
                </a:tc>
                <a:tc>
                  <a:txBody>
                    <a:bodyPr/>
                    <a:lstStyle/>
                    <a:p>
                      <a:pPr>
                        <a:buNone/>
                      </a:pPr>
                      <a:r>
                        <a:rPr lang="en-IN">
                          <a:effectLst/>
                        </a:rPr>
                        <a:t>~₹1,200/month</a:t>
                      </a:r>
                    </a:p>
                  </a:txBody>
                  <a:tcPr marL="82550" marR="82550" marT="38100" marB="38100" anchor="ctr"/>
                </a:tc>
                <a:extLst>
                  <a:ext uri="{0D108BD9-81ED-4DB2-BD59-A6C34878D82A}">
                    <a16:rowId xmlns:a16="http://schemas.microsoft.com/office/drawing/2014/main" val="3507869569"/>
                  </a:ext>
                </a:extLst>
              </a:tr>
              <a:tr h="0">
                <a:tc>
                  <a:txBody>
                    <a:bodyPr/>
                    <a:lstStyle/>
                    <a:p>
                      <a:pPr>
                        <a:buNone/>
                      </a:pPr>
                      <a:r>
                        <a:rPr lang="en-IN" dirty="0">
                          <a:effectLst/>
                        </a:rPr>
                        <a:t>GitHub Actions (self-hosted runner)</a:t>
                      </a:r>
                    </a:p>
                  </a:txBody>
                  <a:tcPr marL="82550" marR="82550" marT="38100" marB="38100" anchor="ctr"/>
                </a:tc>
                <a:tc>
                  <a:txBody>
                    <a:bodyPr/>
                    <a:lstStyle/>
                    <a:p>
                      <a:pPr>
                        <a:buNone/>
                      </a:pPr>
                      <a:r>
                        <a:rPr lang="en-IN">
                          <a:effectLst/>
                        </a:rPr>
                        <a:t>Free (own hardware)</a:t>
                      </a:r>
                    </a:p>
                  </a:txBody>
                  <a:tcPr marL="82550" marR="82550" marT="38100" marB="38100" anchor="ctr"/>
                </a:tc>
                <a:extLst>
                  <a:ext uri="{0D108BD9-81ED-4DB2-BD59-A6C34878D82A}">
                    <a16:rowId xmlns:a16="http://schemas.microsoft.com/office/drawing/2014/main" val="2369322998"/>
                  </a:ext>
                </a:extLst>
              </a:tr>
              <a:tr h="0">
                <a:tc>
                  <a:txBody>
                    <a:bodyPr/>
                    <a:lstStyle/>
                    <a:p>
                      <a:pPr>
                        <a:buNone/>
                      </a:pPr>
                      <a:r>
                        <a:rPr lang="en-IN">
                          <a:effectLst/>
                        </a:rPr>
                        <a:t>LangChain API usage (OpenAI backend)</a:t>
                      </a:r>
                    </a:p>
                  </a:txBody>
                  <a:tcPr marL="82550" marR="82550" marT="38100" marB="38100" anchor="ctr"/>
                </a:tc>
                <a:tc>
                  <a:txBody>
                    <a:bodyPr/>
                    <a:lstStyle/>
                    <a:p>
                      <a:pPr>
                        <a:buNone/>
                      </a:pPr>
                      <a:r>
                        <a:rPr lang="en-IN">
                          <a:effectLst/>
                        </a:rPr>
                        <a:t>~₹3,000/month</a:t>
                      </a:r>
                    </a:p>
                  </a:txBody>
                  <a:tcPr marL="82550" marR="82550" marT="38100" marB="38100" anchor="ctr"/>
                </a:tc>
                <a:extLst>
                  <a:ext uri="{0D108BD9-81ED-4DB2-BD59-A6C34878D82A}">
                    <a16:rowId xmlns:a16="http://schemas.microsoft.com/office/drawing/2014/main" val="1377500961"/>
                  </a:ext>
                </a:extLst>
              </a:tr>
              <a:tr h="0">
                <a:tc>
                  <a:txBody>
                    <a:bodyPr/>
                    <a:lstStyle/>
                    <a:p>
                      <a:pPr>
                        <a:buNone/>
                      </a:pPr>
                      <a:r>
                        <a:rPr lang="en-IN" b="1">
                          <a:effectLst/>
                        </a:rPr>
                        <a:t>Total Estimated Monthly Cost</a:t>
                      </a:r>
                      <a:endParaRPr lang="en-IN">
                        <a:effectLst/>
                      </a:endParaRPr>
                    </a:p>
                  </a:txBody>
                  <a:tcPr marL="82550" marR="82550" marT="38100" marB="38100" anchor="ctr"/>
                </a:tc>
                <a:tc>
                  <a:txBody>
                    <a:bodyPr/>
                    <a:lstStyle/>
                    <a:p>
                      <a:pPr>
                        <a:buNone/>
                      </a:pPr>
                      <a:r>
                        <a:rPr lang="en-IN" b="1" dirty="0">
                          <a:effectLst/>
                        </a:rPr>
                        <a:t>~₹7,500</a:t>
                      </a:r>
                      <a:endParaRPr lang="en-IN" dirty="0">
                        <a:effectLst/>
                      </a:endParaRPr>
                    </a:p>
                  </a:txBody>
                  <a:tcPr marL="82550" marR="82550" marT="38100" marB="38100" anchor="ctr"/>
                </a:tc>
                <a:extLst>
                  <a:ext uri="{0D108BD9-81ED-4DB2-BD59-A6C34878D82A}">
                    <a16:rowId xmlns:a16="http://schemas.microsoft.com/office/drawing/2014/main" val="3930475562"/>
                  </a:ext>
                </a:extLst>
              </a:tr>
            </a:tbl>
          </a:graphicData>
        </a:graphic>
      </p:graphicFrame>
    </p:spTree>
    <p:extLst>
      <p:ext uri="{BB962C8B-B14F-4D97-AF65-F5344CB8AC3E}">
        <p14:creationId xmlns:p14="http://schemas.microsoft.com/office/powerpoint/2010/main" val="38408252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
          <a:extLst>
            <a:ext uri="{FF2B5EF4-FFF2-40B4-BE49-F238E27FC236}">
              <a16:creationId xmlns:a16="http://schemas.microsoft.com/office/drawing/2014/main" id="{A56FB5CC-D0F9-0CB4-458D-12A7949B3223}"/>
            </a:ext>
          </a:extLst>
        </p:cNvPr>
        <p:cNvGrpSpPr/>
        <p:nvPr/>
      </p:nvGrpSpPr>
      <p:grpSpPr>
        <a:xfrm>
          <a:off x="0" y="0"/>
          <a:ext cx="0" cy="0"/>
          <a:chOff x="0" y="0"/>
          <a:chExt cx="0" cy="0"/>
        </a:xfrm>
      </p:grpSpPr>
      <p:sp>
        <p:nvSpPr>
          <p:cNvPr id="134" name="Google Shape;134;p26">
            <a:extLst>
              <a:ext uri="{FF2B5EF4-FFF2-40B4-BE49-F238E27FC236}">
                <a16:creationId xmlns:a16="http://schemas.microsoft.com/office/drawing/2014/main" id="{0921EB06-2362-16F3-BAA9-EEA4D6F59654}"/>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lvl="0" algn="ctr"/>
            <a:r>
              <a:rPr lang="en-IN" sz="2400" b="1" dirty="0">
                <a:latin typeface="Times New Roman"/>
                <a:ea typeface="Times New Roman"/>
                <a:cs typeface="Times New Roman"/>
                <a:sym typeface="Times New Roman"/>
              </a:rPr>
              <a:t>Work done so far</a:t>
            </a:r>
            <a:endParaRPr sz="2400" b="1" dirty="0">
              <a:latin typeface="Times New Roman"/>
              <a:ea typeface="Times New Roman"/>
              <a:cs typeface="Times New Roman"/>
              <a:sym typeface="Times New Roman"/>
            </a:endParaRPr>
          </a:p>
        </p:txBody>
      </p:sp>
      <p:sp>
        <p:nvSpPr>
          <p:cNvPr id="135" name="Google Shape;135;p26">
            <a:extLst>
              <a:ext uri="{FF2B5EF4-FFF2-40B4-BE49-F238E27FC236}">
                <a16:creationId xmlns:a16="http://schemas.microsoft.com/office/drawing/2014/main" id="{EC614C15-BFC4-266B-EF00-F277E3D4E7E2}"/>
              </a:ext>
            </a:extLst>
          </p:cNvPr>
          <p:cNvSpPr txBox="1">
            <a:spLocks noGrp="1"/>
          </p:cNvSpPr>
          <p:nvPr>
            <p:ph type="body" idx="1"/>
          </p:nvPr>
        </p:nvSpPr>
        <p:spPr>
          <a:xfrm>
            <a:off x="122842" y="1046717"/>
            <a:ext cx="8884500" cy="4010100"/>
          </a:xfrm>
          <a:prstGeom prst="rect">
            <a:avLst/>
          </a:prstGeom>
          <a:noFill/>
          <a:ln>
            <a:noFill/>
          </a:ln>
        </p:spPr>
        <p:txBody>
          <a:bodyPr spcFirstLastPara="1" wrap="square" lIns="91425" tIns="91425" rIns="91425" bIns="91425" anchor="t" anchorCtr="0">
            <a:noAutofit/>
          </a:bodyPr>
          <a:lstStyle/>
          <a:p>
            <a:r>
              <a:rPr lang="en-IN" sz="1600" dirty="0">
                <a:latin typeface="Times New Roman" panose="02020603050405020304" pitchFamily="18" charset="0"/>
                <a:cs typeface="Times New Roman" panose="02020603050405020304" pitchFamily="18" charset="0"/>
              </a:rPr>
              <a:t>Versioned JSON config files for TLS domains and Azure AD service principal targets</a:t>
            </a:r>
          </a:p>
          <a:p>
            <a:r>
              <a:rPr lang="en-IN" sz="1600" dirty="0">
                <a:latin typeface="Times New Roman" panose="02020603050405020304" pitchFamily="18" charset="0"/>
                <a:cs typeface="Times New Roman" panose="02020603050405020304" pitchFamily="18" charset="0"/>
              </a:rPr>
              <a:t>Private self-hosted GitHub Actions runner pool (</a:t>
            </a:r>
            <a:r>
              <a:rPr lang="en-IN" sz="1600" dirty="0" err="1">
                <a:latin typeface="Times New Roman" panose="02020603050405020304" pitchFamily="18" charset="0"/>
                <a:cs typeface="Times New Roman" panose="02020603050405020304" pitchFamily="18" charset="0"/>
              </a:rPr>
              <a:t>hce</a:t>
            </a:r>
            <a:r>
              <a:rPr lang="en-IN" sz="1600" dirty="0">
                <a:latin typeface="Times New Roman" panose="02020603050405020304" pitchFamily="18" charset="0"/>
                <a:cs typeface="Times New Roman" panose="02020603050405020304" pitchFamily="18" charset="0"/>
              </a:rPr>
              <a:t>-enterprise) provisioned and tested</a:t>
            </a:r>
          </a:p>
          <a:p>
            <a:r>
              <a:rPr lang="en-IN" sz="1600" dirty="0">
                <a:latin typeface="Times New Roman" panose="02020603050405020304" pitchFamily="18" charset="0"/>
                <a:cs typeface="Times New Roman" panose="02020603050405020304" pitchFamily="18" charset="0"/>
              </a:rPr>
              <a:t>TLS Certificate Monitor — live OpenSSL handshakes with SNI, custom port, and error isolation per domain</a:t>
            </a:r>
          </a:p>
          <a:p>
            <a:r>
              <a:rPr lang="en-IN" sz="1600" dirty="0">
                <a:latin typeface="Times New Roman" panose="02020603050405020304" pitchFamily="18" charset="0"/>
                <a:cs typeface="Times New Roman" panose="02020603050405020304" pitchFamily="18" charset="0"/>
              </a:rPr>
              <a:t>Azure SP Monitor — Microsoft Graph API integration for both client secrets and certificate credentials</a:t>
            </a:r>
          </a:p>
          <a:p>
            <a:r>
              <a:rPr lang="en-IN" sz="1600" dirty="0">
                <a:latin typeface="Times New Roman" panose="02020603050405020304" pitchFamily="18" charset="0"/>
                <a:cs typeface="Times New Roman" panose="02020603050405020304" pitchFamily="18" charset="0"/>
              </a:rPr>
              <a:t>Three-tier threshold classification: CRITICAL ≤ 30 days · EXPIRING ≤ 60 days · OK &gt; 60 days</a:t>
            </a:r>
          </a:p>
          <a:p>
            <a:r>
              <a:rPr lang="en-IN" sz="1600" dirty="0">
                <a:latin typeface="Times New Roman" panose="02020603050405020304" pitchFamily="18" charset="0"/>
                <a:cs typeface="Times New Roman" panose="02020603050405020304" pitchFamily="18" charset="0"/>
              </a:rPr>
              <a:t>Colour-coded HTML reports generated with timestamps and rolling 15-report retention</a:t>
            </a:r>
          </a:p>
          <a:p>
            <a:r>
              <a:rPr lang="en-IN" sz="1600" dirty="0">
                <a:latin typeface="Times New Roman" panose="02020603050405020304" pitchFamily="18" charset="0"/>
                <a:cs typeface="Times New Roman" panose="02020603050405020304" pitchFamily="18" charset="0"/>
              </a:rPr>
              <a:t>Conditional SMTP email alerts — fires only when actionable credentials exist</a:t>
            </a:r>
          </a:p>
          <a:p>
            <a:r>
              <a:rPr lang="en-IN" sz="1600" dirty="0">
                <a:latin typeface="Times New Roman" panose="02020603050405020304" pitchFamily="18" charset="0"/>
                <a:cs typeface="Times New Roman" panose="02020603050405020304" pitchFamily="18" charset="0"/>
              </a:rPr>
              <a:t>Three GitHub Actions workflows: weekly TLS check, daily Azure SP check, full </a:t>
            </a:r>
            <a:r>
              <a:rPr lang="en-IN" sz="1600" dirty="0" err="1">
                <a:latin typeface="Times New Roman" panose="02020603050405020304" pitchFamily="18" charset="0"/>
                <a:cs typeface="Times New Roman" panose="02020603050405020304" pitchFamily="18" charset="0"/>
              </a:rPr>
              <a:t>DevSecOps</a:t>
            </a:r>
            <a:r>
              <a:rPr lang="en-IN" sz="1600" dirty="0">
                <a:latin typeface="Times New Roman" panose="02020603050405020304" pitchFamily="18" charset="0"/>
                <a:cs typeface="Times New Roman" panose="02020603050405020304" pitchFamily="18" charset="0"/>
              </a:rPr>
              <a:t> build pipeline</a:t>
            </a:r>
          </a:p>
          <a:p>
            <a:r>
              <a:rPr lang="en-IN" sz="1600" dirty="0">
                <a:latin typeface="Times New Roman" panose="02020603050405020304" pitchFamily="18" charset="0"/>
                <a:cs typeface="Times New Roman" panose="02020603050405020304" pitchFamily="18" charset="0"/>
              </a:rPr>
              <a:t>90-day artifact retention for all reports via GitHub Actions</a:t>
            </a:r>
          </a:p>
          <a:p>
            <a:r>
              <a:rPr lang="en-IN" sz="1600" dirty="0">
                <a:latin typeface="Times New Roman" panose="02020603050405020304" pitchFamily="18" charset="0"/>
                <a:cs typeface="Times New Roman" panose="02020603050405020304" pitchFamily="18" charset="0"/>
              </a:rPr>
              <a:t>All credentials stored as encrypted repository secrets — nothing hardcoded in source</a:t>
            </a:r>
          </a:p>
          <a:p>
            <a:pPr marL="0" indent="0">
              <a:buNone/>
            </a:pPr>
            <a:endParaRPr sz="1600" dirty="0">
              <a:latin typeface="Times New Roman" panose="02020603050405020304" pitchFamily="18" charset="0"/>
              <a:ea typeface="MS Mincho" panose="02020609040205080304" pitchFamily="49" charset="-128"/>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2AB3FFCE-DC36-D5FC-AD71-E324C12649F5}"/>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16</a:t>
            </a:fld>
            <a:endParaRPr lang="en"/>
          </a:p>
        </p:txBody>
      </p:sp>
    </p:spTree>
    <p:extLst>
      <p:ext uri="{BB962C8B-B14F-4D97-AF65-F5344CB8AC3E}">
        <p14:creationId xmlns:p14="http://schemas.microsoft.com/office/powerpoint/2010/main" val="27076508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
          <a:extLst>
            <a:ext uri="{FF2B5EF4-FFF2-40B4-BE49-F238E27FC236}">
              <a16:creationId xmlns:a16="http://schemas.microsoft.com/office/drawing/2014/main" id="{FE2E6E2B-110D-AB94-A6A6-26834414B4B4}"/>
            </a:ext>
          </a:extLst>
        </p:cNvPr>
        <p:cNvGrpSpPr/>
        <p:nvPr/>
      </p:nvGrpSpPr>
      <p:grpSpPr>
        <a:xfrm>
          <a:off x="0" y="0"/>
          <a:ext cx="0" cy="0"/>
          <a:chOff x="0" y="0"/>
          <a:chExt cx="0" cy="0"/>
        </a:xfrm>
      </p:grpSpPr>
      <p:sp>
        <p:nvSpPr>
          <p:cNvPr id="134" name="Google Shape;134;p26">
            <a:extLst>
              <a:ext uri="{FF2B5EF4-FFF2-40B4-BE49-F238E27FC236}">
                <a16:creationId xmlns:a16="http://schemas.microsoft.com/office/drawing/2014/main" id="{2B5746CC-0672-F625-F7FD-BEB936C0A7BE}"/>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lvl="0" algn="ctr"/>
            <a:r>
              <a:rPr lang="en-IN" sz="2400" b="1" dirty="0">
                <a:latin typeface="Times New Roman"/>
                <a:ea typeface="Times New Roman"/>
                <a:cs typeface="Times New Roman"/>
                <a:sym typeface="Times New Roman"/>
              </a:rPr>
              <a:t>Work to be done</a:t>
            </a:r>
            <a:endParaRPr sz="2400" b="1" dirty="0">
              <a:latin typeface="Times New Roman"/>
              <a:ea typeface="Times New Roman"/>
              <a:cs typeface="Times New Roman"/>
              <a:sym typeface="Times New Roman"/>
            </a:endParaRPr>
          </a:p>
        </p:txBody>
      </p:sp>
      <p:sp>
        <p:nvSpPr>
          <p:cNvPr id="135" name="Google Shape;135;p26">
            <a:extLst>
              <a:ext uri="{FF2B5EF4-FFF2-40B4-BE49-F238E27FC236}">
                <a16:creationId xmlns:a16="http://schemas.microsoft.com/office/drawing/2014/main" id="{C69BDEC7-1408-3FF7-275D-6BAB31B5DE87}"/>
              </a:ext>
            </a:extLst>
          </p:cNvPr>
          <p:cNvSpPr txBox="1">
            <a:spLocks noGrp="1"/>
          </p:cNvSpPr>
          <p:nvPr>
            <p:ph type="body" idx="1"/>
          </p:nvPr>
        </p:nvSpPr>
        <p:spPr>
          <a:xfrm>
            <a:off x="136658" y="1152471"/>
            <a:ext cx="8884500" cy="3618909"/>
          </a:xfrm>
          <a:prstGeom prst="rect">
            <a:avLst/>
          </a:prstGeom>
          <a:noFill/>
          <a:ln>
            <a:noFill/>
          </a:ln>
        </p:spPr>
        <p:txBody>
          <a:bodyPr spcFirstLastPara="1" wrap="square" lIns="91425" tIns="91425" rIns="91425" bIns="91425" anchor="t" anchorCtr="0">
            <a:noAutofit/>
          </a:bodyPr>
          <a:lstStyle/>
          <a:p>
            <a:r>
              <a:rPr lang="en-IN" dirty="0">
                <a:latin typeface="Times New Roman" panose="02020603050405020304" pitchFamily="18" charset="0"/>
                <a:cs typeface="Times New Roman" panose="02020603050405020304" pitchFamily="18" charset="0"/>
              </a:rPr>
              <a:t>Integrate </a:t>
            </a:r>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AI agent for multi-dimensional NHI risk scoring (privilege scope, usage, dormancy, age)</a:t>
            </a:r>
          </a:p>
          <a:p>
            <a:r>
              <a:rPr lang="en-IN" dirty="0">
                <a:latin typeface="Times New Roman" panose="02020603050405020304" pitchFamily="18" charset="0"/>
                <a:cs typeface="Times New Roman" panose="02020603050405020304" pitchFamily="18" charset="0"/>
              </a:rPr>
              <a:t>Implement real-time anomaly detection for unusual identity access behaviour</a:t>
            </a:r>
          </a:p>
          <a:p>
            <a:r>
              <a:rPr lang="en-IN" dirty="0">
                <a:latin typeface="Times New Roman" panose="02020603050405020304" pitchFamily="18" charset="0"/>
                <a:cs typeface="Times New Roman" panose="02020603050405020304" pitchFamily="18" charset="0"/>
              </a:rPr>
              <a:t>Define OPA / Rego policy ruleset encoding organisational governance constraints</a:t>
            </a:r>
          </a:p>
          <a:p>
            <a:r>
              <a:rPr lang="en-IN" dirty="0">
                <a:latin typeface="Times New Roman" panose="02020603050405020304" pitchFamily="18" charset="0"/>
                <a:cs typeface="Times New Roman" panose="02020603050405020304" pitchFamily="18" charset="0"/>
              </a:rPr>
              <a:t>Build automated credential rotation pipeline triggered by AI agent upon policy violation</a:t>
            </a:r>
          </a:p>
          <a:p>
            <a:r>
              <a:rPr lang="en-IN" dirty="0">
                <a:latin typeface="Times New Roman" panose="02020603050405020304" pitchFamily="18" charset="0"/>
                <a:cs typeface="Times New Roman" panose="02020603050405020304" pitchFamily="18" charset="0"/>
              </a:rPr>
              <a:t>Integrate Azure Key Vault for secure credential regeneration and zero standing secrets</a:t>
            </a:r>
          </a:p>
          <a:p>
            <a:r>
              <a:rPr lang="en-IN" dirty="0">
                <a:latin typeface="Times New Roman" panose="02020603050405020304" pitchFamily="18" charset="0"/>
                <a:cs typeface="Times New Roman" panose="02020603050405020304" pitchFamily="18" charset="0"/>
              </a:rPr>
              <a:t>Deploy Azure-hosted real-time dashboard for NHI inventory and risk posture visibility</a:t>
            </a:r>
          </a:p>
          <a:p>
            <a:r>
              <a:rPr lang="en-IN" dirty="0">
                <a:latin typeface="Times New Roman" panose="02020603050405020304" pitchFamily="18" charset="0"/>
                <a:cs typeface="Times New Roman" panose="02020603050405020304" pitchFamily="18" charset="0"/>
              </a:rPr>
              <a:t>Build CISO-level audit log for SOC 2 and ISO 27001 compliance evidence</a:t>
            </a:r>
          </a:p>
          <a:p>
            <a:r>
              <a:rPr lang="en-IN" dirty="0">
                <a:latin typeface="Times New Roman" panose="02020603050405020304" pitchFamily="18" charset="0"/>
                <a:cs typeface="Times New Roman" panose="02020603050405020304" pitchFamily="18" charset="0"/>
              </a:rPr>
              <a:t>End-to-end integration, security boundary, and enterprise-scale performance testing</a:t>
            </a:r>
          </a:p>
          <a:p>
            <a:r>
              <a:rPr lang="en-IN" dirty="0">
                <a:latin typeface="Times New Roman" panose="02020603050405020304" pitchFamily="18" charset="0"/>
                <a:cs typeface="Times New Roman" panose="02020603050405020304" pitchFamily="18" charset="0"/>
              </a:rPr>
              <a:t>Final deployable NHI Governance Agent package with complete documentation</a:t>
            </a:r>
          </a:p>
          <a:p>
            <a:pPr marL="0" indent="0">
              <a:buNone/>
            </a:pPr>
            <a:endParaRPr dirty="0">
              <a:latin typeface="Times New Roman" panose="02020603050405020304" pitchFamily="18" charset="0"/>
              <a:ea typeface="MS Mincho" panose="02020609040205080304" pitchFamily="49" charset="-128"/>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F3290BA8-4EE3-1DD6-BE34-26746E5026F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17</a:t>
            </a:fld>
            <a:endParaRPr lang="en"/>
          </a:p>
        </p:txBody>
      </p:sp>
    </p:spTree>
    <p:extLst>
      <p:ext uri="{BB962C8B-B14F-4D97-AF65-F5344CB8AC3E}">
        <p14:creationId xmlns:p14="http://schemas.microsoft.com/office/powerpoint/2010/main" val="3268685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133">
          <a:extLst>
            <a:ext uri="{FF2B5EF4-FFF2-40B4-BE49-F238E27FC236}">
              <a16:creationId xmlns:a16="http://schemas.microsoft.com/office/drawing/2014/main" id="{2C306760-2DD4-F30E-1528-177B347F1BA6}"/>
            </a:ext>
          </a:extLst>
        </p:cNvPr>
        <p:cNvGrpSpPr/>
        <p:nvPr/>
      </p:nvGrpSpPr>
      <p:grpSpPr>
        <a:xfrm>
          <a:off x="0" y="0"/>
          <a:ext cx="0" cy="0"/>
          <a:chOff x="0" y="0"/>
          <a:chExt cx="0" cy="0"/>
        </a:xfrm>
      </p:grpSpPr>
      <p:sp>
        <p:nvSpPr>
          <p:cNvPr id="134" name="Google Shape;134;p26">
            <a:extLst>
              <a:ext uri="{FF2B5EF4-FFF2-40B4-BE49-F238E27FC236}">
                <a16:creationId xmlns:a16="http://schemas.microsoft.com/office/drawing/2014/main" id="{C12A0FDC-8E1E-7FBE-5880-F6136A53EDCD}"/>
              </a:ext>
            </a:extLst>
          </p:cNvPr>
          <p:cNvSpPr txBox="1">
            <a:spLocks noGrp="1"/>
          </p:cNvSpPr>
          <p:nvPr>
            <p:ph type="title"/>
          </p:nvPr>
        </p:nvSpPr>
        <p:spPr>
          <a:xfrm>
            <a:off x="1862667" y="259800"/>
            <a:ext cx="5012400" cy="804300"/>
          </a:xfrm>
          <a:prstGeom prst="rect">
            <a:avLst/>
          </a:prstGeom>
          <a:noFill/>
          <a:ln>
            <a:noFill/>
          </a:ln>
        </p:spPr>
        <p:txBody>
          <a:bodyPr spcFirstLastPara="1" wrap="square" lIns="91425" tIns="91425" rIns="91425" bIns="91425" anchor="t" anchorCtr="0">
            <a:noAutofit/>
          </a:bodyPr>
          <a:lstStyle/>
          <a:p>
            <a:pPr lvl="0" algn="ctr"/>
            <a:r>
              <a:rPr lang="en-IN" sz="2400" b="1" dirty="0">
                <a:latin typeface="Times New Roman"/>
                <a:ea typeface="Times New Roman"/>
                <a:cs typeface="Times New Roman"/>
                <a:sym typeface="Times New Roman"/>
              </a:rPr>
              <a:t>References</a:t>
            </a:r>
            <a:endParaRPr sz="2400" b="1" dirty="0">
              <a:latin typeface="Times New Roman"/>
              <a:ea typeface="Times New Roman"/>
              <a:cs typeface="Times New Roman"/>
              <a:sym typeface="Times New Roman"/>
            </a:endParaRPr>
          </a:p>
        </p:txBody>
      </p:sp>
      <p:sp>
        <p:nvSpPr>
          <p:cNvPr id="135" name="Google Shape;135;p26">
            <a:extLst>
              <a:ext uri="{FF2B5EF4-FFF2-40B4-BE49-F238E27FC236}">
                <a16:creationId xmlns:a16="http://schemas.microsoft.com/office/drawing/2014/main" id="{A8AF76C7-FAAD-E59B-EB2E-8E80ABF20528}"/>
              </a:ext>
            </a:extLst>
          </p:cNvPr>
          <p:cNvSpPr txBox="1">
            <a:spLocks noGrp="1"/>
          </p:cNvSpPr>
          <p:nvPr>
            <p:ph type="body" idx="1"/>
          </p:nvPr>
        </p:nvSpPr>
        <p:spPr>
          <a:xfrm>
            <a:off x="136658" y="1179972"/>
            <a:ext cx="8884500" cy="3618909"/>
          </a:xfrm>
          <a:prstGeom prst="rect">
            <a:avLst/>
          </a:prstGeom>
          <a:noFill/>
          <a:ln>
            <a:noFill/>
          </a:ln>
        </p:spPr>
        <p:txBody>
          <a:bodyPr spcFirstLastPara="1" wrap="square" lIns="91425" tIns="91425" rIns="91425" bIns="91425" anchor="t" anchorCtr="0">
            <a:noAutofit/>
          </a:bodyPr>
          <a:lstStyle/>
          <a:p>
            <a:pPr algn="just">
              <a:buFont typeface="Wingdings" panose="05000000000000000000" pitchFamily="2" charset="2"/>
              <a:buChar char="§"/>
            </a:pPr>
            <a:r>
              <a:rPr lang="en-IN" sz="1200" dirty="0" err="1">
                <a:latin typeface="Times New Roman" panose="02020603050405020304" pitchFamily="18" charset="0"/>
                <a:cs typeface="Times New Roman" panose="02020603050405020304" pitchFamily="18" charset="0"/>
              </a:rPr>
              <a:t>Ponemon</a:t>
            </a:r>
            <a:r>
              <a:rPr lang="en-IN" sz="1200" dirty="0">
                <a:latin typeface="Times New Roman" panose="02020603050405020304" pitchFamily="18" charset="0"/>
                <a:cs typeface="Times New Roman" panose="02020603050405020304" pitchFamily="18" charset="0"/>
              </a:rPr>
              <a:t> Institute, </a:t>
            </a:r>
            <a:r>
              <a:rPr lang="en-IN" sz="1200" i="1" dirty="0">
                <a:latin typeface="Times New Roman" panose="02020603050405020304" pitchFamily="18" charset="0"/>
                <a:cs typeface="Times New Roman" panose="02020603050405020304" pitchFamily="18" charset="0"/>
              </a:rPr>
              <a:t>"The 2024 State of Certificate Lifecycle Management,"</a:t>
            </a:r>
            <a:r>
              <a:rPr lang="en-IN" sz="1200" dirty="0">
                <a:latin typeface="Times New Roman" panose="02020603050405020304" pitchFamily="18" charset="0"/>
                <a:cs typeface="Times New Roman" panose="02020603050405020304" pitchFamily="18" charset="0"/>
              </a:rPr>
              <a:t> DigiCert Inc., 2024.</a:t>
            </a:r>
          </a:p>
          <a:p>
            <a:pPr algn="just">
              <a:buFont typeface="Wingdings" panose="05000000000000000000" pitchFamily="2" charset="2"/>
              <a:buChar char="§"/>
            </a:pPr>
            <a:r>
              <a:rPr lang="en-IN" sz="1200" dirty="0">
                <a:latin typeface="Times New Roman" panose="02020603050405020304" pitchFamily="18" charset="0"/>
                <a:cs typeface="Times New Roman" panose="02020603050405020304" pitchFamily="18" charset="0"/>
              </a:rPr>
              <a:t>E. Barker, </a:t>
            </a:r>
            <a:r>
              <a:rPr lang="en-IN" sz="1200" i="1" dirty="0">
                <a:latin typeface="Times New Roman" panose="02020603050405020304" pitchFamily="18" charset="0"/>
                <a:cs typeface="Times New Roman" panose="02020603050405020304" pitchFamily="18" charset="0"/>
              </a:rPr>
              <a:t>"Recommendation for Key Management: Part 1 – General,"</a:t>
            </a:r>
            <a:r>
              <a:rPr lang="en-IN" sz="1200" dirty="0">
                <a:latin typeface="Times New Roman" panose="02020603050405020304" pitchFamily="18" charset="0"/>
                <a:cs typeface="Times New Roman" panose="02020603050405020304" pitchFamily="18" charset="0"/>
              </a:rPr>
              <a:t> NIST Special Publication 800-57 Part 1 Rev. 5, National Institute of Standards and Technology, 2020.</a:t>
            </a:r>
          </a:p>
          <a:p>
            <a:pPr algn="just">
              <a:buFont typeface="Wingdings" panose="05000000000000000000" pitchFamily="2" charset="2"/>
              <a:buChar char="§"/>
            </a:pPr>
            <a:r>
              <a:rPr lang="en-IN" sz="1200" dirty="0">
                <a:latin typeface="Times New Roman" panose="02020603050405020304" pitchFamily="18" charset="0"/>
                <a:cs typeface="Times New Roman" panose="02020603050405020304" pitchFamily="18" charset="0"/>
              </a:rPr>
              <a:t>Microsoft, </a:t>
            </a:r>
            <a:r>
              <a:rPr lang="en-IN" sz="1200" i="1" dirty="0">
                <a:latin typeface="Times New Roman" panose="02020603050405020304" pitchFamily="18" charset="0"/>
                <a:cs typeface="Times New Roman" panose="02020603050405020304" pitchFamily="18" charset="0"/>
              </a:rPr>
              <a:t>"Azure Well-Architected Framework: Security — Identity and Access Management,"</a:t>
            </a:r>
            <a:r>
              <a:rPr lang="en-IN" sz="1200" dirty="0">
                <a:latin typeface="Times New Roman" panose="02020603050405020304" pitchFamily="18" charset="0"/>
                <a:cs typeface="Times New Roman" panose="02020603050405020304" pitchFamily="18" charset="0"/>
              </a:rPr>
              <a:t> Microsoft Learn Documentation, 2024.</a:t>
            </a:r>
          </a:p>
          <a:p>
            <a:pPr algn="just">
              <a:buFont typeface="Wingdings" panose="05000000000000000000" pitchFamily="2" charset="2"/>
              <a:buChar char="§"/>
            </a:pPr>
            <a:r>
              <a:rPr lang="en-IN" sz="1200" dirty="0">
                <a:latin typeface="Times New Roman" panose="02020603050405020304" pitchFamily="18" charset="0"/>
                <a:cs typeface="Times New Roman" panose="02020603050405020304" pitchFamily="18" charset="0"/>
              </a:rPr>
              <a:t>Microsoft, </a:t>
            </a:r>
            <a:r>
              <a:rPr lang="en-IN" sz="1200" i="1" dirty="0">
                <a:latin typeface="Times New Roman" panose="02020603050405020304" pitchFamily="18" charset="0"/>
                <a:cs typeface="Times New Roman" panose="02020603050405020304" pitchFamily="18" charset="0"/>
              </a:rPr>
              <a:t>"Application and Service Principal Objects in Azure Active Directory,"</a:t>
            </a:r>
            <a:r>
              <a:rPr lang="en-IN" sz="1200" dirty="0">
                <a:latin typeface="Times New Roman" panose="02020603050405020304" pitchFamily="18" charset="0"/>
                <a:cs typeface="Times New Roman" panose="02020603050405020304" pitchFamily="18" charset="0"/>
              </a:rPr>
              <a:t> Microsoft Identity Platform Documentation, 2024.</a:t>
            </a:r>
          </a:p>
          <a:p>
            <a:pPr algn="just">
              <a:buFont typeface="Wingdings" panose="05000000000000000000" pitchFamily="2" charset="2"/>
              <a:buChar char="§"/>
            </a:pPr>
            <a:r>
              <a:rPr lang="en-IN" sz="1200" dirty="0">
                <a:latin typeface="Times New Roman" panose="02020603050405020304" pitchFamily="18" charset="0"/>
                <a:cs typeface="Times New Roman" panose="02020603050405020304" pitchFamily="18" charset="0"/>
              </a:rPr>
              <a:t>CISA, </a:t>
            </a:r>
            <a:r>
              <a:rPr lang="en-IN" sz="1200" i="1" dirty="0">
                <a:latin typeface="Times New Roman" panose="02020603050405020304" pitchFamily="18" charset="0"/>
                <a:cs typeface="Times New Roman" panose="02020603050405020304" pitchFamily="18" charset="0"/>
              </a:rPr>
              <a:t>"Identity and Access Management Recommended Best Practices Guide for Administrators,"</a:t>
            </a:r>
            <a:r>
              <a:rPr lang="en-IN" sz="1200" dirty="0">
                <a:latin typeface="Times New Roman" panose="02020603050405020304" pitchFamily="18" charset="0"/>
                <a:cs typeface="Times New Roman" panose="02020603050405020304" pitchFamily="18" charset="0"/>
              </a:rPr>
              <a:t> Cybersecurity and Infrastructure Security Agency, 2023.</a:t>
            </a:r>
          </a:p>
          <a:p>
            <a:pPr algn="just">
              <a:buFont typeface="Wingdings" panose="05000000000000000000" pitchFamily="2" charset="2"/>
              <a:buChar char="§"/>
            </a:pPr>
            <a:r>
              <a:rPr lang="en-IN" sz="1200" dirty="0">
                <a:latin typeface="Times New Roman" panose="02020603050405020304" pitchFamily="18" charset="0"/>
                <a:cs typeface="Times New Roman" panose="02020603050405020304" pitchFamily="18" charset="0"/>
              </a:rPr>
              <a:t>H. Chase et al., </a:t>
            </a:r>
            <a:r>
              <a:rPr lang="en-IN" sz="1200" i="1" dirty="0">
                <a:latin typeface="Times New Roman" panose="02020603050405020304" pitchFamily="18" charset="0"/>
                <a:cs typeface="Times New Roman" panose="02020603050405020304" pitchFamily="18" charset="0"/>
              </a:rPr>
              <a:t>"</a:t>
            </a:r>
            <a:r>
              <a:rPr lang="en-IN" sz="1200" i="1" dirty="0" err="1">
                <a:latin typeface="Times New Roman" panose="02020603050405020304" pitchFamily="18" charset="0"/>
                <a:cs typeface="Times New Roman" panose="02020603050405020304" pitchFamily="18" charset="0"/>
              </a:rPr>
              <a:t>LangChain</a:t>
            </a:r>
            <a:r>
              <a:rPr lang="en-IN" sz="1200" i="1" dirty="0">
                <a:latin typeface="Times New Roman" panose="02020603050405020304" pitchFamily="18" charset="0"/>
                <a:cs typeface="Times New Roman" panose="02020603050405020304" pitchFamily="18" charset="0"/>
              </a:rPr>
              <a:t>: A Framework for Developing Applications Powered by Language Models,"</a:t>
            </a:r>
            <a:r>
              <a:rPr lang="en-IN" sz="1200" dirty="0">
                <a:latin typeface="Times New Roman" panose="02020603050405020304" pitchFamily="18" charset="0"/>
                <a:cs typeface="Times New Roman" panose="02020603050405020304" pitchFamily="18" charset="0"/>
              </a:rPr>
              <a:t> </a:t>
            </a:r>
            <a:r>
              <a:rPr lang="en-IN" sz="1200" dirty="0" err="1">
                <a:latin typeface="Times New Roman" panose="02020603050405020304" pitchFamily="18" charset="0"/>
                <a:cs typeface="Times New Roman" panose="02020603050405020304" pitchFamily="18" charset="0"/>
              </a:rPr>
              <a:t>LangChain</a:t>
            </a:r>
            <a:r>
              <a:rPr lang="en-IN" sz="1200" dirty="0">
                <a:latin typeface="Times New Roman" panose="02020603050405020304" pitchFamily="18" charset="0"/>
                <a:cs typeface="Times New Roman" panose="02020603050405020304" pitchFamily="18" charset="0"/>
              </a:rPr>
              <a:t> Documentation, </a:t>
            </a:r>
            <a:r>
              <a:rPr lang="en-IN" sz="1200" dirty="0" err="1">
                <a:latin typeface="Times New Roman" panose="02020603050405020304" pitchFamily="18" charset="0"/>
                <a:cs typeface="Times New Roman" panose="02020603050405020304" pitchFamily="18" charset="0"/>
              </a:rPr>
              <a:t>LangChain</a:t>
            </a:r>
            <a:r>
              <a:rPr lang="en-IN" sz="1200" dirty="0">
                <a:latin typeface="Times New Roman" panose="02020603050405020304" pitchFamily="18" charset="0"/>
                <a:cs typeface="Times New Roman" panose="02020603050405020304" pitchFamily="18" charset="0"/>
              </a:rPr>
              <a:t> Inc., 2024. [Online]. Available: </a:t>
            </a:r>
            <a:r>
              <a:rPr lang="en-IN" sz="1200" u="sng" dirty="0">
                <a:latin typeface="Times New Roman" panose="02020603050405020304" pitchFamily="18" charset="0"/>
                <a:cs typeface="Times New Roman" panose="02020603050405020304" pitchFamily="18" charset="0"/>
                <a:hlinkClick r:id="rId4"/>
              </a:rPr>
              <a:t>https://docs.langchain.com</a:t>
            </a:r>
            <a:endParaRPr lang="en-IN" sz="1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IN" sz="1200" dirty="0">
                <a:latin typeface="Times New Roman" panose="02020603050405020304" pitchFamily="18" charset="0"/>
                <a:cs typeface="Times New Roman" panose="02020603050405020304" pitchFamily="18" charset="0"/>
              </a:rPr>
              <a:t>T. </a:t>
            </a:r>
            <a:r>
              <a:rPr lang="en-IN" sz="1200" dirty="0" err="1">
                <a:latin typeface="Times New Roman" panose="02020603050405020304" pitchFamily="18" charset="0"/>
                <a:cs typeface="Times New Roman" panose="02020603050405020304" pitchFamily="18" charset="0"/>
              </a:rPr>
              <a:t>Topsakal</a:t>
            </a:r>
            <a:r>
              <a:rPr lang="en-IN" sz="1200" dirty="0">
                <a:latin typeface="Times New Roman" panose="02020603050405020304" pitchFamily="18" charset="0"/>
                <a:cs typeface="Times New Roman" panose="02020603050405020304" pitchFamily="18" charset="0"/>
              </a:rPr>
              <a:t> and T. Akinci, </a:t>
            </a:r>
            <a:r>
              <a:rPr lang="en-IN" sz="1200" i="1" dirty="0">
                <a:latin typeface="Times New Roman" panose="02020603050405020304" pitchFamily="18" charset="0"/>
                <a:cs typeface="Times New Roman" panose="02020603050405020304" pitchFamily="18" charset="0"/>
              </a:rPr>
              <a:t>"Creating Large Language Model Applications Utilizing </a:t>
            </a:r>
            <a:r>
              <a:rPr lang="en-IN" sz="1200" i="1" dirty="0" err="1">
                <a:latin typeface="Times New Roman" panose="02020603050405020304" pitchFamily="18" charset="0"/>
                <a:cs typeface="Times New Roman" panose="02020603050405020304" pitchFamily="18" charset="0"/>
              </a:rPr>
              <a:t>LangChain</a:t>
            </a:r>
            <a:r>
              <a:rPr lang="en-IN" sz="1200" i="1" dirty="0">
                <a:latin typeface="Times New Roman" panose="02020603050405020304" pitchFamily="18" charset="0"/>
                <a:cs typeface="Times New Roman" panose="02020603050405020304" pitchFamily="18" charset="0"/>
              </a:rPr>
              <a:t>: A Primer on Developing LLM Apps Fast,"</a:t>
            </a:r>
            <a:r>
              <a:rPr lang="en-IN" sz="1200" dirty="0">
                <a:latin typeface="Times New Roman" panose="02020603050405020304" pitchFamily="18" charset="0"/>
                <a:cs typeface="Times New Roman" panose="02020603050405020304" pitchFamily="18" charset="0"/>
              </a:rPr>
              <a:t> International Conference on Applied Engineering and Natural Sciences, 2023.</a:t>
            </a:r>
          </a:p>
          <a:p>
            <a:pPr algn="just">
              <a:buFont typeface="Wingdings" panose="05000000000000000000" pitchFamily="2" charset="2"/>
              <a:buChar char="§"/>
            </a:pPr>
            <a:r>
              <a:rPr lang="en-IN" sz="1200" dirty="0">
                <a:latin typeface="Times New Roman" panose="02020603050405020304" pitchFamily="18" charset="0"/>
                <a:cs typeface="Times New Roman" panose="02020603050405020304" pitchFamily="18" charset="0"/>
              </a:rPr>
              <a:t>Open Policy Agent, </a:t>
            </a:r>
            <a:r>
              <a:rPr lang="en-IN" sz="1200" i="1" dirty="0">
                <a:latin typeface="Times New Roman" panose="02020603050405020304" pitchFamily="18" charset="0"/>
                <a:cs typeface="Times New Roman" panose="02020603050405020304" pitchFamily="18" charset="0"/>
              </a:rPr>
              <a:t>"Policy-Based Control for Cloud Native Environments,"</a:t>
            </a:r>
            <a:r>
              <a:rPr lang="en-IN" sz="1200" dirty="0">
                <a:latin typeface="Times New Roman" panose="02020603050405020304" pitchFamily="18" charset="0"/>
                <a:cs typeface="Times New Roman" panose="02020603050405020304" pitchFamily="18" charset="0"/>
              </a:rPr>
              <a:t> CNCF OPA Documentation, 2024. [Online]. Available: </a:t>
            </a:r>
            <a:r>
              <a:rPr lang="en-IN" sz="1200" u="sng" dirty="0">
                <a:latin typeface="Times New Roman" panose="02020603050405020304" pitchFamily="18" charset="0"/>
                <a:cs typeface="Times New Roman" panose="02020603050405020304" pitchFamily="18" charset="0"/>
                <a:hlinkClick r:id="rId5"/>
              </a:rPr>
              <a:t>https://www.openpolicyagent.org/docs</a:t>
            </a:r>
            <a:endParaRPr lang="en-IN" sz="1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IN" sz="1200" dirty="0">
                <a:latin typeface="Times New Roman" panose="02020603050405020304" pitchFamily="18" charset="0"/>
                <a:cs typeface="Times New Roman" panose="02020603050405020304" pitchFamily="18" charset="0"/>
              </a:rPr>
              <a:t>GitHub Inc., </a:t>
            </a:r>
            <a:r>
              <a:rPr lang="en-IN" sz="1200" i="1" dirty="0">
                <a:latin typeface="Times New Roman" panose="02020603050405020304" pitchFamily="18" charset="0"/>
                <a:cs typeface="Times New Roman" panose="02020603050405020304" pitchFamily="18" charset="0"/>
              </a:rPr>
              <a:t>"GitHub Actions Documentation: Security Hardening for GitHub Actions,"</a:t>
            </a:r>
            <a:r>
              <a:rPr lang="en-IN" sz="1200" dirty="0">
                <a:latin typeface="Times New Roman" panose="02020603050405020304" pitchFamily="18" charset="0"/>
                <a:cs typeface="Times New Roman" panose="02020603050405020304" pitchFamily="18" charset="0"/>
              </a:rPr>
              <a:t> GitHub Docs, 2024.</a:t>
            </a:r>
          </a:p>
          <a:p>
            <a:pPr algn="just">
              <a:buFont typeface="Wingdings" panose="05000000000000000000" pitchFamily="2" charset="2"/>
              <a:buChar char="§"/>
            </a:pPr>
            <a:r>
              <a:rPr lang="en-IN" sz="1200" dirty="0">
                <a:latin typeface="Times New Roman" panose="02020603050405020304" pitchFamily="18" charset="0"/>
                <a:cs typeface="Times New Roman" panose="02020603050405020304" pitchFamily="18" charset="0"/>
              </a:rPr>
              <a:t>B. Beyer, C. Jones, J. Petoff, and N. R. Murphy, </a:t>
            </a:r>
            <a:r>
              <a:rPr lang="en-IN" sz="1200" i="1" dirty="0">
                <a:latin typeface="Times New Roman" panose="02020603050405020304" pitchFamily="18" charset="0"/>
                <a:cs typeface="Times New Roman" panose="02020603050405020304" pitchFamily="18" charset="0"/>
              </a:rPr>
              <a:t>Site Reliability Engineering: How Google Runs Production Systems,</a:t>
            </a:r>
            <a:r>
              <a:rPr lang="en-IN" sz="1200" dirty="0">
                <a:latin typeface="Times New Roman" panose="02020603050405020304" pitchFamily="18" charset="0"/>
                <a:cs typeface="Times New Roman" panose="02020603050405020304" pitchFamily="18" charset="0"/>
              </a:rPr>
              <a:t> O'Reilly Media, 2016.</a:t>
            </a:r>
          </a:p>
          <a:p>
            <a:pPr marL="228600" indent="-228600" algn="just">
              <a:buFont typeface="Wingdings" panose="05000000000000000000" pitchFamily="2" charset="2"/>
              <a:buChar char="§"/>
            </a:pPr>
            <a:endParaRPr sz="1200" dirty="0">
              <a:latin typeface="Times New Roman" panose="02020603050405020304" pitchFamily="18" charset="0"/>
              <a:ea typeface="MS Mincho" panose="02020609040205080304" pitchFamily="49" charset="-128"/>
              <a:cs typeface="Times New Roman" panose="02020603050405020304" pitchFamily="18" charset="0"/>
              <a:sym typeface="Times New Roman"/>
            </a:endParaRPr>
          </a:p>
        </p:txBody>
      </p:sp>
      <p:sp>
        <p:nvSpPr>
          <p:cNvPr id="2" name="Slide Number Placeholder 1">
            <a:extLst>
              <a:ext uri="{FF2B5EF4-FFF2-40B4-BE49-F238E27FC236}">
                <a16:creationId xmlns:a16="http://schemas.microsoft.com/office/drawing/2014/main" id="{65E423EA-02D4-D4F0-D0C6-C0528A900A5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 smtClean="0"/>
              <a:t>18</a:t>
            </a:fld>
            <a:endParaRPr lang="en"/>
          </a:p>
        </p:txBody>
      </p:sp>
    </p:spTree>
    <p:extLst>
      <p:ext uri="{BB962C8B-B14F-4D97-AF65-F5344CB8AC3E}">
        <p14:creationId xmlns:p14="http://schemas.microsoft.com/office/powerpoint/2010/main" val="2628601493"/>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d546e5e1-5d42-4630-bacd-c69bfdcbd5e8}" enabled="1" method="Standard" siteId="{96ece526-9c7d-48b0-8daf-8b93c90a5d18}" contentBits="0" removed="0"/>
</clbl:labelList>
</file>

<file path=docProps/app.xml><?xml version="1.0" encoding="utf-8"?>
<Properties xmlns="http://schemas.openxmlformats.org/officeDocument/2006/extended-properties" xmlns:vt="http://schemas.openxmlformats.org/officeDocument/2006/docPropsVTypes">
  <TotalTime>1042</TotalTime>
  <Words>2044</Words>
  <Application>Microsoft Office PowerPoint</Application>
  <PresentationFormat>On-screen Show (16:9)</PresentationFormat>
  <Paragraphs>202</Paragraphs>
  <Slides>18</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Arial</vt:lpstr>
      <vt:lpstr>Calibri</vt:lpstr>
      <vt:lpstr>Times New Roman</vt:lpstr>
      <vt:lpstr>Verdana</vt:lpstr>
      <vt:lpstr>Wingdings</vt:lpstr>
      <vt:lpstr>Simple Light</vt:lpstr>
      <vt:lpstr>PowerPoint Presentation</vt:lpstr>
      <vt:lpstr>Design methodology </vt:lpstr>
      <vt:lpstr>Design methodology </vt:lpstr>
      <vt:lpstr>Planning of Project Work </vt:lpstr>
      <vt:lpstr>Planning of Project Work </vt:lpstr>
      <vt:lpstr>System Architecture </vt:lpstr>
      <vt:lpstr>UML Class diagram</vt:lpstr>
      <vt:lpstr>Level 0 DFD diagram</vt:lpstr>
      <vt:lpstr>Level 1 DFD-Internal Process diagram</vt:lpstr>
      <vt:lpstr>System Requirements Specification</vt:lpstr>
      <vt:lpstr>System Requirements Specification</vt:lpstr>
      <vt:lpstr>Demonstration</vt:lpstr>
      <vt:lpstr>Demonstration</vt:lpstr>
      <vt:lpstr>Project Management and Cost</vt:lpstr>
      <vt:lpstr>Project Management and Cost</vt:lpstr>
      <vt:lpstr>Work done so far</vt:lpstr>
      <vt:lpstr>Work to be done</vt:lpstr>
      <vt:lpstr>References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Vanishree K</dc:creator>
  <cp:lastModifiedBy>Bhat, Manu (He/Him/His)</cp:lastModifiedBy>
  <cp:revision>16</cp:revision>
  <dcterms:modified xsi:type="dcterms:W3CDTF">2026-04-24T13:40:25Z</dcterms:modified>
</cp:coreProperties>
</file>