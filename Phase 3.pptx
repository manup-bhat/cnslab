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23"/>
  </p:notesMasterIdLst>
  <p:sldIdLst>
    <p:sldId id="256" r:id="rId2"/>
    <p:sldId id="296" r:id="rId3"/>
    <p:sldId id="316" r:id="rId4"/>
    <p:sldId id="309" r:id="rId5"/>
    <p:sldId id="317" r:id="rId6"/>
    <p:sldId id="319" r:id="rId7"/>
    <p:sldId id="257" r:id="rId8"/>
    <p:sldId id="260" r:id="rId9"/>
    <p:sldId id="324" r:id="rId10"/>
    <p:sldId id="263" r:id="rId11"/>
    <p:sldId id="264" r:id="rId12"/>
    <p:sldId id="320" r:id="rId13"/>
    <p:sldId id="268" r:id="rId14"/>
    <p:sldId id="321" r:id="rId15"/>
    <p:sldId id="322" r:id="rId16"/>
    <p:sldId id="323" r:id="rId17"/>
    <p:sldId id="325" r:id="rId18"/>
    <p:sldId id="272" r:id="rId19"/>
    <p:sldId id="271" r:id="rId20"/>
    <p:sldId id="311" r:id="rId21"/>
    <p:sldId id="315" r:id="rId22"/>
  </p:sldIdLst>
  <p:sldSz cx="9144000" cy="5143500" type="screen16x9"/>
  <p:notesSz cx="7102475" cy="93884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7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949"/>
    <a:srgbClr val="80808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3640AC-D78B-434A-BD44-6AFCA6CD1094}" v="13" dt="2026-05-07T06:19:39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0" autoAdjust="0"/>
    <p:restoredTop sz="94226" autoAdjust="0"/>
  </p:normalViewPr>
  <p:slideViewPr>
    <p:cSldViewPr snapToGrid="0" showGuides="1">
      <p:cViewPr varScale="1">
        <p:scale>
          <a:sx n="54" d="100"/>
          <a:sy n="54" d="100"/>
        </p:scale>
        <p:origin x="716" y="24"/>
      </p:cViewPr>
      <p:guideLst>
        <p:guide orient="horz" pos="158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ra, Umang" userId="9dd0017a-eb54-41bb-b59c-4b537b2a4289" providerId="ADAL" clId="{18C4EE36-312D-42BA-814C-C23EED858C6B}"/>
    <pc:docChg chg="undo custSel addSld delSld modSld">
      <pc:chgData name="Mishra, Umang" userId="9dd0017a-eb54-41bb-b59c-4b537b2a4289" providerId="ADAL" clId="{18C4EE36-312D-42BA-814C-C23EED858C6B}" dt="2026-05-07T06:27:10.957" v="647" actId="478"/>
      <pc:docMkLst>
        <pc:docMk/>
      </pc:docMkLst>
      <pc:sldChg chg="modSp mod">
        <pc:chgData name="Mishra, Umang" userId="9dd0017a-eb54-41bb-b59c-4b537b2a4289" providerId="ADAL" clId="{18C4EE36-312D-42BA-814C-C23EED858C6B}" dt="2026-05-07T04:42:53.625" v="596" actId="1076"/>
        <pc:sldMkLst>
          <pc:docMk/>
          <pc:sldMk cId="0" sldId="260"/>
        </pc:sldMkLst>
        <pc:spChg chg="mod">
          <ac:chgData name="Mishra, Umang" userId="9dd0017a-eb54-41bb-b59c-4b537b2a4289" providerId="ADAL" clId="{18C4EE36-312D-42BA-814C-C23EED858C6B}" dt="2026-05-07T04:42:53.625" v="596" actId="1076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Mishra, Umang" userId="9dd0017a-eb54-41bb-b59c-4b537b2a4289" providerId="ADAL" clId="{18C4EE36-312D-42BA-814C-C23EED858C6B}" dt="2026-05-07T04:43:53.124" v="608" actId="20577"/>
        <pc:sldMkLst>
          <pc:docMk/>
          <pc:sldMk cId="0" sldId="263"/>
        </pc:sldMkLst>
        <pc:spChg chg="mod">
          <ac:chgData name="Mishra, Umang" userId="9dd0017a-eb54-41bb-b59c-4b537b2a4289" providerId="ADAL" clId="{18C4EE36-312D-42BA-814C-C23EED858C6B}" dt="2026-05-07T04:43:53.124" v="608" actId="20577"/>
          <ac:spMkLst>
            <pc:docMk/>
            <pc:sldMk cId="0" sldId="263"/>
            <ac:spMk id="21" creationId="{00000000-0000-0000-0000-000000000000}"/>
          </ac:spMkLst>
        </pc:spChg>
      </pc:sldChg>
      <pc:sldChg chg="mod modShow">
        <pc:chgData name="Mishra, Umang" userId="9dd0017a-eb54-41bb-b59c-4b537b2a4289" providerId="ADAL" clId="{18C4EE36-312D-42BA-814C-C23EED858C6B}" dt="2026-05-07T04:44:14.756" v="609" actId="729"/>
        <pc:sldMkLst>
          <pc:docMk/>
          <pc:sldMk cId="0" sldId="264"/>
        </pc:sldMkLst>
      </pc:sldChg>
      <pc:sldChg chg="modSp mod">
        <pc:chgData name="Mishra, Umang" userId="9dd0017a-eb54-41bb-b59c-4b537b2a4289" providerId="ADAL" clId="{18C4EE36-312D-42BA-814C-C23EED858C6B}" dt="2026-05-07T04:19:18.961" v="494" actId="1076"/>
        <pc:sldMkLst>
          <pc:docMk/>
          <pc:sldMk cId="0" sldId="271"/>
        </pc:sldMkLst>
        <pc:spChg chg="mod">
          <ac:chgData name="Mishra, Umang" userId="9dd0017a-eb54-41bb-b59c-4b537b2a4289" providerId="ADAL" clId="{18C4EE36-312D-42BA-814C-C23EED858C6B}" dt="2026-05-07T04:19:17.243" v="493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7T04:19:18.961" v="494" actId="1076"/>
          <ac:spMkLst>
            <pc:docMk/>
            <pc:sldMk cId="0" sldId="271"/>
            <ac:spMk id="5" creationId="{00000000-0000-0000-0000-000000000000}"/>
          </ac:spMkLst>
        </pc:spChg>
      </pc:sldChg>
      <pc:sldChg chg="modSp add mod setBg">
        <pc:chgData name="Mishra, Umang" userId="9dd0017a-eb54-41bb-b59c-4b537b2a4289" providerId="ADAL" clId="{18C4EE36-312D-42BA-814C-C23EED858C6B}" dt="2026-05-07T06:04:39.947" v="639" actId="207"/>
        <pc:sldMkLst>
          <pc:docMk/>
          <pc:sldMk cId="0" sldId="272"/>
        </pc:sldMkLst>
        <pc:spChg chg="mod">
          <ac:chgData name="Mishra, Umang" userId="9dd0017a-eb54-41bb-b59c-4b537b2a4289" providerId="ADAL" clId="{18C4EE36-312D-42BA-814C-C23EED858C6B}" dt="2026-05-07T06:04:39.947" v="639" actId="207"/>
          <ac:spMkLst>
            <pc:docMk/>
            <pc:sldMk cId="0" sldId="272"/>
            <ac:spMk id="2" creationId="{00000000-0000-0000-0000-000000000000}"/>
          </ac:spMkLst>
        </pc:spChg>
      </pc:sldChg>
      <pc:sldChg chg="modSp mod">
        <pc:chgData name="Mishra, Umang" userId="9dd0017a-eb54-41bb-b59c-4b537b2a4289" providerId="ADAL" clId="{18C4EE36-312D-42BA-814C-C23EED858C6B}" dt="2026-05-07T04:12:46.181" v="14" actId="20577"/>
        <pc:sldMkLst>
          <pc:docMk/>
          <pc:sldMk cId="3483755359" sldId="309"/>
        </pc:sldMkLst>
        <pc:spChg chg="mod">
          <ac:chgData name="Mishra, Umang" userId="9dd0017a-eb54-41bb-b59c-4b537b2a4289" providerId="ADAL" clId="{18C4EE36-312D-42BA-814C-C23EED858C6B}" dt="2026-05-07T04:12:46.181" v="14" actId="20577"/>
          <ac:spMkLst>
            <pc:docMk/>
            <pc:sldMk cId="3483755359" sldId="309"/>
            <ac:spMk id="5" creationId="{E7B9E5E7-A47E-04E2-2A74-A9FBAEEFE672}"/>
          </ac:spMkLst>
        </pc:spChg>
      </pc:sldChg>
      <pc:sldChg chg="del">
        <pc:chgData name="Mishra, Umang" userId="9dd0017a-eb54-41bb-b59c-4b537b2a4289" providerId="ADAL" clId="{18C4EE36-312D-42BA-814C-C23EED858C6B}" dt="2026-05-07T04:15:32.020" v="459" actId="47"/>
        <pc:sldMkLst>
          <pc:docMk/>
          <pc:sldMk cId="2159097362" sldId="310"/>
        </pc:sldMkLst>
      </pc:sldChg>
      <pc:sldChg chg="modSp mod">
        <pc:chgData name="Mishra, Umang" userId="9dd0017a-eb54-41bb-b59c-4b537b2a4289" providerId="ADAL" clId="{18C4EE36-312D-42BA-814C-C23EED858C6B}" dt="2026-05-07T04:18:52.641" v="492" actId="20577"/>
        <pc:sldMkLst>
          <pc:docMk/>
          <pc:sldMk cId="2095173702" sldId="311"/>
        </pc:sldMkLst>
        <pc:spChg chg="mod">
          <ac:chgData name="Mishra, Umang" userId="9dd0017a-eb54-41bb-b59c-4b537b2a4289" providerId="ADAL" clId="{18C4EE36-312D-42BA-814C-C23EED858C6B}" dt="2026-05-07T04:18:52.641" v="492" actId="20577"/>
          <ac:spMkLst>
            <pc:docMk/>
            <pc:sldMk cId="2095173702" sldId="311"/>
            <ac:spMk id="3" creationId="{4C4E19B3-5CA2-D17C-EE79-C472D51BD176}"/>
          </ac:spMkLst>
        </pc:spChg>
      </pc:sldChg>
      <pc:sldChg chg="modSp mod">
        <pc:chgData name="Mishra, Umang" userId="9dd0017a-eb54-41bb-b59c-4b537b2a4289" providerId="ADAL" clId="{18C4EE36-312D-42BA-814C-C23EED858C6B}" dt="2026-05-07T04:12:19.328" v="12" actId="20577"/>
        <pc:sldMkLst>
          <pc:docMk/>
          <pc:sldMk cId="1275726682" sldId="316"/>
        </pc:sldMkLst>
        <pc:spChg chg="mod">
          <ac:chgData name="Mishra, Umang" userId="9dd0017a-eb54-41bb-b59c-4b537b2a4289" providerId="ADAL" clId="{18C4EE36-312D-42BA-814C-C23EED858C6B}" dt="2026-05-07T04:12:19.328" v="12" actId="20577"/>
          <ac:spMkLst>
            <pc:docMk/>
            <pc:sldMk cId="1275726682" sldId="316"/>
            <ac:spMk id="5" creationId="{BD45B10C-481F-188F-72A1-9A6871864DC6}"/>
          </ac:spMkLst>
        </pc:spChg>
      </pc:sldChg>
      <pc:sldChg chg="modSp mod">
        <pc:chgData name="Mishra, Umang" userId="9dd0017a-eb54-41bb-b59c-4b537b2a4289" providerId="ADAL" clId="{18C4EE36-312D-42BA-814C-C23EED858C6B}" dt="2026-05-07T04:15:10.692" v="458" actId="20577"/>
        <pc:sldMkLst>
          <pc:docMk/>
          <pc:sldMk cId="3478515414" sldId="317"/>
        </pc:sldMkLst>
        <pc:spChg chg="mod">
          <ac:chgData name="Mishra, Umang" userId="9dd0017a-eb54-41bb-b59c-4b537b2a4289" providerId="ADAL" clId="{18C4EE36-312D-42BA-814C-C23EED858C6B}" dt="2026-05-07T04:15:10.692" v="458" actId="20577"/>
          <ac:spMkLst>
            <pc:docMk/>
            <pc:sldMk cId="3478515414" sldId="317"/>
            <ac:spMk id="5" creationId="{1A07EE72-ECEA-5CA3-6E5B-E27AE0EE2586}"/>
          </ac:spMkLst>
        </pc:spChg>
      </pc:sldChg>
      <pc:sldChg chg="del">
        <pc:chgData name="Mishra, Umang" userId="9dd0017a-eb54-41bb-b59c-4b537b2a4289" providerId="ADAL" clId="{18C4EE36-312D-42BA-814C-C23EED858C6B}" dt="2026-05-07T04:18:45.643" v="490" actId="47"/>
        <pc:sldMkLst>
          <pc:docMk/>
          <pc:sldMk cId="1723760241" sldId="318"/>
        </pc:sldMkLst>
      </pc:sldChg>
      <pc:sldChg chg="delSp modSp mod">
        <pc:chgData name="Mishra, Umang" userId="9dd0017a-eb54-41bb-b59c-4b537b2a4289" providerId="ADAL" clId="{18C4EE36-312D-42BA-814C-C23EED858C6B}" dt="2026-05-07T04:20:30.177" v="503" actId="2085"/>
        <pc:sldMkLst>
          <pc:docMk/>
          <pc:sldMk cId="915539920" sldId="319"/>
        </pc:sldMkLst>
        <pc:spChg chg="del">
          <ac:chgData name="Mishra, Umang" userId="9dd0017a-eb54-41bb-b59c-4b537b2a4289" providerId="ADAL" clId="{18C4EE36-312D-42BA-814C-C23EED858C6B}" dt="2026-05-07T04:19:53.062" v="496" actId="478"/>
          <ac:spMkLst>
            <pc:docMk/>
            <pc:sldMk cId="915539920" sldId="319"/>
            <ac:spMk id="6" creationId="{FF2569F1-3421-72EF-D452-AAAB764BBC3A}"/>
          </ac:spMkLst>
        </pc:spChg>
        <pc:spChg chg="del">
          <ac:chgData name="Mishra, Umang" userId="9dd0017a-eb54-41bb-b59c-4b537b2a4289" providerId="ADAL" clId="{18C4EE36-312D-42BA-814C-C23EED858C6B}" dt="2026-05-07T04:19:56.347" v="497" actId="478"/>
          <ac:spMkLst>
            <pc:docMk/>
            <pc:sldMk cId="915539920" sldId="319"/>
            <ac:spMk id="7" creationId="{D42D0D00-D480-F581-3E2D-C0371041E42C}"/>
          </ac:spMkLst>
        </pc:spChg>
        <pc:spChg chg="mod">
          <ac:chgData name="Mishra, Umang" userId="9dd0017a-eb54-41bb-b59c-4b537b2a4289" providerId="ADAL" clId="{18C4EE36-312D-42BA-814C-C23EED858C6B}" dt="2026-05-07T04:20:30.177" v="503" actId="2085"/>
          <ac:spMkLst>
            <pc:docMk/>
            <pc:sldMk cId="915539920" sldId="319"/>
            <ac:spMk id="9" creationId="{D678FA4C-07CB-F9BF-45CA-9EECCB0C29E0}"/>
          </ac:spMkLst>
        </pc:spChg>
        <pc:spChg chg="del mod">
          <ac:chgData name="Mishra, Umang" userId="9dd0017a-eb54-41bb-b59c-4b537b2a4289" providerId="ADAL" clId="{18C4EE36-312D-42BA-814C-C23EED858C6B}" dt="2026-05-07T04:18:30.550" v="488" actId="478"/>
          <ac:spMkLst>
            <pc:docMk/>
            <pc:sldMk cId="915539920" sldId="319"/>
            <ac:spMk id="10" creationId="{9B472B91-0B93-3C46-99E8-1415BB2A9F2C}"/>
          </ac:spMkLst>
        </pc:spChg>
        <pc:spChg chg="mod">
          <ac:chgData name="Mishra, Umang" userId="9dd0017a-eb54-41bb-b59c-4b537b2a4289" providerId="ADAL" clId="{18C4EE36-312D-42BA-814C-C23EED858C6B}" dt="2026-05-07T04:18:22.806" v="487" actId="208"/>
          <ac:spMkLst>
            <pc:docMk/>
            <pc:sldMk cId="915539920" sldId="319"/>
            <ac:spMk id="11" creationId="{CA9F6CB1-D944-2804-357F-12DA00EDE9C6}"/>
          </ac:spMkLst>
        </pc:spChg>
        <pc:spChg chg="mod">
          <ac:chgData name="Mishra, Umang" userId="9dd0017a-eb54-41bb-b59c-4b537b2a4289" providerId="ADAL" clId="{18C4EE36-312D-42BA-814C-C23EED858C6B}" dt="2026-05-07T04:16:42.936" v="468" actId="1076"/>
          <ac:spMkLst>
            <pc:docMk/>
            <pc:sldMk cId="915539920" sldId="319"/>
            <ac:spMk id="12" creationId="{8FC3D64F-6504-2B6C-ECA0-7D9D68F39A26}"/>
          </ac:spMkLst>
        </pc:spChg>
        <pc:spChg chg="mod">
          <ac:chgData name="Mishra, Umang" userId="9dd0017a-eb54-41bb-b59c-4b537b2a4289" providerId="ADAL" clId="{18C4EE36-312D-42BA-814C-C23EED858C6B}" dt="2026-05-07T04:18:22.806" v="487" actId="208"/>
          <ac:spMkLst>
            <pc:docMk/>
            <pc:sldMk cId="915539920" sldId="319"/>
            <ac:spMk id="13" creationId="{56C216C2-B04B-2F5A-833C-CD601829E696}"/>
          </ac:spMkLst>
        </pc:spChg>
        <pc:spChg chg="mod">
          <ac:chgData name="Mishra, Umang" userId="9dd0017a-eb54-41bb-b59c-4b537b2a4289" providerId="ADAL" clId="{18C4EE36-312D-42BA-814C-C23EED858C6B}" dt="2026-05-07T04:20:13.311" v="500" actId="1076"/>
          <ac:spMkLst>
            <pc:docMk/>
            <pc:sldMk cId="915539920" sldId="319"/>
            <ac:spMk id="14" creationId="{4742D6BE-2E00-77EB-47BD-1A69E7C1C888}"/>
          </ac:spMkLst>
        </pc:spChg>
        <pc:spChg chg="mod">
          <ac:chgData name="Mishra, Umang" userId="9dd0017a-eb54-41bb-b59c-4b537b2a4289" providerId="ADAL" clId="{18C4EE36-312D-42BA-814C-C23EED858C6B}" dt="2026-05-07T04:18:22.806" v="487" actId="208"/>
          <ac:spMkLst>
            <pc:docMk/>
            <pc:sldMk cId="915539920" sldId="319"/>
            <ac:spMk id="15" creationId="{30FA5CBF-640F-D9B1-CCC0-9C935A0F075C}"/>
          </ac:spMkLst>
        </pc:spChg>
        <pc:spChg chg="mod">
          <ac:chgData name="Mishra, Umang" userId="9dd0017a-eb54-41bb-b59c-4b537b2a4289" providerId="ADAL" clId="{18C4EE36-312D-42BA-814C-C23EED858C6B}" dt="2026-05-07T04:18:22.806" v="487" actId="208"/>
          <ac:spMkLst>
            <pc:docMk/>
            <pc:sldMk cId="915539920" sldId="319"/>
            <ac:spMk id="16" creationId="{98A71D7A-50DA-2860-BFF6-D2DB9018CC75}"/>
          </ac:spMkLst>
        </pc:spChg>
        <pc:spChg chg="mod">
          <ac:chgData name="Mishra, Umang" userId="9dd0017a-eb54-41bb-b59c-4b537b2a4289" providerId="ADAL" clId="{18C4EE36-312D-42BA-814C-C23EED858C6B}" dt="2026-05-07T04:17:36.937" v="479" actId="1076"/>
          <ac:spMkLst>
            <pc:docMk/>
            <pc:sldMk cId="915539920" sldId="319"/>
            <ac:spMk id="17" creationId="{D246E677-9F97-E965-D237-AF5580EC4C37}"/>
          </ac:spMkLst>
        </pc:spChg>
        <pc:spChg chg="mod">
          <ac:chgData name="Mishra, Umang" userId="9dd0017a-eb54-41bb-b59c-4b537b2a4289" providerId="ADAL" clId="{18C4EE36-312D-42BA-814C-C23EED858C6B}" dt="2026-05-07T04:18:22.806" v="487" actId="208"/>
          <ac:spMkLst>
            <pc:docMk/>
            <pc:sldMk cId="915539920" sldId="319"/>
            <ac:spMk id="18" creationId="{EB127AF8-F9A1-0995-974C-19ED4D53C579}"/>
          </ac:spMkLst>
        </pc:spChg>
        <pc:spChg chg="mod">
          <ac:chgData name="Mishra, Umang" userId="9dd0017a-eb54-41bb-b59c-4b537b2a4289" providerId="ADAL" clId="{18C4EE36-312D-42BA-814C-C23EED858C6B}" dt="2026-05-07T04:17:44.572" v="481" actId="1076"/>
          <ac:spMkLst>
            <pc:docMk/>
            <pc:sldMk cId="915539920" sldId="319"/>
            <ac:spMk id="19" creationId="{6099363A-0196-E946-2341-DAB45B6A78B8}"/>
          </ac:spMkLst>
        </pc:spChg>
        <pc:spChg chg="mod">
          <ac:chgData name="Mishra, Umang" userId="9dd0017a-eb54-41bb-b59c-4b537b2a4289" providerId="ADAL" clId="{18C4EE36-312D-42BA-814C-C23EED858C6B}" dt="2026-05-07T04:17:51.352" v="482" actId="1076"/>
          <ac:spMkLst>
            <pc:docMk/>
            <pc:sldMk cId="915539920" sldId="319"/>
            <ac:spMk id="20" creationId="{0082FEA9-2890-B38C-3205-2DA3E28A4D37}"/>
          </ac:spMkLst>
        </pc:spChg>
        <pc:spChg chg="mod">
          <ac:chgData name="Mishra, Umang" userId="9dd0017a-eb54-41bb-b59c-4b537b2a4289" providerId="ADAL" clId="{18C4EE36-312D-42BA-814C-C23EED858C6B}" dt="2026-05-07T04:17:57.758" v="483" actId="1076"/>
          <ac:spMkLst>
            <pc:docMk/>
            <pc:sldMk cId="915539920" sldId="319"/>
            <ac:spMk id="21" creationId="{FA13913B-DDD8-EACC-FE01-D71EC2514C13}"/>
          </ac:spMkLst>
        </pc:spChg>
        <pc:spChg chg="mod">
          <ac:chgData name="Mishra, Umang" userId="9dd0017a-eb54-41bb-b59c-4b537b2a4289" providerId="ADAL" clId="{18C4EE36-312D-42BA-814C-C23EED858C6B}" dt="2026-05-07T04:18:22.806" v="487" actId="208"/>
          <ac:spMkLst>
            <pc:docMk/>
            <pc:sldMk cId="915539920" sldId="319"/>
            <ac:spMk id="23" creationId="{468D362C-6935-CE9B-6FD8-7A5E9D59412C}"/>
          </ac:spMkLst>
        </pc:spChg>
        <pc:spChg chg="mod">
          <ac:chgData name="Mishra, Umang" userId="9dd0017a-eb54-41bb-b59c-4b537b2a4289" providerId="ADAL" clId="{18C4EE36-312D-42BA-814C-C23EED858C6B}" dt="2026-05-07T04:20:19.610" v="501" actId="1076"/>
          <ac:spMkLst>
            <pc:docMk/>
            <pc:sldMk cId="915539920" sldId="319"/>
            <ac:spMk id="26" creationId="{9422DC59-AC3F-5104-62BE-4115593485FA}"/>
          </ac:spMkLst>
        </pc:spChg>
        <pc:spChg chg="mod">
          <ac:chgData name="Mishra, Umang" userId="9dd0017a-eb54-41bb-b59c-4b537b2a4289" providerId="ADAL" clId="{18C4EE36-312D-42BA-814C-C23EED858C6B}" dt="2026-05-07T04:20:22.145" v="502" actId="1076"/>
          <ac:spMkLst>
            <pc:docMk/>
            <pc:sldMk cId="915539920" sldId="319"/>
            <ac:spMk id="27" creationId="{C787BB7F-CF20-194A-355C-0221AEE8E499}"/>
          </ac:spMkLst>
        </pc:spChg>
        <pc:grpChg chg="mod">
          <ac:chgData name="Mishra, Umang" userId="9dd0017a-eb54-41bb-b59c-4b537b2a4289" providerId="ADAL" clId="{18C4EE36-312D-42BA-814C-C23EED858C6B}" dt="2026-05-07T04:19:59.745" v="498" actId="1076"/>
          <ac:grpSpMkLst>
            <pc:docMk/>
            <pc:sldMk cId="915539920" sldId="319"/>
            <ac:grpSpMk id="28" creationId="{C95068AF-88AF-D2D5-5F68-7CC129269F83}"/>
          </ac:grpSpMkLst>
        </pc:grpChg>
      </pc:sldChg>
      <pc:sldChg chg="addSp modSp mod">
        <pc:chgData name="Mishra, Umang" userId="9dd0017a-eb54-41bb-b59c-4b537b2a4289" providerId="ADAL" clId="{18C4EE36-312D-42BA-814C-C23EED858C6B}" dt="2026-05-07T04:44:56.084" v="613" actId="14100"/>
        <pc:sldMkLst>
          <pc:docMk/>
          <pc:sldMk cId="2705800500" sldId="320"/>
        </pc:sldMkLst>
        <pc:cxnChg chg="add mod">
          <ac:chgData name="Mishra, Umang" userId="9dd0017a-eb54-41bb-b59c-4b537b2a4289" providerId="ADAL" clId="{18C4EE36-312D-42BA-814C-C23EED858C6B}" dt="2026-05-07T04:44:56.084" v="613" actId="14100"/>
          <ac:cxnSpMkLst>
            <pc:docMk/>
            <pc:sldMk cId="2705800500" sldId="320"/>
            <ac:cxnSpMk id="5" creationId="{7519266A-B018-AE7D-2443-9FC2FB5E3C98}"/>
          </ac:cxnSpMkLst>
        </pc:cxnChg>
      </pc:sldChg>
      <pc:sldChg chg="modSp mod">
        <pc:chgData name="Mishra, Umang" userId="9dd0017a-eb54-41bb-b59c-4b537b2a4289" providerId="ADAL" clId="{18C4EE36-312D-42BA-814C-C23EED858C6B}" dt="2026-05-07T04:23:57.707" v="508" actId="14100"/>
        <pc:sldMkLst>
          <pc:docMk/>
          <pc:sldMk cId="3337575123" sldId="321"/>
        </pc:sldMkLst>
        <pc:picChg chg="mod">
          <ac:chgData name="Mishra, Umang" userId="9dd0017a-eb54-41bb-b59c-4b537b2a4289" providerId="ADAL" clId="{18C4EE36-312D-42BA-814C-C23EED858C6B}" dt="2026-05-07T04:23:57.707" v="508" actId="14100"/>
          <ac:picMkLst>
            <pc:docMk/>
            <pc:sldMk cId="3337575123" sldId="321"/>
            <ac:picMk id="4" creationId="{ACF3A760-EF9E-13B4-0C5E-9406146EB808}"/>
          </ac:picMkLst>
        </pc:picChg>
      </pc:sldChg>
      <pc:sldChg chg="addSp delSp modSp add mod setBg">
        <pc:chgData name="Mishra, Umang" userId="9dd0017a-eb54-41bb-b59c-4b537b2a4289" providerId="ADAL" clId="{18C4EE36-312D-42BA-814C-C23EED858C6B}" dt="2026-05-07T04:45:06.794" v="614" actId="1076"/>
        <pc:sldMkLst>
          <pc:docMk/>
          <pc:sldMk cId="2904297954" sldId="322"/>
        </pc:sldMkLst>
        <pc:spChg chg="mod">
          <ac:chgData name="Mishra, Umang" userId="9dd0017a-eb54-41bb-b59c-4b537b2a4289" providerId="ADAL" clId="{18C4EE36-312D-42BA-814C-C23EED858C6B}" dt="2026-05-07T04:31:40.721" v="551" actId="1076"/>
          <ac:spMkLst>
            <pc:docMk/>
            <pc:sldMk cId="2904297954" sldId="322"/>
            <ac:spMk id="6" creationId="{F62AE3E8-0C1A-12D7-CEDF-A7B89A6943EF}"/>
          </ac:spMkLst>
        </pc:spChg>
        <pc:picChg chg="del">
          <ac:chgData name="Mishra, Umang" userId="9dd0017a-eb54-41bb-b59c-4b537b2a4289" providerId="ADAL" clId="{18C4EE36-312D-42BA-814C-C23EED858C6B}" dt="2026-05-07T04:31:36.231" v="550" actId="478"/>
          <ac:picMkLst>
            <pc:docMk/>
            <pc:sldMk cId="2904297954" sldId="322"/>
            <ac:picMk id="4" creationId="{411A4F4D-1386-0D8D-3EE7-E084B68613F2}"/>
          </ac:picMkLst>
        </pc:picChg>
        <pc:picChg chg="add mod">
          <ac:chgData name="Mishra, Umang" userId="9dd0017a-eb54-41bb-b59c-4b537b2a4289" providerId="ADAL" clId="{18C4EE36-312D-42BA-814C-C23EED858C6B}" dt="2026-05-07T04:45:06.794" v="614" actId="1076"/>
          <ac:picMkLst>
            <pc:docMk/>
            <pc:sldMk cId="2904297954" sldId="322"/>
            <ac:picMk id="5" creationId="{AAFCDB92-0A1F-036A-DC59-1B89DAD8EF2B}"/>
          </ac:picMkLst>
        </pc:picChg>
      </pc:sldChg>
      <pc:sldChg chg="addSp delSp modSp new mod">
        <pc:chgData name="Mishra, Umang" userId="9dd0017a-eb54-41bb-b59c-4b537b2a4289" providerId="ADAL" clId="{18C4EE36-312D-42BA-814C-C23EED858C6B}" dt="2026-05-07T04:35:11.539" v="574" actId="1076"/>
        <pc:sldMkLst>
          <pc:docMk/>
          <pc:sldMk cId="1743648285" sldId="323"/>
        </pc:sldMkLst>
        <pc:picChg chg="add del mod">
          <ac:chgData name="Mishra, Umang" userId="9dd0017a-eb54-41bb-b59c-4b537b2a4289" providerId="ADAL" clId="{18C4EE36-312D-42BA-814C-C23EED858C6B}" dt="2026-05-07T04:34:39.086" v="568" actId="478"/>
          <ac:picMkLst>
            <pc:docMk/>
            <pc:sldMk cId="1743648285" sldId="323"/>
            <ac:picMk id="3" creationId="{D153A287-F8F0-B399-51FD-3236AE26E464}"/>
          </ac:picMkLst>
        </pc:picChg>
        <pc:picChg chg="add mod modCrop">
          <ac:chgData name="Mishra, Umang" userId="9dd0017a-eb54-41bb-b59c-4b537b2a4289" providerId="ADAL" clId="{18C4EE36-312D-42BA-814C-C23EED858C6B}" dt="2026-05-07T04:35:11.539" v="574" actId="1076"/>
          <ac:picMkLst>
            <pc:docMk/>
            <pc:sldMk cId="1743648285" sldId="323"/>
            <ac:picMk id="5" creationId="{60C151EF-5F60-12AB-4345-6A69313A8626}"/>
          </ac:picMkLst>
        </pc:picChg>
        <pc:picChg chg="add del mod">
          <ac:chgData name="Mishra, Umang" userId="9dd0017a-eb54-41bb-b59c-4b537b2a4289" providerId="ADAL" clId="{18C4EE36-312D-42BA-814C-C23EED858C6B}" dt="2026-05-07T04:34:22.591" v="564" actId="478"/>
          <ac:picMkLst>
            <pc:docMk/>
            <pc:sldMk cId="1743648285" sldId="323"/>
            <ac:picMk id="6" creationId="{4ADB664D-945A-13E9-8AE8-2D41FEA9E582}"/>
          </ac:picMkLst>
        </pc:picChg>
      </pc:sldChg>
      <pc:sldChg chg="addSp delSp modSp new mod modShow">
        <pc:chgData name="Mishra, Umang" userId="9dd0017a-eb54-41bb-b59c-4b537b2a4289" providerId="ADAL" clId="{18C4EE36-312D-42BA-814C-C23EED858C6B}" dt="2026-05-07T06:27:10.957" v="647" actId="478"/>
        <pc:sldMkLst>
          <pc:docMk/>
          <pc:sldMk cId="1047319667" sldId="324"/>
        </pc:sldMkLst>
        <pc:spChg chg="add mod">
          <ac:chgData name="Mishra, Umang" userId="9dd0017a-eb54-41bb-b59c-4b537b2a4289" providerId="ADAL" clId="{18C4EE36-312D-42BA-814C-C23EED858C6B}" dt="2026-05-07T06:20:54.052" v="644"/>
          <ac:spMkLst>
            <pc:docMk/>
            <pc:sldMk cId="1047319667" sldId="324"/>
            <ac:spMk id="3" creationId="{C19F7CDC-54DC-057F-F99B-209884E6009A}"/>
          </ac:spMkLst>
        </pc:spChg>
        <pc:spChg chg="add del">
          <ac:chgData name="Mishra, Umang" userId="9dd0017a-eb54-41bb-b59c-4b537b2a4289" providerId="ADAL" clId="{18C4EE36-312D-42BA-814C-C23EED858C6B}" dt="2026-05-07T04:40:53.554" v="577" actId="22"/>
          <ac:spMkLst>
            <pc:docMk/>
            <pc:sldMk cId="1047319667" sldId="324"/>
            <ac:spMk id="4" creationId="{98BCE2AC-6B9A-F543-FFE2-E9A0715E3FC2}"/>
          </ac:spMkLst>
        </pc:spChg>
        <pc:spChg chg="add del mod">
          <ac:chgData name="Mishra, Umang" userId="9dd0017a-eb54-41bb-b59c-4b537b2a4289" providerId="ADAL" clId="{18C4EE36-312D-42BA-814C-C23EED858C6B}" dt="2026-05-07T06:27:10.957" v="647" actId="478"/>
          <ac:spMkLst>
            <pc:docMk/>
            <pc:sldMk cId="1047319667" sldId="324"/>
            <ac:spMk id="5" creationId="{67DA1CAB-9FB4-3F7E-55A2-BBDA9DB68D63}"/>
          </ac:spMkLst>
        </pc:spChg>
        <pc:spChg chg="add mod">
          <ac:chgData name="Mishra, Umang" userId="9dd0017a-eb54-41bb-b59c-4b537b2a4289" providerId="ADAL" clId="{18C4EE36-312D-42BA-814C-C23EED858C6B}" dt="2026-05-07T06:19:19.621" v="640" actId="14100"/>
          <ac:spMkLst>
            <pc:docMk/>
            <pc:sldMk cId="1047319667" sldId="324"/>
            <ac:spMk id="6" creationId="{0384AEC4-DF0C-684F-EFC0-7A03B87A7487}"/>
          </ac:spMkLst>
        </pc:spChg>
      </pc:sldChg>
      <pc:sldChg chg="addSp modSp new mod modShow">
        <pc:chgData name="Mishra, Umang" userId="9dd0017a-eb54-41bb-b59c-4b537b2a4289" providerId="ADAL" clId="{18C4EE36-312D-42BA-814C-C23EED858C6B}" dt="2026-05-07T06:04:15.354" v="636" actId="20577"/>
        <pc:sldMkLst>
          <pc:docMk/>
          <pc:sldMk cId="3337714325" sldId="325"/>
        </pc:sldMkLst>
        <pc:spChg chg="add mod">
          <ac:chgData name="Mishra, Umang" userId="9dd0017a-eb54-41bb-b59c-4b537b2a4289" providerId="ADAL" clId="{18C4EE36-312D-42BA-814C-C23EED858C6B}" dt="2026-05-07T06:04:15.354" v="636" actId="20577"/>
          <ac:spMkLst>
            <pc:docMk/>
            <pc:sldMk cId="3337714325" sldId="325"/>
            <ac:spMk id="4" creationId="{2D5A06C6-33E6-302A-3ED1-11035B0546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04850"/>
            <a:ext cx="62563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94213" rIns="94213" bIns="94213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C13BC24-EA1B-312A-0974-AA9B951F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09A3E086-C7C4-C0F8-5208-1C4B53CB1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BF56C57D-6EC5-B462-F010-8CA5738226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62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667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94F4212-B390-5E5B-DFE4-F0F2964D0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53A7B9F1-44E4-B98D-566F-BE601616CC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4E1C182E-AC24-7F92-6063-4D7AF9C39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4659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CD25CBE-2A27-FFA9-1065-55104F3E4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CCED3699-8A30-9A99-C1CF-686146608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F72F31E3-A03B-6EB2-C624-8A965D1EF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0897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060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731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95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839" y="4576417"/>
            <a:ext cx="548700" cy="393600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0EC1102-A358-2F94-640B-3F1EA4FCE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886" y="1361710"/>
            <a:ext cx="7289451" cy="115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2800"/>
              <a:buNone/>
              <a:defRPr i="1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altLang="en-US" sz="3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VIII Semester Major Project Work (22CSP81)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38BCCBF-8D7E-6CEB-5C00-AC9B92EDF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9653" y="2571750"/>
            <a:ext cx="5091229" cy="5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1430" rIns="0" bIns="0">
            <a:spAutoFit/>
          </a:bodyPr>
          <a:lstStyle>
            <a:lvl1pPr marL="127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ts val="88"/>
              </a:spcBef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Science,  </a:t>
            </a:r>
          </a:p>
          <a:p>
            <a:pPr algn="ctr" eaLnBrk="1" hangingPunct="1">
              <a:spcBef>
                <a:spcPts val="88"/>
              </a:spcBef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V College of  Engineering, Bengaluru.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GB"/>
          </a:p>
        </p:txBody>
      </p:sp>
      <p:sp>
        <p:nvSpPr>
          <p:cNvPr id="6" name="Date Placeholder 3"/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Date: 09/05/2026</a:t>
            </a:r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27E7BABE-187B-9CA7-F691-2ECD8E369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485" y="1061682"/>
            <a:ext cx="3985028" cy="1139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chemeClr val="dk1"/>
              </a:buClr>
              <a:buSzPts val="2800"/>
              <a:buNone/>
              <a:defRPr sz="320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altLang="en-US" sz="2000" b="1" dirty="0"/>
              <a:t>NHI Governance Agent </a:t>
            </a:r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Umang Mishra (1RV22CS220)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FA0239F-5AA1-FF71-7957-E8234CCF3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929" y="2488623"/>
            <a:ext cx="5130141" cy="1138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1000"/>
              </a:lnSpc>
              <a:spcBef>
                <a:spcPts val="100"/>
              </a:spcBef>
            </a:pPr>
            <a:r>
              <a:rPr lang="en-US" altLang="en-US" dirty="0">
                <a:solidFill>
                  <a:srgbClr val="6D6E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/ Inhouse :  Honeywell</a:t>
            </a:r>
          </a:p>
          <a:p>
            <a:pPr algn="ctr" eaLnBrk="1" hangingPunct="1">
              <a:lnSpc>
                <a:spcPct val="101000"/>
              </a:lnSpc>
              <a:spcBef>
                <a:spcPts val="100"/>
              </a:spcBef>
            </a:pPr>
            <a:endParaRPr lang="en-US" altLang="en-US" dirty="0">
              <a:solidFill>
                <a:srgbClr val="6D6E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1000"/>
              </a:lnSpc>
              <a:spcBef>
                <a:spcPts val="100"/>
              </a:spcBef>
            </a:pPr>
            <a:r>
              <a:rPr lang="en-US" altLang="en-US" dirty="0">
                <a:solidFill>
                  <a:srgbClr val="6D6E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  : Dr Chethana Murthy- Associate Professor</a:t>
            </a:r>
          </a:p>
          <a:p>
            <a:pPr algn="ctr" eaLnBrk="1" hangingPunct="1">
              <a:lnSpc>
                <a:spcPct val="101000"/>
              </a:lnSpc>
              <a:spcBef>
                <a:spcPts val="100"/>
              </a:spcBef>
            </a:pPr>
            <a:endParaRPr lang="en-US" altLang="en-US" dirty="0">
              <a:solidFill>
                <a:srgbClr val="6D6E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1000"/>
              </a:lnSpc>
              <a:spcBef>
                <a:spcPts val="100"/>
              </a:spcBef>
            </a:pPr>
            <a:r>
              <a:rPr lang="en-US" altLang="en-US" dirty="0">
                <a:solidFill>
                  <a:srgbClr val="6D6E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Guide : Tejeshwar Rao – </a:t>
            </a:r>
            <a:r>
              <a:rPr lang="en-US" altLang="en-US" dirty="0" err="1">
                <a:solidFill>
                  <a:srgbClr val="6D6E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altLang="en-US" dirty="0">
                <a:solidFill>
                  <a:srgbClr val="6D6E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Cloud Manager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DE1B450E-8266-E58A-DD0B-CA7CF967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86124-8C81-DC41-6E4E-E9ADB08A76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46E9266-9E0D-7FC9-47DF-682E5CE99057}"/>
              </a:ext>
            </a:extLst>
          </p:cNvPr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E4F2F7-8DD1-56A3-BBCD-2E4F89262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909" y="172463"/>
            <a:ext cx="4751612" cy="540337"/>
          </a:xfrm>
        </p:spPr>
        <p:txBody>
          <a:bodyPr>
            <a:noAutofit/>
          </a:bodyPr>
          <a:lstStyle/>
          <a:p>
            <a:pPr algn="ctr"/>
            <a:r>
              <a:rPr lang="en-US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Incorporation of Suggestions</a:t>
            </a:r>
            <a:endParaRPr lang="en-US" altLang="en-US" sz="2000" b="1" i="1" dirty="0">
              <a:solidFill>
                <a:schemeClr val="accent1">
                  <a:lumMod val="50000"/>
                </a:schemeClr>
              </a:solidFill>
              <a:latin typeface="Playfair Display" panose="00000500000000000000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45B10C-481F-188F-72A1-9A6871864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55" y="1347883"/>
            <a:ext cx="8160673" cy="16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from last phase included, adding a detailed architecture diagram, due to uncertainty in the chaining ways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was undecided, as we have implemented a good chunk of the chaining, the architecture is a lot clearer now, hence this phase has an in depth explanation of how everything comes together!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of the suggestions were positive and was told that I am on the right track to completion </a:t>
            </a:r>
          </a:p>
        </p:txBody>
      </p:sp>
    </p:spTree>
    <p:extLst>
      <p:ext uri="{BB962C8B-B14F-4D97-AF65-F5344CB8AC3E}">
        <p14:creationId xmlns:p14="http://schemas.microsoft.com/office/powerpoint/2010/main" val="1275726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0F697-E655-5911-41DA-9C06DE8D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908" y="189003"/>
            <a:ext cx="4751612" cy="540337"/>
          </a:xfrm>
        </p:spPr>
        <p:txBody>
          <a:bodyPr>
            <a:noAutofit/>
          </a:bodyPr>
          <a:lstStyle/>
          <a:p>
            <a:pPr algn="ctr"/>
            <a:r>
              <a:rPr lang="en-IN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Level of Complexity</a:t>
            </a:r>
            <a:endParaRPr lang="en-US" altLang="en-US" sz="2000" b="1" i="1" dirty="0">
              <a:solidFill>
                <a:schemeClr val="accent1">
                  <a:lumMod val="50000"/>
                </a:schemeClr>
              </a:solidFill>
              <a:latin typeface="Playfair Display" panose="00000500000000000000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B9E5E7-A47E-04E2-2A74-A9FBAEEFE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716" y="1026187"/>
            <a:ext cx="828951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manage numerous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Non-Human Identities (NHIs)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their DevOps  ecosystems, these identities are: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Scattered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multiple platforms (GitHub, Azure, DNS registrars)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Untracked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no centralized visibility into expiry dates, age, scope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forgotten/rotated credentials create security gaps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Non-compliant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no automated policy enforcement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monitoring is error-prone and labor-intensive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7BEBA0-B9B8-BA6A-1DC9-BB184B9D6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67644"/>
              </p:ext>
            </p:extLst>
          </p:nvPr>
        </p:nvGraphicFramePr>
        <p:xfrm>
          <a:off x="671541" y="2725145"/>
          <a:ext cx="7950743" cy="2348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9066">
                  <a:extLst>
                    <a:ext uri="{9D8B030D-6E8A-4147-A177-3AD203B41FA5}">
                      <a16:colId xmlns:a16="http://schemas.microsoft.com/office/drawing/2014/main" val="888061357"/>
                    </a:ext>
                  </a:extLst>
                </a:gridCol>
                <a:gridCol w="4621466">
                  <a:extLst>
                    <a:ext uri="{9D8B030D-6E8A-4147-A177-3AD203B41FA5}">
                      <a16:colId xmlns:a16="http://schemas.microsoft.com/office/drawing/2014/main" val="1677674322"/>
                    </a:ext>
                  </a:extLst>
                </a:gridCol>
                <a:gridCol w="1390211">
                  <a:extLst>
                    <a:ext uri="{9D8B030D-6E8A-4147-A177-3AD203B41FA5}">
                      <a16:colId xmlns:a16="http://schemas.microsoft.com/office/drawing/2014/main" val="2469854178"/>
                    </a:ext>
                  </a:extLst>
                </a:gridCol>
              </a:tblGrid>
              <a:tr h="2879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198002"/>
                  </a:ext>
                </a:extLst>
              </a:tr>
              <a:tr h="31150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Discovery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Credentials lost across repos, orgs, systems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34748"/>
                  </a:ext>
                </a:extLst>
              </a:tr>
              <a:tr h="31150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Lifecycle Tracking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unified age/expiry tracking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040221"/>
                  </a:ext>
                </a:extLst>
              </a:tr>
              <a:tr h="31150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Assessment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scoring of which identities matter most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052531"/>
                  </a:ext>
                </a:extLst>
              </a:tr>
              <a:tr h="31150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Policy Enforcement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automated compliance checks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Very 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113298"/>
                  </a:ext>
                </a:extLst>
              </a:tr>
              <a:tr h="308135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Scattered reports, no unified dashboard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797237"/>
                  </a:ext>
                </a:extLst>
              </a:tr>
              <a:tr h="48954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Remediation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actionable insights for fixing issues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943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755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43CB1FB4-990D-2A2B-D700-1AD50A09A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CFE31-1B13-EF22-D9EB-6347568F5E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6D7042E-8758-62B2-85D6-1442F7574C07}"/>
              </a:ext>
            </a:extLst>
          </p:cNvPr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921C1-293E-63E7-EABA-9CDDCC89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908" y="189003"/>
            <a:ext cx="4751612" cy="540337"/>
          </a:xfrm>
        </p:spPr>
        <p:txBody>
          <a:bodyPr>
            <a:noAutofit/>
          </a:bodyPr>
          <a:lstStyle/>
          <a:p>
            <a:pPr algn="ctr"/>
            <a:r>
              <a:rPr lang="en-IN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Level of Complexity</a:t>
            </a:r>
            <a:endParaRPr lang="en-US" altLang="en-US" sz="2000" b="1" i="1" dirty="0">
              <a:solidFill>
                <a:schemeClr val="accent1">
                  <a:lumMod val="50000"/>
                </a:schemeClr>
              </a:solidFill>
              <a:latin typeface="Playfair Display" panose="00000500000000000000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A07EE72-ECEA-5CA3-6E5B-E27AE0EE2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52" y="1159748"/>
            <a:ext cx="828951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Complexity Indicators: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 of Code: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~2000+ lines across 8 Python modules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Integrations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 major APIs + LLM service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Requirements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Parallel agent execution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Multi-finding aggregation and correlation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10+ distinct entity type</a:t>
            </a:r>
          </a:p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Approach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DISCOVERY PHASE   → ANALYSIS PHASE   → ENFORCEMENT PHASE   → REPORTING PHASE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↓                                                 ↓                                             ↓                                                 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Multi-source                        Risk Scoring                            Policy Rules                          HTML +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credential                               0-100 scale                             R001-R007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discovery                          LLM enrichment                           Violations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515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1C9E316A-FA71-0C9F-0356-4463E0C9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39510-4D85-F10A-D208-65B7565A89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5068AF-88AF-D2D5-5F68-7CC129269F83}"/>
              </a:ext>
            </a:extLst>
          </p:cNvPr>
          <p:cNvGrpSpPr/>
          <p:nvPr/>
        </p:nvGrpSpPr>
        <p:grpSpPr>
          <a:xfrm>
            <a:off x="722510" y="235261"/>
            <a:ext cx="8024298" cy="4767438"/>
            <a:chOff x="542251" y="-209085"/>
            <a:chExt cx="11322089" cy="7062634"/>
          </a:xfrm>
        </p:grpSpPr>
        <p:sp>
          <p:nvSpPr>
            <p:cNvPr id="9" name="Rounded Rectangle 1">
              <a:extLst>
                <a:ext uri="{FF2B5EF4-FFF2-40B4-BE49-F238E27FC236}">
                  <a16:creationId xmlns:a16="http://schemas.microsoft.com/office/drawing/2014/main" id="{D678FA4C-07CB-F9BF-45CA-9EECCB0C29E0}"/>
                </a:ext>
              </a:extLst>
            </p:cNvPr>
            <p:cNvSpPr/>
            <p:nvPr/>
          </p:nvSpPr>
          <p:spPr>
            <a:xfrm>
              <a:off x="1402490" y="-209085"/>
              <a:ext cx="8845509" cy="947111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0" rtlCol="0" anchor="ctr"/>
            <a:lstStyle/>
            <a:p>
              <a:pPr algn="ctr">
                <a:buClr>
                  <a:schemeClr val="dk1"/>
                </a:buClr>
                <a:buSzPts val="2800"/>
                <a:defRPr sz="2600" b="1">
                  <a:solidFill>
                    <a:srgbClr val="FFFFFF"/>
                  </a:solidFill>
                </a:defRPr>
              </a:pPr>
              <a:r>
                <a:rPr sz="2000" b="1" i="1" dirty="0">
                  <a:solidFill>
                    <a:schemeClr val="accent1">
                      <a:lumMod val="50000"/>
                    </a:schemeClr>
                  </a:solidFill>
                  <a:latin typeface="Playfair Display" panose="00000500000000000000" pitchFamily="2" charset="0"/>
                  <a:ea typeface="ＭＳ Ｐゴシック" panose="020B0600070205080204" pitchFamily="34" charset="-128"/>
                  <a:cs typeface="Arial" panose="020B0604020202020204"/>
                </a:rPr>
                <a:t>High-Level System Architecture</a:t>
              </a:r>
            </a:p>
            <a:p>
              <a:pPr algn="ctr">
                <a:buClr>
                  <a:schemeClr val="dk1"/>
                </a:buClr>
                <a:buSzPts val="2800"/>
                <a:defRPr sz="1300" b="0">
                  <a:solidFill>
                    <a:srgbClr val="CCDDFF"/>
                  </a:solidFill>
                </a:defRPr>
              </a:pPr>
              <a:r>
                <a:rPr sz="2000" b="1" i="1" dirty="0">
                  <a:solidFill>
                    <a:schemeClr val="accent1">
                      <a:lumMod val="50000"/>
                    </a:schemeClr>
                  </a:solidFill>
                  <a:latin typeface="Playfair Display" panose="00000500000000000000" pitchFamily="2" charset="0"/>
                  <a:ea typeface="ＭＳ Ｐゴシック" panose="020B0600070205080204" pitchFamily="34" charset="-128"/>
                  <a:cs typeface="Arial" panose="020B0604020202020204"/>
                </a:rPr>
                <a:t>Block diagram — components and interactions</a:t>
              </a:r>
            </a:p>
          </p:txBody>
        </p:sp>
        <p:sp>
          <p:nvSpPr>
            <p:cNvPr id="11" name="Rounded Rectangle 3">
              <a:extLst>
                <a:ext uri="{FF2B5EF4-FFF2-40B4-BE49-F238E27FC236}">
                  <a16:creationId xmlns:a16="http://schemas.microsoft.com/office/drawing/2014/main" id="{CA9F6CB1-D944-2804-357F-12DA00EDE9C6}"/>
                </a:ext>
              </a:extLst>
            </p:cNvPr>
            <p:cNvSpPr/>
            <p:nvPr/>
          </p:nvSpPr>
          <p:spPr>
            <a:xfrm>
              <a:off x="589788" y="828119"/>
              <a:ext cx="11191137" cy="686752"/>
            </a:xfrm>
            <a:prstGeom prst="roundRect">
              <a:avLst/>
            </a:prstGeom>
            <a:solidFill>
              <a:srgbClr val="1A234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/>
            <a:lstStyle/>
            <a:p>
              <a:pPr algn="l">
                <a:defRPr sz="1200" b="1">
                  <a:solidFill>
                    <a:srgbClr val="00BCD4"/>
                  </a:solidFill>
                </a:defRPr>
              </a:pPr>
              <a:r>
                <a:rPr dirty="0">
                  <a:solidFill>
                    <a:srgbClr val="FFFF00"/>
                  </a:solidFill>
                </a:rPr>
                <a:t>INPUT SOURCES</a:t>
              </a:r>
            </a:p>
          </p:txBody>
        </p: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8FC3D64F-6504-2B6C-ECA0-7D9D68F39A26}"/>
                </a:ext>
              </a:extLst>
            </p:cNvPr>
            <p:cNvSpPr/>
            <p:nvPr/>
          </p:nvSpPr>
          <p:spPr>
            <a:xfrm>
              <a:off x="731521" y="1425118"/>
              <a:ext cx="3291840" cy="640079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FFEB3B"/>
                  </a:solidFill>
                </a:defRPr>
              </a:pPr>
              <a:r>
                <a:rPr dirty="0"/>
                <a:t>GitHub API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rPr dirty="0"/>
                <a:t>PATs, Deploy Keys,</a:t>
              </a:r>
              <a:br>
                <a:rPr dirty="0"/>
              </a:br>
              <a:r>
                <a:rPr dirty="0"/>
                <a:t>Secrets, Workflows</a:t>
              </a:r>
            </a:p>
          </p:txBody>
        </p:sp>
        <p:sp>
          <p:nvSpPr>
            <p:cNvPr id="13" name="Rounded Rectangle 5">
              <a:extLst>
                <a:ext uri="{FF2B5EF4-FFF2-40B4-BE49-F238E27FC236}">
                  <a16:creationId xmlns:a16="http://schemas.microsoft.com/office/drawing/2014/main" id="{56C216C2-B04B-2F5A-833C-CD601829E696}"/>
                </a:ext>
              </a:extLst>
            </p:cNvPr>
            <p:cNvSpPr/>
            <p:nvPr/>
          </p:nvSpPr>
          <p:spPr>
            <a:xfrm>
              <a:off x="4480559" y="1371600"/>
              <a:ext cx="3291840" cy="640079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FFEB3B"/>
                  </a:solidFill>
                </a:defRPr>
              </a:pPr>
              <a:r>
                <a:rPr dirty="0"/>
                <a:t>SSL/TLS Domains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rPr dirty="0"/>
                <a:t>Domain List, Ports,</a:t>
              </a:r>
              <a:br>
                <a:rPr dirty="0"/>
              </a:br>
              <a:r>
                <a:rPr dirty="0"/>
                <a:t>SNI Hostnames</a:t>
              </a:r>
            </a:p>
          </p:txBody>
        </p:sp>
        <p:sp>
          <p:nvSpPr>
            <p:cNvPr id="14" name="Rounded Rectangle 6">
              <a:extLst>
                <a:ext uri="{FF2B5EF4-FFF2-40B4-BE49-F238E27FC236}">
                  <a16:creationId xmlns:a16="http://schemas.microsoft.com/office/drawing/2014/main" id="{4742D6BE-2E00-77EB-47BD-1A69E7C1C888}"/>
                </a:ext>
              </a:extLst>
            </p:cNvPr>
            <p:cNvSpPr/>
            <p:nvPr/>
          </p:nvSpPr>
          <p:spPr>
            <a:xfrm>
              <a:off x="8391139" y="1368148"/>
              <a:ext cx="3291840" cy="640079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FFEB3B"/>
                  </a:solidFill>
                </a:defRPr>
              </a:pPr>
              <a:r>
                <a:t>Configuration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t>Thresholds, Policy Rules,</a:t>
              </a:r>
              <a:br/>
              <a:r>
                <a:t>LLM Settings, Output Paths</a:t>
              </a:r>
            </a:p>
          </p:txBody>
        </p:sp>
        <p:sp>
          <p:nvSpPr>
            <p:cNvPr id="15" name="Down Arrow 7">
              <a:extLst>
                <a:ext uri="{FF2B5EF4-FFF2-40B4-BE49-F238E27FC236}">
                  <a16:creationId xmlns:a16="http://schemas.microsoft.com/office/drawing/2014/main" id="{30FA5CBF-640F-D9B1-CCC0-9C935A0F075C}"/>
                </a:ext>
              </a:extLst>
            </p:cNvPr>
            <p:cNvSpPr/>
            <p:nvPr/>
          </p:nvSpPr>
          <p:spPr>
            <a:xfrm>
              <a:off x="5905207" y="1983184"/>
              <a:ext cx="274320" cy="457200"/>
            </a:xfrm>
            <a:prstGeom prst="downArrow">
              <a:avLst/>
            </a:prstGeom>
            <a:solidFill>
              <a:srgbClr val="00BCD4"/>
            </a:solidFill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8">
              <a:extLst>
                <a:ext uri="{FF2B5EF4-FFF2-40B4-BE49-F238E27FC236}">
                  <a16:creationId xmlns:a16="http://schemas.microsoft.com/office/drawing/2014/main" id="{98A71D7A-50DA-2860-BFF6-D2DB9018CC75}"/>
                </a:ext>
              </a:extLst>
            </p:cNvPr>
            <p:cNvSpPr/>
            <p:nvPr/>
          </p:nvSpPr>
          <p:spPr>
            <a:xfrm>
              <a:off x="573343" y="2428319"/>
              <a:ext cx="11274552" cy="686753"/>
            </a:xfrm>
            <a:prstGeom prst="roundRect">
              <a:avLst/>
            </a:prstGeom>
            <a:solidFill>
              <a:srgbClr val="1A234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/>
            <a:lstStyle/>
            <a:p>
              <a:pPr algn="l">
                <a:defRPr sz="1200" b="1">
                  <a:solidFill>
                    <a:srgbClr val="4CAF50"/>
                  </a:solidFill>
                </a:defRPr>
              </a:pPr>
              <a:r>
                <a:t>DISCOVERY LAYER  (Parallelizable)</a:t>
              </a:r>
            </a:p>
          </p:txBody>
        </p:sp>
        <p:sp>
          <p:nvSpPr>
            <p:cNvPr id="17" name="Rounded Rectangle 9">
              <a:extLst>
                <a:ext uri="{FF2B5EF4-FFF2-40B4-BE49-F238E27FC236}">
                  <a16:creationId xmlns:a16="http://schemas.microsoft.com/office/drawing/2014/main" id="{D246E677-9F97-E965-D237-AF5580EC4C37}"/>
                </a:ext>
              </a:extLst>
            </p:cNvPr>
            <p:cNvSpPr/>
            <p:nvPr/>
          </p:nvSpPr>
          <p:spPr>
            <a:xfrm>
              <a:off x="685799" y="3030873"/>
              <a:ext cx="4572000" cy="731521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4CAF50"/>
                  </a:solidFill>
                </a:defRPr>
              </a:pPr>
              <a:r>
                <a:rPr dirty="0"/>
                <a:t>cert_agent.py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rPr dirty="0"/>
                <a:t>Connect TLS → Extract Certs → Parse Expiry → Status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888888"/>
                  </a:solidFill>
                </a:defRPr>
              </a:pPr>
              <a:r>
                <a:rPr dirty="0"/>
                <a:t>Output: [{host, </a:t>
              </a:r>
              <a:r>
                <a:rPr dirty="0" err="1"/>
                <a:t>days_left</a:t>
              </a:r>
              <a:r>
                <a:rPr dirty="0"/>
                <a:t>, status, ...}]</a:t>
              </a:r>
            </a:p>
          </p:txBody>
        </p:sp>
        <p:sp>
          <p:nvSpPr>
            <p:cNvPr id="18" name="Rounded Rectangle 10">
              <a:extLst>
                <a:ext uri="{FF2B5EF4-FFF2-40B4-BE49-F238E27FC236}">
                  <a16:creationId xmlns:a16="http://schemas.microsoft.com/office/drawing/2014/main" id="{EB127AF8-F9A1-0995-974C-19ED4D53C579}"/>
                </a:ext>
              </a:extLst>
            </p:cNvPr>
            <p:cNvSpPr/>
            <p:nvPr/>
          </p:nvSpPr>
          <p:spPr>
            <a:xfrm>
              <a:off x="6379459" y="3057900"/>
              <a:ext cx="5303520" cy="731521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4CAF50"/>
                  </a:solidFill>
                </a:defRPr>
              </a:pPr>
              <a:r>
                <a:t>github_nhi_agent.py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t>Query GitHub API → List Repos → Discover PATs/Keys/Secrets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888888"/>
                  </a:solidFill>
                </a:defRPr>
              </a:pPr>
              <a:r>
                <a:t>Output: [{nhi_type, scopes, age_days, ...}]</a:t>
              </a:r>
            </a:p>
          </p:txBody>
        </p:sp>
        <p:sp>
          <p:nvSpPr>
            <p:cNvPr id="19" name="Down Arrow 11">
              <a:extLst>
                <a:ext uri="{FF2B5EF4-FFF2-40B4-BE49-F238E27FC236}">
                  <a16:creationId xmlns:a16="http://schemas.microsoft.com/office/drawing/2014/main" id="{6099363A-0196-E946-2341-DAB45B6A78B8}"/>
                </a:ext>
              </a:extLst>
            </p:cNvPr>
            <p:cNvSpPr/>
            <p:nvPr/>
          </p:nvSpPr>
          <p:spPr>
            <a:xfrm>
              <a:off x="5989318" y="3607515"/>
              <a:ext cx="274320" cy="457200"/>
            </a:xfrm>
            <a:prstGeom prst="downArrow">
              <a:avLst/>
            </a:prstGeom>
            <a:solidFill>
              <a:srgbClr val="00BCD4"/>
            </a:solidFill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2">
              <a:extLst>
                <a:ext uri="{FF2B5EF4-FFF2-40B4-BE49-F238E27FC236}">
                  <a16:creationId xmlns:a16="http://schemas.microsoft.com/office/drawing/2014/main" id="{0082FEA9-2890-B38C-3205-2DA3E28A4D37}"/>
                </a:ext>
              </a:extLst>
            </p:cNvPr>
            <p:cNvSpPr/>
            <p:nvPr/>
          </p:nvSpPr>
          <p:spPr>
            <a:xfrm>
              <a:off x="542251" y="4107557"/>
              <a:ext cx="11274552" cy="755672"/>
            </a:xfrm>
            <a:prstGeom prst="roundRect">
              <a:avLst/>
            </a:prstGeom>
            <a:solidFill>
              <a:srgbClr val="1A234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/>
            <a:lstStyle/>
            <a:p>
              <a:pPr algn="l">
                <a:defRPr sz="1200" b="1">
                  <a:solidFill>
                    <a:srgbClr val="FF9800"/>
                  </a:solidFill>
                </a:defRPr>
              </a:pPr>
              <a:r>
                <a:t>ANALYSIS LAYER</a:t>
              </a:r>
            </a:p>
          </p:txBody>
        </p:sp>
        <p:sp>
          <p:nvSpPr>
            <p:cNvPr id="21" name="Rounded Rectangle 13">
              <a:extLst>
                <a:ext uri="{FF2B5EF4-FFF2-40B4-BE49-F238E27FC236}">
                  <a16:creationId xmlns:a16="http://schemas.microsoft.com/office/drawing/2014/main" id="{FA13913B-DDD8-EACC-FE01-D71EC2514C13}"/>
                </a:ext>
              </a:extLst>
            </p:cNvPr>
            <p:cNvSpPr/>
            <p:nvPr/>
          </p:nvSpPr>
          <p:spPr>
            <a:xfrm>
              <a:off x="731521" y="4754879"/>
              <a:ext cx="3657600" cy="822961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FF9800"/>
                  </a:solidFill>
                </a:defRPr>
              </a:pPr>
              <a:r>
                <a:t>risk_scorer.py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t>Age(40) + Type(30) + Privilege(20) + SSL(10)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888888"/>
                  </a:solidFill>
                </a:defRPr>
              </a:pPr>
              <a:r>
                <a:t>→ Score 0-100, Severity Label</a:t>
              </a:r>
            </a:p>
          </p:txBody>
        </p:sp>
        <p:sp>
          <p:nvSpPr>
            <p:cNvPr id="22" name="Rounded Rectangle 14">
              <a:extLst>
                <a:ext uri="{FF2B5EF4-FFF2-40B4-BE49-F238E27FC236}">
                  <a16:creationId xmlns:a16="http://schemas.microsoft.com/office/drawing/2014/main" id="{6CA77E56-7B52-3815-5011-912112F2E5D0}"/>
                </a:ext>
              </a:extLst>
            </p:cNvPr>
            <p:cNvSpPr/>
            <p:nvPr/>
          </p:nvSpPr>
          <p:spPr>
            <a:xfrm>
              <a:off x="4846320" y="4754880"/>
              <a:ext cx="3474720" cy="822960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FF9800"/>
                  </a:solidFill>
                </a:defRPr>
              </a:pPr>
              <a:r>
                <a:t>nhi_policies.py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t>7 Rules: R001–R007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888888"/>
                  </a:solidFill>
                </a:defRPr>
              </a:pPr>
              <a:r>
                <a:t>→ Violations[]</a:t>
              </a:r>
            </a:p>
          </p:txBody>
        </p:sp>
        <p:sp>
          <p:nvSpPr>
            <p:cNvPr id="23" name="Rounded Rectangle 15">
              <a:extLst>
                <a:ext uri="{FF2B5EF4-FFF2-40B4-BE49-F238E27FC236}">
                  <a16:creationId xmlns:a16="http://schemas.microsoft.com/office/drawing/2014/main" id="{468D362C-6935-CE9B-6FD8-7A5E9D59412C}"/>
                </a:ext>
              </a:extLst>
            </p:cNvPr>
            <p:cNvSpPr/>
            <p:nvPr/>
          </p:nvSpPr>
          <p:spPr>
            <a:xfrm>
              <a:off x="8778239" y="4783912"/>
              <a:ext cx="2904740" cy="822961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9C27B0"/>
                  </a:solidFill>
                </a:defRPr>
              </a:pPr>
              <a:r>
                <a:rPr dirty="0">
                  <a:solidFill>
                    <a:srgbClr val="FFC000"/>
                  </a:solidFill>
                </a:rPr>
                <a:t>LLM Enrichment (GPT-4o)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rPr dirty="0"/>
                <a:t>Optional: score ≥ 50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888888"/>
                  </a:solidFill>
                </a:defRPr>
              </a:pPr>
              <a:r>
                <a:rPr dirty="0"/>
                <a:t>→ Natural language reasoning</a:t>
              </a:r>
            </a:p>
          </p:txBody>
        </p:sp>
        <p:sp>
          <p:nvSpPr>
            <p:cNvPr id="24" name="Down Arrow 16">
              <a:extLst>
                <a:ext uri="{FF2B5EF4-FFF2-40B4-BE49-F238E27FC236}">
                  <a16:creationId xmlns:a16="http://schemas.microsoft.com/office/drawing/2014/main" id="{E24C9449-FE29-9D13-2423-F4B3CC76F4A9}"/>
                </a:ext>
              </a:extLst>
            </p:cNvPr>
            <p:cNvSpPr/>
            <p:nvPr/>
          </p:nvSpPr>
          <p:spPr>
            <a:xfrm>
              <a:off x="5952744" y="5760720"/>
              <a:ext cx="274320" cy="457200"/>
            </a:xfrm>
            <a:prstGeom prst="downArrow">
              <a:avLst/>
            </a:prstGeom>
            <a:solidFill>
              <a:srgbClr val="00BCD4"/>
            </a:solidFill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17">
              <a:extLst>
                <a:ext uri="{FF2B5EF4-FFF2-40B4-BE49-F238E27FC236}">
                  <a16:creationId xmlns:a16="http://schemas.microsoft.com/office/drawing/2014/main" id="{9CC527E7-463E-B6EC-92EB-8F88E987DCC8}"/>
                </a:ext>
              </a:extLst>
            </p:cNvPr>
            <p:cNvSpPr/>
            <p:nvPr/>
          </p:nvSpPr>
          <p:spPr>
            <a:xfrm>
              <a:off x="589788" y="5777944"/>
              <a:ext cx="11274552" cy="777241"/>
            </a:xfrm>
            <a:prstGeom prst="roundRect">
              <a:avLst/>
            </a:prstGeom>
            <a:solidFill>
              <a:srgbClr val="1A234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/>
            <a:lstStyle/>
            <a:p>
              <a:pPr algn="l">
                <a:defRPr sz="1200" b="1">
                  <a:solidFill>
                    <a:srgbClr val="00BCD4"/>
                  </a:solidFill>
                </a:defRPr>
              </a:pPr>
              <a:r>
                <a:t>REPORTING LAYER</a:t>
              </a:r>
            </a:p>
          </p:txBody>
        </p:sp>
        <p:sp>
          <p:nvSpPr>
            <p:cNvPr id="26" name="Rounded Rectangle 18">
              <a:extLst>
                <a:ext uri="{FF2B5EF4-FFF2-40B4-BE49-F238E27FC236}">
                  <a16:creationId xmlns:a16="http://schemas.microsoft.com/office/drawing/2014/main" id="{9422DC59-AC3F-5104-62BE-4115593485FA}"/>
                </a:ext>
              </a:extLst>
            </p:cNvPr>
            <p:cNvSpPr/>
            <p:nvPr/>
          </p:nvSpPr>
          <p:spPr>
            <a:xfrm>
              <a:off x="731521" y="6350630"/>
              <a:ext cx="4114800" cy="502919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000" b="1">
                  <a:solidFill>
                    <a:srgbClr val="00BCD4"/>
                  </a:solidFill>
                </a:defRPr>
              </a:pPr>
              <a:r>
                <a:rPr dirty="0"/>
                <a:t>report_generator.py  →  HTML + JSON</a:t>
              </a:r>
            </a:p>
          </p:txBody>
        </p:sp>
        <p:sp>
          <p:nvSpPr>
            <p:cNvPr id="27" name="Rounded Rectangle 19">
              <a:extLst>
                <a:ext uri="{FF2B5EF4-FFF2-40B4-BE49-F238E27FC236}">
                  <a16:creationId xmlns:a16="http://schemas.microsoft.com/office/drawing/2014/main" id="{C787BB7F-CF20-194A-355C-0221AEE8E499}"/>
                </a:ext>
              </a:extLst>
            </p:cNvPr>
            <p:cNvSpPr/>
            <p:nvPr/>
          </p:nvSpPr>
          <p:spPr>
            <a:xfrm>
              <a:off x="7568179" y="6303724"/>
              <a:ext cx="4114800" cy="502919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000" b="1">
                  <a:solidFill>
                    <a:srgbClr val="00BCD4"/>
                  </a:solidFill>
                </a:defRPr>
              </a:pPr>
              <a:r>
                <a:rPr dirty="0"/>
                <a:t>React Dashboard  →  9 Interactive Pages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553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1714" cy="65151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High-Level System Architecture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Block diagram — components and interactions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172" y="770124"/>
            <a:ext cx="8330511" cy="311412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00BCD4"/>
                </a:solidFill>
              </a:defRPr>
            </a:pPr>
            <a:r>
              <a:rPr sz="900"/>
              <a:t>INPUT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28700"/>
            <a:ext cx="2468880" cy="48006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EB3B"/>
                </a:solidFill>
              </a:defRPr>
            </a:pPr>
            <a:r>
              <a:rPr sz="825"/>
              <a:t>GitHub API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PATs, Deploy Keys,</a:t>
            </a:r>
            <a:br>
              <a:rPr sz="675"/>
            </a:br>
            <a:r>
              <a:rPr sz="675"/>
              <a:t>Secrets,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0419" y="1028700"/>
            <a:ext cx="2468880" cy="48006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EB3B"/>
                </a:solidFill>
              </a:defRPr>
            </a:pPr>
            <a:r>
              <a:rPr sz="825"/>
              <a:t>SSL/TLS Domains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Domain List, Ports,</a:t>
            </a:r>
            <a:br>
              <a:rPr sz="675"/>
            </a:br>
            <a:r>
              <a:rPr sz="675"/>
              <a:t>SNI Hostnames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028700"/>
            <a:ext cx="2468880" cy="48006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EB3B"/>
                </a:solidFill>
              </a:defRPr>
            </a:pPr>
            <a:r>
              <a:rPr sz="825"/>
              <a:t>Configuration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Thresholds, Policy Rules,</a:t>
            </a:r>
            <a:br>
              <a:rPr sz="675"/>
            </a:br>
            <a:r>
              <a:rPr sz="675"/>
              <a:t>LLM Settings, Output Paths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64558" y="1491615"/>
            <a:ext cx="205740" cy="3429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9" name="Rounded Rectangle 8"/>
          <p:cNvSpPr/>
          <p:nvPr/>
        </p:nvSpPr>
        <p:spPr>
          <a:xfrm>
            <a:off x="442341" y="1821526"/>
            <a:ext cx="8455914" cy="342900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4CAF50"/>
                </a:solidFill>
              </a:defRPr>
            </a:pPr>
            <a:r>
              <a:rPr sz="900" dirty="0"/>
              <a:t>DISCOVERY LAYER  (Parallelizable)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0660" y="2108835"/>
            <a:ext cx="2844140" cy="54864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rPr sz="825"/>
              <a:t>cert_agent.py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Connect TLS → Extract Certs → Parse Expiry → Status</a:t>
            </a:r>
          </a:p>
          <a:p>
            <a:pPr>
              <a:spcBef>
                <a:spcPts val="150"/>
              </a:spcBef>
              <a:defRPr sz="900" b="0">
                <a:solidFill>
                  <a:srgbClr val="888888"/>
                </a:solidFill>
              </a:defRPr>
            </a:pPr>
            <a:r>
              <a:rPr sz="675"/>
              <a:t>Output: [{host, days_left, status, ...}]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3137" y="2100820"/>
            <a:ext cx="3066766" cy="54864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rPr sz="825"/>
              <a:t>github_nhi_agent.py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Query GitHub API → List Repos → Discover PATs/Keys/Secrets</a:t>
            </a:r>
          </a:p>
          <a:p>
            <a:pPr>
              <a:spcBef>
                <a:spcPts val="150"/>
              </a:spcBef>
              <a:defRPr sz="900" b="0">
                <a:solidFill>
                  <a:srgbClr val="888888"/>
                </a:solidFill>
              </a:defRPr>
            </a:pPr>
            <a:r>
              <a:rPr sz="675"/>
              <a:t>Output: [{nhi_type, scopes, age_days, ...}]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464558" y="2691328"/>
            <a:ext cx="205740" cy="3429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3" name="Rounded Rectangle 12"/>
          <p:cNvSpPr/>
          <p:nvPr/>
        </p:nvSpPr>
        <p:spPr>
          <a:xfrm>
            <a:off x="342900" y="3019598"/>
            <a:ext cx="8455914" cy="342900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FF9800"/>
                </a:solidFill>
              </a:defRPr>
            </a:pPr>
            <a:r>
              <a:rPr sz="900"/>
              <a:t>ANALYSIS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3918"/>
            <a:ext cx="2743200" cy="61722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rPr sz="825"/>
              <a:t>risk_scorer.py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Age(40) + Type(30) + Privilege(20) + SSL(10)</a:t>
            </a:r>
          </a:p>
          <a:p>
            <a:pPr>
              <a:spcBef>
                <a:spcPts val="150"/>
              </a:spcBef>
              <a:defRPr sz="900" b="0">
                <a:solidFill>
                  <a:srgbClr val="888888"/>
                </a:solidFill>
              </a:defRPr>
            </a:pPr>
            <a:r>
              <a:rPr sz="675"/>
              <a:t>→ Score 0-100, Severity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0117" y="3342838"/>
            <a:ext cx="2606040" cy="61722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rPr sz="825"/>
              <a:t>nhi_policies.py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7 Rules: R001–R007</a:t>
            </a:r>
          </a:p>
          <a:p>
            <a:pPr>
              <a:spcBef>
                <a:spcPts val="150"/>
              </a:spcBef>
              <a:defRPr sz="900" b="0">
                <a:solidFill>
                  <a:srgbClr val="888888"/>
                </a:solidFill>
              </a:defRPr>
            </a:pPr>
            <a:r>
              <a:rPr sz="675"/>
              <a:t>→ Violations[]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342838"/>
            <a:ext cx="2057400" cy="61722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9C27B0"/>
                </a:solidFill>
              </a:defRPr>
            </a:pPr>
            <a:r>
              <a:rPr sz="825"/>
              <a:t>LLM Enrichment (GPT-4o)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Optional: score ≥ 50</a:t>
            </a:r>
          </a:p>
          <a:p>
            <a:pPr>
              <a:spcBef>
                <a:spcPts val="150"/>
              </a:spcBef>
              <a:defRPr sz="900" b="0">
                <a:solidFill>
                  <a:srgbClr val="888888"/>
                </a:solidFill>
              </a:defRPr>
            </a:pPr>
            <a:r>
              <a:rPr sz="675"/>
              <a:t>→ Natural language reasoning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464558" y="3992270"/>
            <a:ext cx="205740" cy="3429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8" name="Rounded Rectangle 17"/>
          <p:cNvSpPr/>
          <p:nvPr/>
        </p:nvSpPr>
        <p:spPr>
          <a:xfrm>
            <a:off x="339470" y="4218783"/>
            <a:ext cx="8455914" cy="424997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00BCD4"/>
                </a:solidFill>
              </a:defRPr>
            </a:pPr>
            <a:r>
              <a:rPr sz="900"/>
              <a:t>REPORTING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94860"/>
            <a:ext cx="3086100" cy="37719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rPr sz="750"/>
              <a:t>report_generator.py  →  HTML +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40" y="4594860"/>
            <a:ext cx="3086100" cy="37719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rPr sz="750"/>
              <a:t>React Dashboard  →  9 Interactive 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120015"/>
            <a:ext cx="9141714" cy="65151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1950" dirty="0"/>
              <a:t> </a:t>
            </a: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Risk Scoring Calculation Algorithm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Deterministic scoring 0-100 with severity labeling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822960"/>
            <a:ext cx="891540" cy="51435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350"/>
              <a:t>40 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7310" y="822960"/>
            <a:ext cx="3977640" cy="51435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200" b="1">
                <a:solidFill>
                  <a:srgbClr val="F44336"/>
                </a:solidFill>
              </a:defRPr>
            </a:pPr>
            <a:r>
              <a:rPr sz="900"/>
              <a:t>Age Component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age_ratio = min(age / max_age, 1.0) ×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" y="1474470"/>
            <a:ext cx="891540" cy="51435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350"/>
              <a:t>30 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7310" y="1474470"/>
            <a:ext cx="3977640" cy="51435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200" b="1">
                <a:solidFill>
                  <a:srgbClr val="FF9800"/>
                </a:solidFill>
              </a:defRPr>
            </a:pPr>
            <a:r>
              <a:rPr sz="900"/>
              <a:t>Type Weight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PAT=30  DK_Write=30  DK_Read=18  Secret=14  SSL=10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" y="2125980"/>
            <a:ext cx="891540" cy="51435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350"/>
              <a:t>20 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7310" y="2125980"/>
            <a:ext cx="3977640" cy="51435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200" b="1">
                <a:solidFill>
                  <a:srgbClr val="9C27B0"/>
                </a:solidFill>
              </a:defRPr>
            </a:pPr>
            <a:r>
              <a:rPr sz="900"/>
              <a:t>Privilege Scope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20 if write/admin scope, 10 if read-only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" y="2777489"/>
            <a:ext cx="891540" cy="51435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350"/>
              <a:t>10 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7310" y="2777489"/>
            <a:ext cx="3977640" cy="51435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200" b="1">
                <a:solidFill>
                  <a:srgbClr val="007ACC"/>
                </a:solidFill>
              </a:defRPr>
            </a:pPr>
            <a:r>
              <a:rPr sz="900"/>
              <a:t>SSL Bonus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10 if CRITICAL, 5 if WARNING, 0 otherwise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" y="3497580"/>
            <a:ext cx="4972050" cy="41148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050"/>
              <a:t>Total = Age + Type + Privilege + SSL  (capped at 100)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92140" y="822960"/>
            <a:ext cx="3086100" cy="342900"/>
          </a:xfrm>
          <a:prstGeom prst="round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FFEB3B"/>
                </a:solidFill>
              </a:defRPr>
            </a:pPr>
            <a:r>
              <a:rPr sz="1050"/>
              <a:t>Severity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92140" y="1268730"/>
            <a:ext cx="3086100" cy="37719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975"/>
              <a:t>CRITICAL  —  score ≥ 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92140" y="1748790"/>
            <a:ext cx="3086100" cy="37719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975"/>
              <a:t>HIGH  —  score ≥ 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2140" y="2228850"/>
            <a:ext cx="3086100" cy="377190"/>
          </a:xfrm>
          <a:prstGeom prst="round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rPr sz="975"/>
              <a:t>MEDIUM  —  score ≥ 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92140" y="2708909"/>
            <a:ext cx="3086100" cy="37719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975"/>
              <a:t>LOW  —  score &lt; 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92140" y="3223260"/>
            <a:ext cx="3086100" cy="17145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tIns="54864" rtlCol="0" anchor="ctr"/>
          <a:lstStyle/>
          <a:p>
            <a:pPr algn="l">
              <a:defRPr sz="1200" b="1">
                <a:solidFill>
                  <a:srgbClr val="00BCD4"/>
                </a:solidFill>
              </a:defRPr>
            </a:pPr>
            <a:r>
              <a:rPr sz="900"/>
              <a:t>Worked Example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PAT, 180 days old, admin:org scope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endParaRPr sz="750"/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Age:  min(180/30, 1) × 40 = 40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Type: PAT = 30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Priv: admin:org → 20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SSL:  N/A → 0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─────────────────────</a:t>
            </a:r>
          </a:p>
          <a:p>
            <a:pPr>
              <a:spcBef>
                <a:spcPts val="150"/>
              </a:spcBef>
              <a:defRPr sz="1000" b="1">
                <a:solidFill>
                  <a:srgbClr val="F44336"/>
                </a:solidFill>
              </a:defRPr>
            </a:pPr>
            <a:r>
              <a:rPr sz="750"/>
              <a:t>Total = 90 → CRITICAL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867697-0E24-96F1-5340-7AB0A127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4AEC4-DF0C-684F-EFC0-7A03B87A7487}"/>
              </a:ext>
            </a:extLst>
          </p:cNvPr>
          <p:cNvSpPr txBox="1"/>
          <p:nvPr/>
        </p:nvSpPr>
        <p:spPr>
          <a:xfrm>
            <a:off x="122842" y="86683"/>
            <a:ext cx="3914768" cy="650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1. Type Weight (30 pts maximum)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Based on the NHI credential type: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PAT (Personal Access Token)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30 pts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DEPLOY_KEY_WRITE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 (write access): 30 pts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DEPLOY_KEY_READ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 (read-only): 18 pts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ACTIONS_SECRET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14 pts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SSL_CERT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10 pts</a:t>
            </a:r>
          </a:p>
          <a:p>
            <a:pPr algn="l">
              <a:buNone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2. Age Component (40 pts maximum)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800" b="0" i="0" dirty="0" err="1">
                <a:solidFill>
                  <a:schemeClr val="tx1"/>
                </a:solidFill>
                <a:effectLst/>
                <a:latin typeface="Segoe WPC"/>
              </a:rPr>
              <a:t>Mesures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 how old the credential is relative to policy thresholds: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Scales linearly from 0 pts (new) to 40 pts (at threshold age)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For example, a PAT created 30 days ago with a 30-day policy threshold gets 40 pts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Examples: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Actions secrets: max 90 days policy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Deploy key write: max 60 days policy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Deploy key read: max 120 days policy</a:t>
            </a:r>
          </a:p>
          <a:p>
            <a:pPr algn="l">
              <a:buNone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3. Privilege Scope (20 pts maximum)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For </a:t>
            </a: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PATs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, counts high-privilege scopes like: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repo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, </a:t>
            </a:r>
            <a:r>
              <a:rPr lang="en-US" sz="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admin:org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, 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workflow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, </a:t>
            </a:r>
            <a:r>
              <a:rPr lang="en-US" sz="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delete_repo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, </a:t>
            </a:r>
            <a:r>
              <a:rPr lang="en-US" sz="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write:packages</a:t>
            </a:r>
            <a:endParaRPr lang="en-US" sz="800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Each high-privilege scope adds 7 pts (capped at 20 pts)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Write access adds bonus points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For </a:t>
            </a: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Deploy Keys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, +20 pts if it has write (push) access</a:t>
            </a:r>
          </a:p>
          <a:p>
            <a:pPr algn="l">
              <a:buNone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4. SSL Certificate Severity (up to 90 pts additional)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EXPIRED/ERROR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+90 pts (automatic CRITICAL)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CRITICAL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 status: +40 pts (expires within red threshold, default 30 days)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WARNING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 status: +20 pts (expires within yellow threshold, default 60 days)</a:t>
            </a:r>
          </a:p>
          <a:p>
            <a:pPr algn="l">
              <a:buNone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Severity Labels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CRITICAL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Score ≥ 70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HIGH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Score ≥ 50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MEDIUM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Score ≥ 30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LOW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Score &lt; 30</a:t>
            </a:r>
          </a:p>
          <a:p>
            <a:pPr algn="l">
              <a:buNone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The final score is capped at 100, then sorted descending with all findings combined. Optionally, GPT-4o can enrich high-scoring findings (default: ≥50) with natural language risk summaries.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F7CDC-54DC-057F-F99B-209884E6009A}"/>
              </a:ext>
            </a:extLst>
          </p:cNvPr>
          <p:cNvSpPr txBox="1"/>
          <p:nvPr/>
        </p:nvSpPr>
        <p:spPr>
          <a:xfrm>
            <a:off x="4667003" y="546265"/>
            <a:ext cx="4156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7319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1714" cy="65151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 State Diagrams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Finding lifecycle &amp; system execution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788670"/>
            <a:ext cx="3977640" cy="30861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975"/>
              <a:t>Finding State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00150"/>
            <a:ext cx="3566160" cy="58293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300" b="1">
                <a:solidFill>
                  <a:srgbClr val="4CAF50"/>
                </a:solidFill>
              </a:defRPr>
            </a:pPr>
            <a:r>
              <a:rPr sz="975"/>
              <a:t>DISCOVERY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Raw Finding: host, status, no score</a:t>
            </a:r>
          </a:p>
        </p:txBody>
      </p:sp>
      <p:sp>
        <p:nvSpPr>
          <p:cNvPr id="6" name="Down Arrow 5"/>
          <p:cNvSpPr/>
          <p:nvPr/>
        </p:nvSpPr>
        <p:spPr>
          <a:xfrm>
            <a:off x="2228850" y="1817370"/>
            <a:ext cx="205740" cy="13716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" name="Rounded Rectangle 6"/>
          <p:cNvSpPr/>
          <p:nvPr/>
        </p:nvSpPr>
        <p:spPr>
          <a:xfrm>
            <a:off x="548640" y="1988820"/>
            <a:ext cx="3566160" cy="58293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rPr sz="975"/>
              <a:t>SCORING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Scored Finding: +score (0-100), +severity</a:t>
            </a:r>
          </a:p>
        </p:txBody>
      </p:sp>
      <p:sp>
        <p:nvSpPr>
          <p:cNvPr id="8" name="Down Arrow 7"/>
          <p:cNvSpPr/>
          <p:nvPr/>
        </p:nvSpPr>
        <p:spPr>
          <a:xfrm>
            <a:off x="2228850" y="2606040"/>
            <a:ext cx="205740" cy="13716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9" name="Rounded Rectangle 8"/>
          <p:cNvSpPr/>
          <p:nvPr/>
        </p:nvSpPr>
        <p:spPr>
          <a:xfrm>
            <a:off x="548640" y="2777490"/>
            <a:ext cx="3566160" cy="58293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300" b="1">
                <a:solidFill>
                  <a:srgbClr val="9C27B0"/>
                </a:solidFill>
              </a:defRPr>
            </a:pPr>
            <a:r>
              <a:rPr sz="975"/>
              <a:t>ENRICHMENT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Enriched Finding: +risk_reason (LLM)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228850" y="3394710"/>
            <a:ext cx="205740" cy="13716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1" name="Rounded Rectangle 10"/>
          <p:cNvSpPr/>
          <p:nvPr/>
        </p:nvSpPr>
        <p:spPr>
          <a:xfrm>
            <a:off x="548640" y="3566159"/>
            <a:ext cx="3566160" cy="58293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300" b="1">
                <a:solidFill>
                  <a:srgbClr val="00BCD4"/>
                </a:solidFill>
              </a:defRPr>
            </a:pPr>
            <a:r>
              <a:rPr sz="975"/>
              <a:t>REPORTING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Reported Finding: in HTML, JSON,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788670"/>
            <a:ext cx="4114800" cy="30861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975"/>
              <a:t>System Execution State 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9180" y="1200150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888888"/>
                </a:solidFill>
              </a:defRPr>
            </a:pPr>
            <a:r>
              <a:rPr sz="825"/>
              <a:t>IDLE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Waiting for user input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652260" y="1611630"/>
            <a:ext cx="205740" cy="75438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5" name="Rounded Rectangle 14"/>
          <p:cNvSpPr/>
          <p:nvPr/>
        </p:nvSpPr>
        <p:spPr>
          <a:xfrm>
            <a:off x="4869180" y="1700784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007ACC"/>
                </a:solidFill>
              </a:defRPr>
            </a:pPr>
            <a:r>
              <a:rPr sz="825"/>
              <a:t>INITIALIZATION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Load config, init agents, setup LangChain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652260" y="2112264"/>
            <a:ext cx="205740" cy="75438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7" name="Rounded Rectangle 16"/>
          <p:cNvSpPr/>
          <p:nvPr/>
        </p:nvSpPr>
        <p:spPr>
          <a:xfrm>
            <a:off x="4869180" y="2201418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rPr sz="825"/>
              <a:t>DISCOVERY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SSL + GitHub checks (parallel, timeouts)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652260" y="2612898"/>
            <a:ext cx="205740" cy="75438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9" name="Rounded Rectangle 18"/>
          <p:cNvSpPr/>
          <p:nvPr/>
        </p:nvSpPr>
        <p:spPr>
          <a:xfrm>
            <a:off x="4869180" y="2702052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rPr sz="825"/>
              <a:t>ANALYSIS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Scoring + policy evaluation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652260" y="3113532"/>
            <a:ext cx="205740" cy="75438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1" name="Rounded Rectangle 20"/>
          <p:cNvSpPr/>
          <p:nvPr/>
        </p:nvSpPr>
        <p:spPr>
          <a:xfrm>
            <a:off x="4869180" y="3202686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9C27B0"/>
                </a:solidFill>
              </a:defRPr>
            </a:pPr>
            <a:r>
              <a:rPr sz="825" dirty="0"/>
              <a:t>ENRICHMENT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 dirty="0"/>
              <a:t>LLM (GPT-4o)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652260" y="3614166"/>
            <a:ext cx="205740" cy="75438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3" name="Rounded Rectangle 22"/>
          <p:cNvSpPr/>
          <p:nvPr/>
        </p:nvSpPr>
        <p:spPr>
          <a:xfrm>
            <a:off x="4869180" y="3703320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00BCD4"/>
                </a:solidFill>
              </a:defRPr>
            </a:pPr>
            <a:r>
              <a:rPr sz="825"/>
              <a:t>REPORTING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Generate HTML + JSON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652260" y="4114800"/>
            <a:ext cx="205740" cy="75438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5" name="Rounded Rectangle 24"/>
          <p:cNvSpPr/>
          <p:nvPr/>
        </p:nvSpPr>
        <p:spPr>
          <a:xfrm>
            <a:off x="4869180" y="4203954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888888"/>
                </a:solidFill>
              </a:defRPr>
            </a:pPr>
            <a:r>
              <a:rPr sz="825"/>
              <a:t>COMPLETE → IDLE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/>
              <a:t>Report path returned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1714" cy="65151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 Sequence Diagram — Full Orchestration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UML Sequence: actors, messages, and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8670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Rounded Rectangle 5"/>
          <p:cNvSpPr/>
          <p:nvPr/>
        </p:nvSpPr>
        <p:spPr>
          <a:xfrm>
            <a:off x="1920240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66010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Rounded Rectangle 7"/>
          <p:cNvSpPr/>
          <p:nvPr/>
        </p:nvSpPr>
        <p:spPr>
          <a:xfrm>
            <a:off x="3497580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CertAgent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43350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0" name="Rounded Rectangle 9"/>
          <p:cNvSpPr/>
          <p:nvPr/>
        </p:nvSpPr>
        <p:spPr>
          <a:xfrm>
            <a:off x="4732020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GitHubAgent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77790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Rounded Rectangle 11"/>
          <p:cNvSpPr/>
          <p:nvPr/>
        </p:nvSpPr>
        <p:spPr>
          <a:xfrm>
            <a:off x="5966459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RiskScorer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2229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4" name="Rounded Rectangle 13"/>
          <p:cNvSpPr/>
          <p:nvPr/>
        </p:nvSpPr>
        <p:spPr>
          <a:xfrm>
            <a:off x="7063740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PolicyEngine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9510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6" name="Rounded Rectangle 15"/>
          <p:cNvSpPr/>
          <p:nvPr/>
        </p:nvSpPr>
        <p:spPr>
          <a:xfrm>
            <a:off x="8161020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ReportGen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06790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8" name="Rounded Rectangle 17"/>
          <p:cNvSpPr/>
          <p:nvPr/>
        </p:nvSpPr>
        <p:spPr>
          <a:xfrm>
            <a:off x="822960" y="1165860"/>
            <a:ext cx="157734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invoke scan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00300" y="1440180"/>
            <a:ext cx="1371600" cy="20574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9C27B0"/>
                </a:solidFill>
              </a:defRPr>
            </a:pPr>
            <a:r>
              <a:rPr sz="525"/>
              <a:t>load config.yaml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00300" y="1783080"/>
            <a:ext cx="157734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4CAF50"/>
                </a:solidFill>
              </a:defRPr>
            </a:pPr>
            <a:r>
              <a:rPr sz="525"/>
              <a:t>SSLCertCheck (parallel)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00300" y="1783080"/>
            <a:ext cx="281178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4CAF50"/>
                </a:solidFill>
              </a:defRPr>
            </a:pPr>
            <a:r>
              <a:rPr sz="525"/>
              <a:t>GitHubNHIDiscovery (parallel)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00300" y="2160270"/>
            <a:ext cx="157734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cert_findings[]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00300" y="2160270"/>
            <a:ext cx="281178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nhi_findings[]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00301" y="2537460"/>
            <a:ext cx="4046219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score(merged_findings)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00301" y="2811779"/>
            <a:ext cx="4046219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scored_findings[]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00300" y="3120390"/>
            <a:ext cx="514350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evaluate(scored)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00300" y="3394710"/>
            <a:ext cx="514350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violations[]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00300" y="3669030"/>
            <a:ext cx="1371600" cy="20574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9C27B0"/>
                </a:solidFill>
              </a:defRPr>
            </a:pPr>
            <a:r>
              <a:rPr sz="525"/>
              <a:t>GPT-4o enrich (if enabled)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00300" y="4011930"/>
            <a:ext cx="624078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generate(findings, violations)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00300" y="4286250"/>
            <a:ext cx="624078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report_path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560570"/>
            <a:ext cx="157734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return HTML path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6B18D-3A48-337C-D14F-6B312BC2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4F673-27AC-359D-AF92-BA272E404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158" y="103042"/>
            <a:ext cx="6479933" cy="500931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19266A-B018-AE7D-2443-9FC2FB5E3C98}"/>
              </a:ext>
            </a:extLst>
          </p:cNvPr>
          <p:cNvCxnSpPr>
            <a:cxnSpLocks/>
          </p:cNvCxnSpPr>
          <p:nvPr/>
        </p:nvCxnSpPr>
        <p:spPr>
          <a:xfrm>
            <a:off x="2464594" y="721519"/>
            <a:ext cx="0" cy="384333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800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190004"/>
            <a:ext cx="9013371" cy="235609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r>
              <a:rPr lang="en-US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UML Class Diagram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lang="en-US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Key data models and their relationships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D0BA40-4FF4-9197-E15D-5AC7B2BBD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223"/>
            <a:ext cx="9144000" cy="48622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E8BADB-DD8E-6A28-B1EE-4D328BB7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F3A760-EF9E-13B4-0C5E-9406146EB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7973"/>
            <a:ext cx="9021158" cy="3433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B91B84-D41B-D463-A55B-5EB4FDD8F2EB}"/>
              </a:ext>
            </a:extLst>
          </p:cNvPr>
          <p:cNvSpPr txBox="1"/>
          <p:nvPr/>
        </p:nvSpPr>
        <p:spPr>
          <a:xfrm>
            <a:off x="2190997" y="0"/>
            <a:ext cx="4572000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UML Component Diagram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System components, interfaces, and dependencies</a:t>
            </a:r>
          </a:p>
        </p:txBody>
      </p:sp>
    </p:spTree>
    <p:extLst>
      <p:ext uri="{BB962C8B-B14F-4D97-AF65-F5344CB8AC3E}">
        <p14:creationId xmlns:p14="http://schemas.microsoft.com/office/powerpoint/2010/main" val="3337575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BA927-2B9D-3C7E-5982-6AFCCB9E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F92823-B116-A7C0-722B-0AEA416F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2AE3E8-0C1A-12D7-CEDF-A7B89A6943EF}"/>
              </a:ext>
            </a:extLst>
          </p:cNvPr>
          <p:cNvSpPr txBox="1"/>
          <p:nvPr/>
        </p:nvSpPr>
        <p:spPr>
          <a:xfrm>
            <a:off x="2175757" y="609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API Integration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CDB92-0A1F-036A-DC59-1B89DAD8E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737"/>
            <a:ext cx="9144000" cy="454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97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D3C260-A2A8-CBE8-DF53-83A270F1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151EF-5F60-12AB-4345-6A69313A86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60" t="60704"/>
          <a:stretch>
            <a:fillRect/>
          </a:stretch>
        </p:blipFill>
        <p:spPr>
          <a:xfrm>
            <a:off x="413785" y="836657"/>
            <a:ext cx="8529789" cy="336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48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C05F5D-B672-6B54-D589-B5E0BD40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A06C6-33E6-302A-3ED1-11035B054686}"/>
              </a:ext>
            </a:extLst>
          </p:cNvPr>
          <p:cNvSpPr txBox="1"/>
          <p:nvPr/>
        </p:nvSpPr>
        <p:spPr>
          <a:xfrm>
            <a:off x="993227" y="335702"/>
            <a:ext cx="767780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┌────────────────────────────────────┐</a:t>
            </a:r>
          </a:p>
          <a:p>
            <a:r>
              <a:rPr lang="en-US" sz="900" dirty="0"/>
              <a:t>│ python orchestrator/nhi_orchestrator.py </a:t>
            </a:r>
          </a:p>
          <a:p>
            <a:r>
              <a:rPr lang="en-US" sz="900" dirty="0"/>
              <a:t> ──────────────┬──────────────────────┘</a:t>
            </a:r>
          </a:p>
          <a:p>
            <a:r>
              <a:rPr lang="en-US" sz="900" dirty="0"/>
              <a:t>               │</a:t>
            </a:r>
          </a:p>
          <a:p>
            <a:r>
              <a:rPr lang="en-US" sz="900" dirty="0"/>
              <a:t>               ▼</a:t>
            </a:r>
          </a:p>
          <a:p>
            <a:r>
              <a:rPr lang="en-US" sz="900" dirty="0"/>
              <a:t>       ┌───────────────────┐</a:t>
            </a:r>
          </a:p>
          <a:p>
            <a:r>
              <a:rPr lang="en-US" sz="900" dirty="0"/>
              <a:t>       │ main() function   │</a:t>
            </a:r>
          </a:p>
          <a:p>
            <a:r>
              <a:rPr lang="en-US" sz="900" dirty="0"/>
              <a:t>       │ </a:t>
            </a:r>
            <a:r>
              <a:rPr lang="en-US" sz="900" dirty="0" err="1"/>
              <a:t>parse_arguments</a:t>
            </a:r>
            <a:r>
              <a:rPr lang="en-US" sz="900" dirty="0"/>
              <a:t>() │</a:t>
            </a:r>
          </a:p>
          <a:p>
            <a:r>
              <a:rPr lang="en-US" sz="900" dirty="0"/>
              <a:t>       └─────────┬─────────┘</a:t>
            </a:r>
          </a:p>
          <a:p>
            <a:r>
              <a:rPr lang="en-US" sz="900" dirty="0"/>
              <a:t>               │</a:t>
            </a:r>
          </a:p>
          <a:p>
            <a:r>
              <a:rPr lang="en-US" sz="900" dirty="0"/>
              <a:t>               ▼ (</a:t>
            </a:r>
            <a:r>
              <a:rPr lang="en-US" sz="900" dirty="0" err="1"/>
              <a:t>skip_github</a:t>
            </a:r>
            <a:r>
              <a:rPr lang="en-US" sz="900" dirty="0"/>
              <a:t>=False, </a:t>
            </a:r>
            <a:r>
              <a:rPr lang="en-US" sz="900" dirty="0" err="1"/>
              <a:t>llm_enabled</a:t>
            </a:r>
            <a:r>
              <a:rPr lang="en-US" sz="900" dirty="0"/>
              <a:t>=False)</a:t>
            </a:r>
          </a:p>
          <a:p>
            <a:r>
              <a:rPr lang="en-US" sz="900" dirty="0"/>
              <a:t>       ┌──────────────────────┐</a:t>
            </a:r>
          </a:p>
          <a:p>
            <a:r>
              <a:rPr lang="en-US" sz="900" dirty="0"/>
              <a:t>       │ </a:t>
            </a:r>
            <a:r>
              <a:rPr lang="en-US" sz="900" dirty="0" err="1"/>
              <a:t>run_direct_mode</a:t>
            </a:r>
            <a:r>
              <a:rPr lang="en-US" sz="900" dirty="0"/>
              <a:t>()    │</a:t>
            </a:r>
          </a:p>
          <a:p>
            <a:r>
              <a:rPr lang="en-US" sz="900" dirty="0"/>
              <a:t>       └─────────┬────────────┘</a:t>
            </a:r>
          </a:p>
          <a:p>
            <a:r>
              <a:rPr lang="en-US" sz="900" dirty="0"/>
              <a:t>               │</a:t>
            </a:r>
          </a:p>
          <a:p>
            <a:r>
              <a:rPr lang="en-US" sz="900" dirty="0"/>
              <a:t>    ┌──────────┼──────────┬──────────┬──────────┐</a:t>
            </a:r>
          </a:p>
          <a:p>
            <a:r>
              <a:rPr lang="en-US" sz="900" dirty="0"/>
              <a:t>    │          │          │          │          │</a:t>
            </a:r>
          </a:p>
          <a:p>
            <a:r>
              <a:rPr lang="en-US" sz="900" dirty="0"/>
              <a:t>    ▼          ▼          ▼          ▼          ▼</a:t>
            </a:r>
          </a:p>
          <a:p>
            <a:r>
              <a:rPr lang="en-US" sz="900" dirty="0"/>
              <a:t>[1/4]      [2/4]      [3/4]      [4/4]    Summary</a:t>
            </a:r>
          </a:p>
          <a:p>
            <a:r>
              <a:rPr lang="en-US" sz="900" dirty="0" err="1"/>
              <a:t>run_cert</a:t>
            </a:r>
            <a:r>
              <a:rPr lang="en-US" sz="900" dirty="0"/>
              <a:t>_  </a:t>
            </a:r>
            <a:r>
              <a:rPr lang="en-US" sz="900" dirty="0" err="1"/>
              <a:t>run_github</a:t>
            </a:r>
            <a:r>
              <a:rPr lang="en-US" sz="900" dirty="0"/>
              <a:t>  score_    evaluate  Generation</a:t>
            </a:r>
          </a:p>
          <a:p>
            <a:r>
              <a:rPr lang="en-US" sz="900" dirty="0"/>
              <a:t>checks()   </a:t>
            </a:r>
            <a:r>
              <a:rPr lang="en-US" sz="900" dirty="0" err="1"/>
              <a:t>nhi</a:t>
            </a:r>
            <a:r>
              <a:rPr lang="en-US" sz="900" dirty="0"/>
              <a:t>_        findings  policies()</a:t>
            </a:r>
          </a:p>
          <a:p>
            <a:r>
              <a:rPr lang="en-US" sz="900" dirty="0"/>
              <a:t>           discovery() ()</a:t>
            </a:r>
          </a:p>
          <a:p>
            <a:r>
              <a:rPr lang="en-US" sz="900" dirty="0"/>
              <a:t>    │          │          │          │</a:t>
            </a:r>
          </a:p>
          <a:p>
            <a:r>
              <a:rPr lang="en-US" sz="900" dirty="0"/>
              <a:t>    └──────────┴──────────┴──────────┴──────────┐</a:t>
            </a:r>
          </a:p>
          <a:p>
            <a:r>
              <a:rPr lang="en-US" sz="900" dirty="0"/>
              <a:t>                                                  │</a:t>
            </a:r>
          </a:p>
          <a:p>
            <a:r>
              <a:rPr lang="en-US" sz="900" dirty="0"/>
              <a:t>                                    ┌─────────────▼──────────────┐</a:t>
            </a:r>
          </a:p>
          <a:p>
            <a:r>
              <a:rPr lang="en-US" sz="900" dirty="0"/>
              <a:t>                                    │ Save to </a:t>
            </a:r>
            <a:r>
              <a:rPr lang="en-US" sz="900" dirty="0" err="1"/>
              <a:t>nhi_inventory.json</a:t>
            </a:r>
            <a:r>
              <a:rPr lang="en-US" sz="900" dirty="0"/>
              <a:t> │</a:t>
            </a:r>
          </a:p>
          <a:p>
            <a:r>
              <a:rPr lang="en-US" sz="900" dirty="0"/>
              <a:t>                                    │ Generate HTML report       │</a:t>
            </a:r>
          </a:p>
          <a:p>
            <a:r>
              <a:rPr lang="en-US" sz="900" dirty="0"/>
              <a:t>                                    │ Print summary              │</a:t>
            </a:r>
          </a:p>
          <a:p>
            <a:r>
              <a:rPr lang="en-US" sz="900" dirty="0"/>
              <a:t>                                    │ Exit (0 or 1)             │</a:t>
            </a:r>
          </a:p>
          <a:p>
            <a:r>
              <a:rPr lang="en-US" sz="900" dirty="0"/>
              <a:t>                                    └────────────────────────────┘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337714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1714" cy="65151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r>
              <a:rPr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SRS Traceability Matrix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Requirements mapped to design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0" y="4903470"/>
            <a:ext cx="822960" cy="24003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Rounded Rectangle 3"/>
          <p:cNvSpPr/>
          <p:nvPr/>
        </p:nvSpPr>
        <p:spPr>
          <a:xfrm>
            <a:off x="342900" y="822960"/>
            <a:ext cx="2194560" cy="288036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750"/>
              <a:t>SRS Requirement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9756" y="822960"/>
            <a:ext cx="1920240" cy="288036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750"/>
              <a:t>Design 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22292" y="822960"/>
            <a:ext cx="2263140" cy="288036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750"/>
              <a:t>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67728" y="822960"/>
            <a:ext cx="1920240" cy="288036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750"/>
              <a:t>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" y="1179576"/>
            <a:ext cx="219456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 sz="600"/>
              <a:t>FR-01: Discover SSL certs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19756" y="1179576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Discovery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2292" y="1179576"/>
            <a:ext cx="22631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cert_agent.py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7728" y="1179576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SSL scan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" y="1508760"/>
            <a:ext cx="219456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 sz="600"/>
              <a:t>FR-02: Discover GitHub NHIs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19756" y="1508760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Discovery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2292" y="1508760"/>
            <a:ext cx="22631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github_nhi_agent.py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67728" y="1508760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NHI findings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" y="1837944"/>
            <a:ext cx="219456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 sz="600"/>
              <a:t>FR-03: Risk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9756" y="1837944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Analysis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22292" y="1837944"/>
            <a:ext cx="22631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risk_scorer.py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7728" y="1837944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Score 0-100 + severity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" y="2167128"/>
            <a:ext cx="219456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 sz="600"/>
              <a:t>FR-04: Policy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19756" y="2167128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Analysis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2292" y="2167128"/>
            <a:ext cx="22631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nhi_policies.py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67728" y="2167128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Violations 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" y="2496312"/>
            <a:ext cx="219456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 sz="600"/>
              <a:t>FR-05: LLM enrichment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19756" y="2496312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Analysis (optional)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2292" y="2496312"/>
            <a:ext cx="22631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risk_scorer.py + OpenAI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67728" y="2496312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risk_reason field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" y="2825496"/>
            <a:ext cx="219456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 sz="600"/>
              <a:t>FR-06: HTML reporting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19756" y="2825496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Reporting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22292" y="2825496"/>
            <a:ext cx="22631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report_generator.py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67728" y="2825496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HTML file generated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" y="3154680"/>
            <a:ext cx="219456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 sz="600"/>
              <a:t>FR-07: JSON inventory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19756" y="3154680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Reporting Layer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22292" y="3154680"/>
            <a:ext cx="22631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report_generator.py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67728" y="3154680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nhi_inventory.json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" y="3483864"/>
            <a:ext cx="219456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 sz="600"/>
              <a:t>FR-08: Orchestration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19756" y="3483864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Orchestration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22292" y="3483864"/>
            <a:ext cx="22631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nhi_orchestrator.py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67728" y="3483864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End-to-end scan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" y="3813048"/>
            <a:ext cx="219456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 sz="600"/>
              <a:t>FR-09: Dashboard UI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19756" y="3813048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Presentation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22292" y="3813048"/>
            <a:ext cx="22631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React dashboard (9 pages)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67728" y="3813048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Visual verification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" y="4142232"/>
            <a:ext cx="219456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 sz="600"/>
              <a:t>NFR-01: No hardcoded secrets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19756" y="4142232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All modules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22292" y="4142232"/>
            <a:ext cx="22631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Env vars + config.yaml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67728" y="4142232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Code review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2900" y="4471416"/>
            <a:ext cx="219456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 sz="600"/>
              <a:t>NFR-02: Configurable thresholds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19756" y="4471416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config.yaml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22292" y="4471416"/>
            <a:ext cx="22631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YAML-driven agents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67728" y="4471416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Config validation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1714" cy="65151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Non-Functional Requirements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Performance, scalability, and security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857250"/>
            <a:ext cx="3977640" cy="17145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" rtlCol="0" anchor="ctr"/>
          <a:lstStyle/>
          <a:p>
            <a:pPr algn="l">
              <a:defRPr sz="1400" b="1">
                <a:solidFill>
                  <a:srgbClr val="4CAF50"/>
                </a:solidFill>
              </a:defRPr>
            </a:pPr>
            <a:r>
              <a:rPr sz="1050" dirty="0"/>
              <a:t>Performance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 dirty="0"/>
              <a:t>  •  Parallel discovery: cert + GitHub agents run concurrently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 dirty="0"/>
              <a:t>  •  SSL connect timeout: 10s per domain (configurable)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 dirty="0"/>
              <a:t>  •  GitHub API timeout: 60s for full repo scan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 dirty="0"/>
              <a:t>  •  LLM enrichment timeout: 120s (optional, skippable)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857250"/>
            <a:ext cx="3977640" cy="17145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" rtlCol="0" anchor="ctr"/>
          <a:lstStyle/>
          <a:p>
            <a:pPr algn="l">
              <a:defRPr sz="1400" b="1">
                <a:solidFill>
                  <a:srgbClr val="007ACC"/>
                </a:solidFill>
              </a:defRPr>
            </a:pPr>
            <a:r>
              <a:rPr sz="1050" dirty="0"/>
              <a:t>Scalability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 dirty="0"/>
              <a:t>  •  Modular agent design — add new NHI sources easily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 dirty="0"/>
              <a:t>  •  Config-driven: adjust thresholds without code changes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 dirty="0"/>
              <a:t>  •  JSON output enables downstream pipeline integration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 dirty="0"/>
              <a:t>  •  Docker deployment for horizontal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" y="2777490"/>
            <a:ext cx="3977640" cy="17145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" rtlCol="0" anchor="ctr"/>
          <a:lstStyle/>
          <a:p>
            <a:pPr algn="l">
              <a:defRPr sz="1400" b="1">
                <a:solidFill>
                  <a:srgbClr val="F44336"/>
                </a:solidFill>
              </a:defRPr>
            </a:pPr>
            <a:r>
              <a:rPr sz="1050"/>
              <a:t>Security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  •  No hardcoded credentials — env vars for tokens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  •  GitHub token: minimum read:repo scope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  •  LLM: only high-risk findings sent to API (score ≥ 50)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  •  Reports stored locally; no data exfiltration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777490"/>
            <a:ext cx="3977640" cy="17145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" rtlCol="0" anchor="ctr"/>
          <a:lstStyle/>
          <a:p>
            <a:pPr algn="l">
              <a:defRPr sz="1400" b="1">
                <a:solidFill>
                  <a:srgbClr val="9C27B0"/>
                </a:solidFill>
              </a:defRPr>
            </a:pPr>
            <a:r>
              <a:rPr sz="1050"/>
              <a:t>Reliability &amp; Maintainability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  •  Demo mode for testing without external dependencies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  •  Graceful error handling with timeout fallbacks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  •  Report archival with configurable max_reports limit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/>
              <a:t>  •  Policy engine structured for OPA Rego migration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82F7BC-F55B-92C5-1D42-8C4CB8E62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73" y="191926"/>
            <a:ext cx="4695986" cy="397375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Implementation Level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C4E19B3-5CA2-D17C-EE79-C472D51BD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97" y="928363"/>
            <a:ext cx="8587206" cy="39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Identity Governance System has transitioned from design to a functional implementation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core modules like the `github_nhi_agent.py` and `cert_agent.py` successfully discover credentials, while the `risk_scorer.py` and `nhi_policies.py` modules translate the theoretical 0–100 risk formula and seven governance rules (R001–R007) into deterministic Python logic. 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utilizes a modern stack—including Python for the backend, React for the dashboard,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LLM orchestration—to show full integration through the `nhi_orchestrator.py`, which sequences the pipeline from multi-level data discovery to the generation of visual HTML reports and structured JSON inventories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of this implementation is visible in the provided code snippets for automated policy enforcement and the rendered Mermaid architecture diagrams, demonstrating a working system where heterogeneous API data is successfully synthesized.</a:t>
            </a:r>
          </a:p>
        </p:txBody>
      </p:sp>
    </p:spTree>
    <p:extLst>
      <p:ext uri="{BB962C8B-B14F-4D97-AF65-F5344CB8AC3E}">
        <p14:creationId xmlns:p14="http://schemas.microsoft.com/office/powerpoint/2010/main" val="2095173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BC31C8-2690-D15E-DF15-7B64E35974DA}"/>
              </a:ext>
            </a:extLst>
          </p:cNvPr>
          <p:cNvSpPr txBox="1"/>
          <p:nvPr/>
        </p:nvSpPr>
        <p:spPr>
          <a:xfrm>
            <a:off x="3512185" y="2080800"/>
            <a:ext cx="2679815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2800"/>
              <a:buNone/>
              <a:defRPr i="1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IN" sz="3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813491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2126</Words>
  <Application>Microsoft Office PowerPoint</Application>
  <PresentationFormat>On-screen Show (16:9)</PresentationFormat>
  <Paragraphs>367</Paragraphs>
  <Slides>21</Slides>
  <Notes>8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Consolas</vt:lpstr>
      <vt:lpstr>Playfair Display</vt:lpstr>
      <vt:lpstr>Segoe WPC</vt:lpstr>
      <vt:lpstr>Times New Roman</vt:lpstr>
      <vt:lpstr>Simple Light</vt:lpstr>
      <vt:lpstr>PowerPoint Presentation</vt:lpstr>
      <vt:lpstr>PowerPoint Presentation</vt:lpstr>
      <vt:lpstr>Incorporation of Suggestions</vt:lpstr>
      <vt:lpstr>Level of Complexity</vt:lpstr>
      <vt:lpstr>Level of Complexity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 Level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Neethu Sreekumar</dc:creator>
  <cp:lastModifiedBy>Mishra, Umang</cp:lastModifiedBy>
  <cp:revision>512</cp:revision>
  <cp:lastPrinted>2024-02-08T09:21:00Z</cp:lastPrinted>
  <dcterms:created xsi:type="dcterms:W3CDTF">2024-02-20T06:21:43Z</dcterms:created>
  <dcterms:modified xsi:type="dcterms:W3CDTF">2026-05-07T06:27:20Z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709A11875FBE42968DB8B6F8F2D46D71_13</vt:lpwstr>
  </property>
  <property fmtid="{D5CDD505-2E9C-101B-9397-08002B2CF9AE}" pid="3" name="KSOProductBuildVer">
    <vt:lpwstr>1033-12.2.0.13431</vt:lpwstr>
  </property>
</Properties>
</file>