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1645920"/>
            <a:ext cx="10360152" cy="2011680"/>
          </a:xfrm>
          <a:prstGeom prst="round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IA-DevSecOps</a:t>
            </a:r>
          </a:p>
          <a:p>
            <a:pPr algn="ctr">
              <a:spcBef>
                <a:spcPts val="600"/>
              </a:spcBef>
              <a:defRPr sz="4000" b="1">
                <a:solidFill>
                  <a:srgbClr val="00BCD4"/>
                </a:solidFill>
              </a:defRPr>
            </a:pPr>
            <a:r>
              <a:t>Identity Governance System</a:t>
            </a:r>
          </a:p>
          <a:p>
            <a:pPr algn="ctr">
              <a:spcBef>
                <a:spcPts val="2000"/>
              </a:spcBef>
              <a:defRPr sz="1800" b="0">
                <a:solidFill>
                  <a:srgbClr val="BBBBBB"/>
                </a:solidFill>
              </a:defRPr>
            </a:pPr>
            <a:r>
              <a:t>System Design Document — Architecture, UML &amp;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3931920"/>
            <a:ext cx="3959352" cy="381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286000" y="4389120"/>
            <a:ext cx="7616952" cy="1371600"/>
          </a:xfrm>
          <a:prstGeom prst="round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BBBBBB"/>
                </a:solidFill>
              </a:defRPr>
            </a:pPr>
            <a:r>
              <a:t>Non-Human Identity (NHI) Governance for GitHub &amp; SSL/TLS Certificates</a:t>
            </a:r>
          </a:p>
          <a:p>
            <a:pPr algn="ctr">
              <a:spcBef>
                <a:spcPts val="1200"/>
              </a:spcBef>
              <a:defRPr sz="1300" b="0">
                <a:solidFill>
                  <a:srgbClr val="888888"/>
                </a:solidFill>
              </a:defRPr>
            </a:pPr>
            <a:r>
              <a:t>LangChain Orchestration  •  Risk Scoring  •  Policy Engine  •  React Dashboard</a:t>
            </a:r>
          </a:p>
          <a:p>
            <a:pPr algn="ctr">
              <a:spcBef>
                <a:spcPts val="1200"/>
              </a:spcBef>
              <a:defRPr sz="1200" b="0">
                <a:solidFill>
                  <a:srgbClr val="888888"/>
                </a:solidFill>
              </a:defRPr>
            </a:pPr>
            <a: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8686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spcBef>
                <a:spcPts val="1000"/>
              </a:spcBef>
              <a:defRPr sz="2600" b="1">
                <a:solidFill>
                  <a:srgbClr val="FFFFFF"/>
                </a:solidFill>
              </a:defRPr>
            </a:pPr>
            <a:r>
              <a:t>1. High-Level System Architecture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DDFF"/>
                </a:solidFill>
              </a:defRPr>
            </a:pPr>
            <a:r>
              <a:t>Block diagram — components and interactions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0" y="6537960"/>
            <a:ext cx="109728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4552" cy="1005840"/>
          </a:xfrm>
          <a:prstGeom prst="roundRect">
            <a:avLst/>
          </a:prstGeom>
          <a:solidFill>
            <a:srgbClr val="1A2340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defRPr sz="1200" b="1">
                <a:solidFill>
                  <a:srgbClr val="00BCD4"/>
                </a:solidFill>
              </a:defRPr>
            </a:pPr>
            <a:r>
              <a:t>INPUT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64008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EB3B"/>
                </a:solidFill>
              </a:defRPr>
            </a:pPr>
            <a:r>
              <a:t>GitHub API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PATs, Deploy Keys,</a:t>
            </a:r>
            <a:br/>
            <a:r>
              <a:t>Secrets,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371600"/>
            <a:ext cx="3291840" cy="64008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EB3B"/>
                </a:solidFill>
              </a:defRPr>
            </a:pPr>
            <a:r>
              <a:t>SSL/TLS Domains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Domain List, Ports,</a:t>
            </a:r>
            <a:br/>
            <a:r>
              <a:t>SNI Hostnames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71600"/>
            <a:ext cx="3291840" cy="64008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EB3B"/>
                </a:solidFill>
              </a:defRPr>
            </a:pPr>
            <a:r>
              <a:t>Configuration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Thresholds, Policy Rules,</a:t>
            </a:r>
            <a:br/>
            <a:r>
              <a:t>LLM Settings, Output Paths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52744" y="2148840"/>
            <a:ext cx="274320" cy="45720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2697480"/>
            <a:ext cx="11274552" cy="1188720"/>
          </a:xfrm>
          <a:prstGeom prst="roundRect">
            <a:avLst/>
          </a:prstGeom>
          <a:solidFill>
            <a:srgbClr val="1A2340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defRPr sz="1200" b="1">
                <a:solidFill>
                  <a:srgbClr val="4CAF50"/>
                </a:solidFill>
              </a:defRPr>
            </a:pPr>
            <a:r>
              <a:t>DISCOVERY LAYER  (Parallelizable)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63240"/>
            <a:ext cx="4572000" cy="73152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4CAF50"/>
                </a:solidFill>
              </a:defRPr>
            </a:pPr>
            <a:r>
              <a:t>cert_agent.py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Connect TLS → Extract Certs → Parse Expiry → Status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888888"/>
                </a:solidFill>
              </a:defRPr>
            </a:pPr>
            <a:r>
              <a:t>Output: [{host, days_left, status, ...}]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3063240"/>
            <a:ext cx="5303520" cy="73152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4CAF50"/>
                </a:solidFill>
              </a:defRPr>
            </a:pPr>
            <a:r>
              <a:t>github_nhi_agent.py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Query GitHub API → List Repos → Discover PATs/Keys/Secrets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888888"/>
                </a:solidFill>
              </a:defRPr>
            </a:pPr>
            <a:r>
              <a:t>Output: [{nhi_type, scopes, age_days, ...}]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52744" y="3931920"/>
            <a:ext cx="274320" cy="45720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4434840"/>
            <a:ext cx="11274552" cy="1280160"/>
          </a:xfrm>
          <a:prstGeom prst="roundRect">
            <a:avLst/>
          </a:prstGeom>
          <a:solidFill>
            <a:srgbClr val="1A2340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defRPr sz="1200" b="1">
                <a:solidFill>
                  <a:srgbClr val="FF9800"/>
                </a:solidFill>
              </a:defRPr>
            </a:pPr>
            <a:r>
              <a:t>ANALYSIS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54880"/>
            <a:ext cx="3657600" cy="82296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risk_scorer.py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Age(40) + Type(30) + Privilege(20) + SSL(10)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888888"/>
                </a:solidFill>
              </a:defRPr>
            </a:pPr>
            <a:r>
              <a:t>→ Score 0-100, Severity Label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4754880"/>
            <a:ext cx="3474720" cy="82296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nhi_policies.py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7 Rules: R001–R007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888888"/>
                </a:solidFill>
              </a:defRPr>
            </a:pPr>
            <a:r>
              <a:t>→ Violations[]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4754880"/>
            <a:ext cx="2743200" cy="82296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9C27B0"/>
                </a:solidFill>
              </a:defRPr>
            </a:pPr>
            <a:r>
              <a:t>LLM Enrichment (GPT-4o)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Optional: score ≥ 50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888888"/>
                </a:solidFill>
              </a:defRPr>
            </a:pPr>
            <a:r>
              <a:t>→ Natural language reasoning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52744" y="5760720"/>
            <a:ext cx="274320" cy="45720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200" y="5989320"/>
            <a:ext cx="11274552" cy="777240"/>
          </a:xfrm>
          <a:prstGeom prst="roundRect">
            <a:avLst/>
          </a:prstGeom>
          <a:solidFill>
            <a:srgbClr val="1A2340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defRPr sz="1200" b="1">
                <a:solidFill>
                  <a:srgbClr val="00BCD4"/>
                </a:solidFill>
              </a:defRPr>
            </a:pPr>
            <a:r>
              <a:t>REPORTING LAYER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6126480"/>
            <a:ext cx="4114800" cy="50292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1">
                <a:solidFill>
                  <a:srgbClr val="00BCD4"/>
                </a:solidFill>
              </a:defRPr>
            </a:pPr>
            <a:r>
              <a:t>report_generator.py  →  HTML + 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6126480"/>
            <a:ext cx="4114800" cy="50292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1">
                <a:solidFill>
                  <a:srgbClr val="00BCD4"/>
                </a:solidFill>
              </a:defRPr>
            </a:pPr>
            <a:r>
              <a:t>React Dashboard  →  9 Interactive Pages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8686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spcBef>
                <a:spcPts val="1000"/>
              </a:spcBef>
              <a:defRPr sz="2600" b="1">
                <a:solidFill>
                  <a:srgbClr val="FFFFFF"/>
                </a:solidFill>
              </a:defRPr>
            </a:pPr>
            <a:r>
              <a:t>2. Orchestration Pattern (LangChain)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DDFF"/>
                </a:solidFill>
              </a:defRPr>
            </a:pPr>
            <a:r>
              <a:t>GPT-4o agent tool-calling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0" y="6537960"/>
            <a:ext cx="109728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029200" cy="2743200"/>
          </a:xfrm>
          <a:prstGeom prst="roundRect">
            <a:avLst/>
          </a:prstGeom>
          <a:solidFill>
            <a:srgbClr val="1A2340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l">
              <a:defRPr sz="1400" b="1">
                <a:solidFill>
                  <a:srgbClr val="9C27B0"/>
                </a:solidFill>
              </a:defRPr>
            </a:pPr>
            <a:r>
              <a:t>nhi_orchestrator.py  —  LangChain Agent</a:t>
            </a:r>
          </a:p>
          <a:p>
            <a:pPr algn="l">
              <a:spcBef>
                <a:spcPts val="200"/>
              </a:spcBef>
              <a:defRPr sz="600" b="0">
                <a:solidFill>
                  <a:srgbClr val="FFFFFF"/>
                </a:solidFill>
              </a:defRPr>
            </a:pPr>
            <a:endParaRPr/>
          </a:p>
          <a:p>
            <a:pPr algn="l">
              <a:spcBef>
                <a:spcPts val="200"/>
              </a:spcBef>
              <a:defRPr sz="1100" b="1">
                <a:solidFill>
                  <a:srgbClr val="FFEB3B"/>
                </a:solidFill>
              </a:defRPr>
            </a:pPr>
            <a:r>
              <a:t>GPT-4o Agent decides: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Which tools to call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Execution order (parallel/sequential)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How to combine results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When to retry on error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Whether findings are satisfactory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023360"/>
            <a:ext cx="5029200" cy="1828800"/>
          </a:xfrm>
          <a:prstGeom prst="roundRect">
            <a:avLst/>
          </a:prstGeom>
          <a:solidFill>
            <a:srgbClr val="1A2340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defRPr sz="1200" b="1">
                <a:solidFill>
                  <a:srgbClr val="00BCD4"/>
                </a:solidFill>
              </a:defRPr>
            </a:pPr>
            <a:r>
              <a:t>Available LangChain Tools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1. SSLCertCheckTool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2. GitHubNHIDiscoveryTool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3. RiskScoringTool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4. PolicyCheckTool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5. ReportGenerationTool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097280"/>
            <a:ext cx="5486400" cy="658368"/>
          </a:xfrm>
          <a:prstGeom prst="roundRect">
            <a:avLst/>
          </a:prstGeom>
          <a:solidFill>
            <a:srgbClr val="182038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100" b="1">
                <a:solidFill>
                  <a:srgbClr val="4CAF50"/>
                </a:solidFill>
              </a:defRPr>
            </a:pPr>
            <a:r>
              <a:t>Step 1: Parallel Discovery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SSLCertCheck + GitHubNHI</a:t>
            </a:r>
          </a:p>
        </p:txBody>
      </p:sp>
      <p:sp>
        <p:nvSpPr>
          <p:cNvPr id="7" name="Down Arrow 6"/>
          <p:cNvSpPr/>
          <p:nvPr/>
        </p:nvSpPr>
        <p:spPr>
          <a:xfrm>
            <a:off x="8549640" y="1755648"/>
            <a:ext cx="274320" cy="146304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0" y="1901952"/>
            <a:ext cx="5486400" cy="658368"/>
          </a:xfrm>
          <a:prstGeom prst="roundRect">
            <a:avLst/>
          </a:prstGeom>
          <a:solidFill>
            <a:srgbClr val="182038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100" b="1">
                <a:solidFill>
                  <a:srgbClr val="007ACC"/>
                </a:solidFill>
              </a:defRPr>
            </a:pPr>
            <a:r>
              <a:t>Step 2: Merge Results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cert_findings + nhi_findings</a:t>
            </a:r>
          </a:p>
        </p:txBody>
      </p:sp>
      <p:sp>
        <p:nvSpPr>
          <p:cNvPr id="9" name="Down Arrow 8"/>
          <p:cNvSpPr/>
          <p:nvPr/>
        </p:nvSpPr>
        <p:spPr>
          <a:xfrm>
            <a:off x="8549640" y="2560320"/>
            <a:ext cx="274320" cy="146304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43600" y="2706624"/>
            <a:ext cx="5486400" cy="658368"/>
          </a:xfrm>
          <a:prstGeom prst="roundRect">
            <a:avLst/>
          </a:prstGeom>
          <a:solidFill>
            <a:srgbClr val="182038"/>
          </a:solidFill>
          <a:ln w="9525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Step 3: Risk Scoring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Score all findings (0-100)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8549640" y="3364992"/>
            <a:ext cx="274320" cy="146304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43600" y="3511296"/>
            <a:ext cx="5486400" cy="658368"/>
          </a:xfrm>
          <a:prstGeom prst="roundRect">
            <a:avLst/>
          </a:prstGeom>
          <a:solidFill>
            <a:srgbClr val="182038"/>
          </a:solidFill>
          <a:ln w="9525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Step 4: Policy Evaluation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7 rules → violations[]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549640" y="4169664"/>
            <a:ext cx="274320" cy="146304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0" y="4315968"/>
            <a:ext cx="5486400" cy="658368"/>
          </a:xfrm>
          <a:prstGeom prst="roundRect">
            <a:avLst/>
          </a:prstGeom>
          <a:solidFill>
            <a:srgbClr val="182038"/>
          </a:solidFill>
          <a:ln w="9525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100" b="1">
                <a:solidFill>
                  <a:srgbClr val="9C27B0"/>
                </a:solidFill>
              </a:defRPr>
            </a:pPr>
            <a:r>
              <a:t>Step 5: LLM Enrichment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GPT-4o for score ≥ 50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549640" y="4974336"/>
            <a:ext cx="274320" cy="146304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943600" y="5120640"/>
            <a:ext cx="5486400" cy="658368"/>
          </a:xfrm>
          <a:prstGeom prst="roundRect">
            <a:avLst/>
          </a:prstGeom>
          <a:solidFill>
            <a:srgbClr val="182038"/>
          </a:solidFill>
          <a:ln w="9525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100" b="1">
                <a:solidFill>
                  <a:srgbClr val="00BCD4"/>
                </a:solidFill>
              </a:defRPr>
            </a:pPr>
            <a:r>
              <a:t>Step 6: Report Generation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HTML + JSON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8686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spcBef>
                <a:spcPts val="1000"/>
              </a:spcBef>
              <a:defRPr sz="2600" b="1">
                <a:solidFill>
                  <a:srgbClr val="FFFFFF"/>
                </a:solidFill>
              </a:defRPr>
            </a:pPr>
            <a:r>
              <a:t>3. End-to-End Data Flow Pipeline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DDFF"/>
                </a:solidFill>
              </a:defRPr>
            </a:pPr>
            <a:r>
              <a:t>Data flow, processing, and output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0" y="6537960"/>
            <a:ext cx="109728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828800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457200"/>
            <a:ext cx="9144000" cy="118872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tlCol="0" anchor="ctr"/>
          <a:lstStyle/>
          <a:p>
            <a:pPr algn="l">
              <a:defRPr sz="1100" b="0">
                <a:solidFill>
                  <a:srgbClr val="BBBBBB"/>
                </a:solidFill>
              </a:defRPr>
            </a:pPr>
            <a:r>
              <a:t>domains.json</a:t>
            </a:r>
            <a:br/>
            <a:r>
              <a:t>GITHUB_TOKEN (env)</a:t>
            </a:r>
            <a:br/>
            <a:r>
              <a:t>config.yaml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52744" y="1691640"/>
            <a:ext cx="274320" cy="18288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182880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DISCOVERY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2377440"/>
            <a:ext cx="9144000" cy="118872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tlCol="0" anchor="ctr"/>
          <a:lstStyle/>
          <a:p>
            <a:pPr algn="l">
              <a:defRPr sz="1100" b="0">
                <a:solidFill>
                  <a:srgbClr val="BBBBBB"/>
                </a:solidFill>
              </a:defRPr>
            </a:pPr>
            <a:r>
              <a:t>cert_agent.py → SSL Checks</a:t>
            </a:r>
            <a:br/>
            <a:r>
              <a:t>github_nhi_agent.py → GitHub Scan</a:t>
            </a:r>
            <a:br/>
            <a:r>
              <a:t>→ MERGED FINDINGS[]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52744" y="3611880"/>
            <a:ext cx="274320" cy="18288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182880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4297680"/>
            <a:ext cx="9144000" cy="118872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tlCol="0" anchor="ctr"/>
          <a:lstStyle/>
          <a:p>
            <a:pPr algn="l">
              <a:defRPr sz="1100" b="0">
                <a:solidFill>
                  <a:srgbClr val="BBBBBB"/>
                </a:solidFill>
              </a:defRPr>
            </a:pPr>
            <a:r>
              <a:t>risk_scorer.py → Score 0-100</a:t>
            </a:r>
            <a:br/>
            <a:r>
              <a:t>nhi_policies.py → Violations[]</a:t>
            </a:r>
            <a:br/>
            <a:r>
              <a:t>GPT-4o → LLM Enrichment (optional)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52744" y="5532120"/>
            <a:ext cx="274320" cy="18288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5669280"/>
            <a:ext cx="1828800" cy="41148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REPORTING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5669280"/>
            <a:ext cx="9144000" cy="118872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tlCol="0" anchor="ctr"/>
          <a:lstStyle/>
          <a:p>
            <a:pPr algn="l">
              <a:defRPr sz="1100" b="0">
                <a:solidFill>
                  <a:srgbClr val="BBBBBB"/>
                </a:solidFill>
              </a:defRPr>
            </a:pPr>
            <a:r>
              <a:t>report_generator.py</a:t>
            </a:r>
            <a:br/>
            <a:r>
              <a:t>→ HTML Report (color-coded)</a:t>
            </a:r>
            <a:br/>
            <a:r>
              <a:t>→ JSON Inventory (machine-readable)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89320"/>
            <a:ext cx="11274552" cy="777240"/>
          </a:xfrm>
          <a:prstGeom prst="roundRect">
            <a:avLst/>
          </a:prstGeom>
          <a:solidFill>
            <a:srgbClr val="1A2340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defRPr sz="1200" b="1">
                <a:solidFill>
                  <a:srgbClr val="FFEB3B"/>
                </a:solidFill>
              </a:defRPr>
            </a:pPr>
            <a:r>
              <a:t>OUTPUT ARTIFACTS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/reports/nhi-governance-TIMESTAMP.html  •  /reports/nhi_inventory.json  •  React Dashboard (future)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8686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spcBef>
                <a:spcPts val="1000"/>
              </a:spcBef>
              <a:defRPr sz="2600" b="1">
                <a:solidFill>
                  <a:srgbClr val="FFFFFF"/>
                </a:solidFill>
              </a:defRPr>
            </a:pPr>
            <a:r>
              <a:t>4. Risk Scoring Calculation Algorithm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DDFF"/>
                </a:solidFill>
              </a:defRPr>
            </a:pPr>
            <a:r>
              <a:t>Deterministic scoring 0-100 with severity labeling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0" y="6537960"/>
            <a:ext cx="109728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88720" cy="68580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40 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3080" y="1097280"/>
            <a:ext cx="5303520" cy="68580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200" b="1">
                <a:solidFill>
                  <a:srgbClr val="F44336"/>
                </a:solidFill>
              </a:defRPr>
            </a:pPr>
            <a:r>
              <a:t>Age Component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age_ratio = min(age / max_age, 1.0) × 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88720" cy="6858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30 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3080" y="1965960"/>
            <a:ext cx="5303520" cy="68580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200" b="1">
                <a:solidFill>
                  <a:srgbClr val="FF9800"/>
                </a:solidFill>
              </a:defRPr>
            </a:pPr>
            <a:r>
              <a:t>Type Weight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PAT=30  DK_Write=30  DK_Read=18  Secret=14  SSL=10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34640"/>
            <a:ext cx="1188720" cy="6858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20 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2834640"/>
            <a:ext cx="5303520" cy="68580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200" b="1">
                <a:solidFill>
                  <a:srgbClr val="9C27B0"/>
                </a:solidFill>
              </a:defRPr>
            </a:pPr>
            <a:r>
              <a:t>Privilege Scope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20 if write/admin scope, 10 if read-only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03319"/>
            <a:ext cx="1188720" cy="6858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 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83080" y="3703319"/>
            <a:ext cx="5303520" cy="68580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200" b="1">
                <a:solidFill>
                  <a:srgbClr val="007ACC"/>
                </a:solidFill>
              </a:defRPr>
            </a:pPr>
            <a:r>
              <a:t>SSL Bonus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10 if CRITICAL, 5 if WARNING, 0 otherwise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663440"/>
            <a:ext cx="6629400" cy="54864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Total = Age + Type + Privilege + SSL  (capped at 100)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097280"/>
            <a:ext cx="4114800" cy="457200"/>
          </a:xfrm>
          <a:prstGeom prst="roundRect">
            <a:avLst/>
          </a:prstGeom>
          <a:solidFill>
            <a:srgbClr val="1A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FFEB3B"/>
                </a:solidFill>
              </a:defRPr>
            </a:pPr>
            <a:r>
              <a:t>Severity Classification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691640"/>
            <a:ext cx="4114800" cy="50292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CRITICAL  —  score ≥ 70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331720"/>
            <a:ext cx="4114800" cy="5029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HIGH  —  score ≥ 50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971800"/>
            <a:ext cx="4114800" cy="502920"/>
          </a:xfrm>
          <a:prstGeom prst="round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MEDIUM  —  score ≥ 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3611879"/>
            <a:ext cx="4114800" cy="5029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LOW  —  score &lt; 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297680"/>
            <a:ext cx="4114800" cy="228600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l">
              <a:defRPr sz="1200" b="1">
                <a:solidFill>
                  <a:srgbClr val="00BCD4"/>
                </a:solidFill>
              </a:defRPr>
            </a:pPr>
            <a:r>
              <a:t>Worked Example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PAT, 180 days old, admin:org scope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endParaRPr/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Age:  min(180/30, 1) × 40 = 40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Type: PAT = 30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Priv: admin:org → 20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SSL:  N/A → 0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─────────────────────</a:t>
            </a:r>
          </a:p>
          <a:p>
            <a:pPr algn="l">
              <a:spcBef>
                <a:spcPts val="200"/>
              </a:spcBef>
              <a:defRPr sz="1000" b="1">
                <a:solidFill>
                  <a:srgbClr val="F44336"/>
                </a:solidFill>
              </a:defRPr>
            </a:pPr>
            <a:r>
              <a:t>Total = 90 → CRITICAL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8686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spcBef>
                <a:spcPts val="1000"/>
              </a:spcBef>
              <a:defRPr sz="2600" b="1">
                <a:solidFill>
                  <a:srgbClr val="FFFFFF"/>
                </a:solidFill>
              </a:defRPr>
            </a:pPr>
            <a:r>
              <a:t>5. Execution Paths — Decision Tree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DDFF"/>
                </a:solidFill>
              </a:defRPr>
            </a:pPr>
            <a:r>
              <a:t>Flowchart of user invocation options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0" y="6537960"/>
            <a:ext cx="109728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754880" y="1051560"/>
            <a:ext cx="2651760" cy="4572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START: User Invokes System</a:t>
            </a:r>
          </a:p>
        </p:txBody>
      </p:sp>
      <p:sp>
        <p:nvSpPr>
          <p:cNvPr id="5" name="Down Arrow 4"/>
          <p:cNvSpPr/>
          <p:nvPr/>
        </p:nvSpPr>
        <p:spPr>
          <a:xfrm>
            <a:off x="3520440" y="1554480"/>
            <a:ext cx="274320" cy="22860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own Arrow 5"/>
          <p:cNvSpPr/>
          <p:nvPr/>
        </p:nvSpPr>
        <p:spPr>
          <a:xfrm>
            <a:off x="8366760" y="1554480"/>
            <a:ext cx="274320" cy="22860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371600" y="1874519"/>
            <a:ext cx="4572000" cy="146304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300" b="1">
                <a:solidFill>
                  <a:srgbClr val="4CAF50"/>
                </a:solidFill>
              </a:defRPr>
            </a:pPr>
            <a:r>
              <a:t>DEMO / TESTING MODE</a:t>
            </a:r>
          </a:p>
          <a:p>
            <a:pPr algn="l">
              <a:spcBef>
                <a:spcPts val="200"/>
              </a:spcBef>
              <a:defRPr sz="1100" b="1">
                <a:solidFill>
                  <a:srgbClr val="FFEB3B"/>
                </a:solidFill>
              </a:defRPr>
            </a:pPr>
            <a:r>
              <a:t>python demo/run_demo.py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No API keys needed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Mock data generation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Full policy evaluation + HTML report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Auto-opens in 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74519"/>
            <a:ext cx="5303520" cy="146304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300" b="1">
                <a:solidFill>
                  <a:srgbClr val="FF9800"/>
                </a:solidFill>
              </a:defRPr>
            </a:pPr>
            <a:r>
              <a:t>PRODUCTION MODE (requires API keys)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FFEB3B"/>
                </a:solidFill>
              </a:defRPr>
            </a:pPr>
            <a:r>
              <a:t>OPENAI_API_KEY + GITHUB_TOKEN + GITHUB_USERNAME</a:t>
            </a:r>
          </a:p>
          <a:p>
            <a:pPr algn="l">
              <a:spcBef>
                <a:spcPts val="200"/>
              </a:spcBef>
              <a:defRPr sz="400" b="0">
                <a:solidFill>
                  <a:srgbClr val="FFFFFF"/>
                </a:solidFill>
              </a:defRPr>
            </a:pPr>
            <a:endParaRPr/>
          </a:p>
          <a:p>
            <a:pPr algn="l"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Decision: LLM enrichment?</a:t>
            </a:r>
          </a:p>
        </p:txBody>
      </p:sp>
      <p:sp>
        <p:nvSpPr>
          <p:cNvPr id="9" name="Down Arrow 8"/>
          <p:cNvSpPr/>
          <p:nvPr/>
        </p:nvSpPr>
        <p:spPr>
          <a:xfrm>
            <a:off x="7635240" y="3429000"/>
            <a:ext cx="274320" cy="22860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own Arrow 9"/>
          <p:cNvSpPr/>
          <p:nvPr/>
        </p:nvSpPr>
        <p:spPr>
          <a:xfrm>
            <a:off x="9921240" y="3429000"/>
            <a:ext cx="274320" cy="22860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0" y="3749039"/>
            <a:ext cx="2926080" cy="137160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200" b="1">
                <a:solidFill>
                  <a:srgbClr val="9C27B0"/>
                </a:solidFill>
              </a:defRPr>
            </a:pPr>
            <a:r>
              <a:t>FULL ORCHESTRATION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FFEB3B"/>
                </a:solidFill>
              </a:defRPr>
            </a:pPr>
            <a:r>
              <a:t>python orchestrator/</a:t>
            </a:r>
            <a:br/>
            <a:r>
              <a:t>  nhi_orchestrator.py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LLM reasoning + full scan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3749039"/>
            <a:ext cx="2286000" cy="137160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200" b="1">
                <a:solidFill>
                  <a:srgbClr val="00BCD4"/>
                </a:solidFill>
              </a:defRPr>
            </a:pPr>
            <a:r>
              <a:t>DETERMINISTIC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FFEB3B"/>
                </a:solidFill>
              </a:defRPr>
            </a:pPr>
            <a:r>
              <a:t>nhi_orchestrator.py</a:t>
            </a:r>
            <a:br/>
            <a:r>
              <a:t>  --no-llm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No LLM costs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5394960"/>
            <a:ext cx="5486400" cy="109728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200" b="1">
                <a:solidFill>
                  <a:srgbClr val="FFEB3B"/>
                </a:solidFill>
              </a:defRPr>
            </a:pPr>
            <a:r>
              <a:t>Optional CLI Flags: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--skip-github     Cert-only mode (no GITHUB_TOKEN needed)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--no-llm          Pure deterministic scoring, no API cost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--run-now --once  Single scan for CI/CD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8686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spcBef>
                <a:spcPts val="1000"/>
              </a:spcBef>
              <a:defRPr sz="2600" b="1">
                <a:solidFill>
                  <a:srgbClr val="FFFFFF"/>
                </a:solidFill>
              </a:defRPr>
            </a:pPr>
            <a:r>
              <a:t>6. Policy Evaluation Rule Flow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DDFF"/>
                </a:solidFill>
              </a:defRPr>
            </a:pPr>
            <a:r>
              <a:t>7 policy rules with severity mapping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0" y="6537960"/>
            <a:ext cx="109728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822960" cy="59436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R001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051560"/>
            <a:ext cx="6858000" cy="59436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100" b="1">
                <a:solidFill>
                  <a:srgbClr val="F44336"/>
                </a:solidFill>
              </a:defRPr>
            </a:pPr>
            <a:r>
              <a:t>Classic PAT write scope rotation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PAT with write scopes → ROTATE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124712"/>
            <a:ext cx="1371600" cy="438912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01368"/>
            <a:ext cx="822960" cy="59436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R002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1801368"/>
            <a:ext cx="6858000" cy="59436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100" b="1">
                <a:solidFill>
                  <a:srgbClr val="F44336"/>
                </a:solidFill>
              </a:defRPr>
            </a:pPr>
            <a:r>
              <a:t>Deploy key write age check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Write deploy key &gt; max age → HIGH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874520"/>
            <a:ext cx="1371600" cy="438912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51176"/>
            <a:ext cx="822960" cy="5943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R003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2551176"/>
            <a:ext cx="6858000" cy="59436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Actions secret rotation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Secret not rotated in N days →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2624328"/>
            <a:ext cx="1371600" cy="438912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00984"/>
            <a:ext cx="822960" cy="59436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R004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3300984"/>
            <a:ext cx="6858000" cy="59436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100" b="1">
                <a:solidFill>
                  <a:srgbClr val="F44336"/>
                </a:solidFill>
              </a:defRPr>
            </a:pPr>
            <a:r>
              <a:t>SSL cert critical expiry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Cert expires &lt; 30 days → CRITICAL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3374136"/>
            <a:ext cx="1371600" cy="438912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CRITICAL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50792"/>
            <a:ext cx="822960" cy="5943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R005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7320" y="4050792"/>
            <a:ext cx="6858000" cy="59436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SSL cert warning expiry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Cert expires &lt; 60 days → WARNING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4123944"/>
            <a:ext cx="1371600" cy="438912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MEDIUM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800599"/>
            <a:ext cx="822960" cy="59436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R006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7320" y="4800599"/>
            <a:ext cx="6858000" cy="59436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100" b="1">
                <a:solidFill>
                  <a:srgbClr val="F44336"/>
                </a:solidFill>
              </a:defRPr>
            </a:pPr>
            <a:r>
              <a:t>Admin scope check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PAT with admin:org → always HIGH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4873751"/>
            <a:ext cx="1371600" cy="438912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550408"/>
            <a:ext cx="822960" cy="59436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R007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20" y="5550408"/>
            <a:ext cx="6858000" cy="59436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100" b="1">
                <a:solidFill>
                  <a:srgbClr val="F44336"/>
                </a:solidFill>
              </a:defRPr>
            </a:pPr>
            <a:r>
              <a:t>Score threshold check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Any credential score ≥ 70 → CRITICAL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5623560"/>
            <a:ext cx="1371600" cy="438912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CRITICAL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1051560"/>
            <a:ext cx="3931920" cy="182880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100" b="1">
                <a:solidFill>
                  <a:srgbClr val="00BCD4"/>
                </a:solidFill>
              </a:defRPr>
            </a:pPr>
            <a:r>
              <a:t>Config Thresholds (config.yaml)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pat_max_age_days: 30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deploy_key_write_max_days: 60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actions_secret_max_days: 90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red_days: 30 (cert critical)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yellow_days: 60 (cert warning)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3108960"/>
            <a:ext cx="3931920" cy="109728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100" b="1">
                <a:solidFill>
                  <a:srgbClr val="4CAF50"/>
                </a:solidFill>
              </a:defRPr>
            </a:pPr>
            <a:r>
              <a:t>Output: PolicyResult[]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rule_id, violated, severity,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message, recommended_action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8686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spcBef>
                <a:spcPts val="1000"/>
              </a:spcBef>
              <a:defRPr sz="2600" b="1">
                <a:solidFill>
                  <a:srgbClr val="FFFFFF"/>
                </a:solidFill>
              </a:defRPr>
            </a:pPr>
            <a:r>
              <a:t>7. State Diagrams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DDFF"/>
                </a:solidFill>
              </a:defRPr>
            </a:pPr>
            <a:r>
              <a:t>Finding lifecycle &amp; system execution states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0" y="6537960"/>
            <a:ext cx="109728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303520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Finding State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4754880" cy="77724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300" b="1">
                <a:solidFill>
                  <a:srgbClr val="4CAF50"/>
                </a:solidFill>
              </a:defRPr>
            </a:pPr>
            <a:r>
              <a:t>DISCOVERY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Raw Finding: host, status, no score</a:t>
            </a:r>
          </a:p>
        </p:txBody>
      </p:sp>
      <p:sp>
        <p:nvSpPr>
          <p:cNvPr id="6" name="Down Arrow 5"/>
          <p:cNvSpPr/>
          <p:nvPr/>
        </p:nvSpPr>
        <p:spPr>
          <a:xfrm>
            <a:off x="2971800" y="2423160"/>
            <a:ext cx="274320" cy="18288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4754880" cy="77724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300" b="1">
                <a:solidFill>
                  <a:srgbClr val="FF9800"/>
                </a:solidFill>
              </a:defRPr>
            </a:pPr>
            <a:r>
              <a:t>SCORING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Scored Finding: +score (0-100), +severity</a:t>
            </a:r>
          </a:p>
        </p:txBody>
      </p:sp>
      <p:sp>
        <p:nvSpPr>
          <p:cNvPr id="8" name="Down Arrow 7"/>
          <p:cNvSpPr/>
          <p:nvPr/>
        </p:nvSpPr>
        <p:spPr>
          <a:xfrm>
            <a:off x="2971800" y="3474720"/>
            <a:ext cx="274320" cy="18288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3703320"/>
            <a:ext cx="4754880" cy="77724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300" b="1">
                <a:solidFill>
                  <a:srgbClr val="9C27B0"/>
                </a:solidFill>
              </a:defRPr>
            </a:pPr>
            <a:r>
              <a:t>ENRICHMENT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Enriched Finding: +risk_reason (LLM)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971800" y="4526280"/>
            <a:ext cx="274320" cy="18288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4754879"/>
            <a:ext cx="4754880" cy="77724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300" b="1">
                <a:solidFill>
                  <a:srgbClr val="00BCD4"/>
                </a:solidFill>
              </a:defRPr>
            </a:pPr>
            <a:r>
              <a:t>REPORTING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Reported Finding: in HTML, JSON,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51560"/>
            <a:ext cx="5486400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System Execution State Machine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600200"/>
            <a:ext cx="5029200" cy="530352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100" b="1">
                <a:solidFill>
                  <a:srgbClr val="888888"/>
                </a:solidFill>
              </a:defRPr>
            </a:pPr>
            <a:r>
              <a:t>IDLE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Waiting for user input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869680" y="2148840"/>
            <a:ext cx="274320" cy="100584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92240" y="2267712"/>
            <a:ext cx="5029200" cy="530352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100" b="1">
                <a:solidFill>
                  <a:srgbClr val="007ACC"/>
                </a:solidFill>
              </a:defRPr>
            </a:pPr>
            <a:r>
              <a:t>INITIALIZATION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Load config, init agents, setup LangChain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869680" y="2816352"/>
            <a:ext cx="274320" cy="100584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92240" y="2935224"/>
            <a:ext cx="5029200" cy="530352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100" b="1">
                <a:solidFill>
                  <a:srgbClr val="4CAF50"/>
                </a:solidFill>
              </a:defRPr>
            </a:pPr>
            <a:r>
              <a:t>DISCOVERY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SSL + GitHub checks (parallel, timeouts)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869680" y="3483864"/>
            <a:ext cx="274320" cy="100584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92240" y="3602736"/>
            <a:ext cx="5029200" cy="530352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ANALYSIS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Scoring + policy evaluation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8869680" y="4151376"/>
            <a:ext cx="274320" cy="100584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92240" y="4270248"/>
            <a:ext cx="5029200" cy="530352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100" b="1">
                <a:solidFill>
                  <a:srgbClr val="9C27B0"/>
                </a:solidFill>
              </a:defRPr>
            </a:pPr>
            <a:r>
              <a:t>ENRICHMENT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Optional LLM (GPT-4o)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8869680" y="4818888"/>
            <a:ext cx="274320" cy="100584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92240" y="4937760"/>
            <a:ext cx="5029200" cy="530352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100" b="1">
                <a:solidFill>
                  <a:srgbClr val="00BCD4"/>
                </a:solidFill>
              </a:defRPr>
            </a:pPr>
            <a:r>
              <a:t>REPORTING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Generate HTML + JSON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8869680" y="5486400"/>
            <a:ext cx="274320" cy="100584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92240" y="5605272"/>
            <a:ext cx="5029200" cy="530352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100" b="1">
                <a:solidFill>
                  <a:srgbClr val="888888"/>
                </a:solidFill>
              </a:defRPr>
            </a:pPr>
            <a:r>
              <a:t>COMPLETE → IDLE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Report path returned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8686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spcBef>
                <a:spcPts val="1000"/>
              </a:spcBef>
              <a:defRPr sz="2600" b="1">
                <a:solidFill>
                  <a:srgbClr val="FFFFFF"/>
                </a:solidFill>
              </a:defRPr>
            </a:pPr>
            <a:r>
              <a:t>8. Sequence Diagram — Full Orchestration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DDFF"/>
                </a:solidFill>
              </a:defRPr>
            </a:pPr>
            <a:r>
              <a:t>UML Sequence: actors, messages, and timeline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0" y="6537960"/>
            <a:ext cx="109728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28016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1417320"/>
            <a:ext cx="25400" cy="51206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60320" y="1051560"/>
            <a:ext cx="128016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Orchestrator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417320"/>
            <a:ext cx="25400" cy="51206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663440" y="1051560"/>
            <a:ext cx="128016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CertAgent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417320"/>
            <a:ext cx="25400" cy="51206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9360" y="1051560"/>
            <a:ext cx="128016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GitHubAgent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417320"/>
            <a:ext cx="25400" cy="51206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955279" y="1051560"/>
            <a:ext cx="128016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RiskScorer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39" y="1417320"/>
            <a:ext cx="25400" cy="51206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418320" y="1051560"/>
            <a:ext cx="128016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PolicyEngine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12680" y="1417320"/>
            <a:ext cx="25400" cy="51206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881360" y="1051560"/>
            <a:ext cx="128016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ReportGen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75720" y="1417320"/>
            <a:ext cx="25400" cy="51206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97280" y="1554480"/>
            <a:ext cx="2103120" cy="256032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t>invoke scan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1920240"/>
            <a:ext cx="1828800" cy="27432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tlCol="0" anchor="ctr"/>
          <a:lstStyle/>
          <a:p>
            <a:pPr algn="l">
              <a:defRPr sz="700" b="0">
                <a:solidFill>
                  <a:srgbClr val="9C27B0"/>
                </a:solidFill>
              </a:defRPr>
            </a:pPr>
            <a:r>
              <a:t>load config.yaml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2377440"/>
            <a:ext cx="2103120" cy="256032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tlCol="0" anchor="ctr"/>
          <a:lstStyle/>
          <a:p>
            <a:pPr algn="l">
              <a:defRPr sz="700" b="0">
                <a:solidFill>
                  <a:srgbClr val="4CAF50"/>
                </a:solidFill>
              </a:defRPr>
            </a:pPr>
            <a:r>
              <a:t>SSLCertCheck (parallel)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2377440"/>
            <a:ext cx="3749040" cy="256032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tlCol="0" anchor="ctr"/>
          <a:lstStyle/>
          <a:p>
            <a:pPr algn="l">
              <a:defRPr sz="700" b="0">
                <a:solidFill>
                  <a:srgbClr val="4CAF50"/>
                </a:solidFill>
              </a:defRPr>
            </a:pPr>
            <a:r>
              <a:t>GitHubNHIDiscovery (parallel)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2880360"/>
            <a:ext cx="2103120" cy="256032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t>cert_findings[]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2880360"/>
            <a:ext cx="3749040" cy="256032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t>nhi_findings[]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3383280"/>
            <a:ext cx="5394959" cy="256032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t>score(merged_findings)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3749039"/>
            <a:ext cx="5394959" cy="256032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t>scored_findings[]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4160520"/>
            <a:ext cx="6858000" cy="256032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t>evaluate(scored)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4526280"/>
            <a:ext cx="6858000" cy="256032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t>violations[]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4892040"/>
            <a:ext cx="1828800" cy="27432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tlCol="0" anchor="ctr"/>
          <a:lstStyle/>
          <a:p>
            <a:pPr algn="l">
              <a:defRPr sz="700" b="0">
                <a:solidFill>
                  <a:srgbClr val="9C27B0"/>
                </a:solidFill>
              </a:defRPr>
            </a:pPr>
            <a:r>
              <a:t>GPT-4o enrich (if enabled)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0" y="5349240"/>
            <a:ext cx="8321040" cy="256032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t>generate(findings, violations)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5715000"/>
            <a:ext cx="8321040" cy="256032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t>report_path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6080760"/>
            <a:ext cx="2103120" cy="256032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t>return HTML path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8686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spcBef>
                <a:spcPts val="1000"/>
              </a:spcBef>
              <a:defRPr sz="2600" b="1">
                <a:solidFill>
                  <a:srgbClr val="FFFFFF"/>
                </a:solidFill>
              </a:defRPr>
            </a:pPr>
            <a:r>
              <a:t>9. Component Interaction Matrix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DDFF"/>
                </a:solidFill>
              </a:defRPr>
            </a:pPr>
            <a:r>
              <a:t>Module-wise design — inputs, outputs, and dependencies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0" y="6537960"/>
            <a:ext cx="109728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011680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Component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06040" y="1097280"/>
            <a:ext cx="2286000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Depends 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097280"/>
            <a:ext cx="2103120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Called By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0" y="1097280"/>
            <a:ext cx="2286000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097280"/>
            <a:ext cx="1828800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2011680" cy="658368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1">
                <a:solidFill>
                  <a:srgbClr val="00BCD4"/>
                </a:solidFill>
              </a:defRPr>
            </a:pPr>
            <a:r>
              <a:t>cert_agent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1645920"/>
            <a:ext cx="2286000" cy="658368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config.yaml</a:t>
            </a:r>
            <a:br/>
            <a:r>
              <a:t>domains.json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645920"/>
            <a:ext cx="2103120" cy="658368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orchestrator</a:t>
            </a:r>
            <a:br/>
            <a:r>
              <a:t>demo/run_demo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1645920"/>
            <a:ext cx="2286000" cy="658368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domains.json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1645920"/>
            <a:ext cx="1828800" cy="658368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SSL findings[]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423160"/>
            <a:ext cx="2011680" cy="658368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1">
                <a:solidFill>
                  <a:srgbClr val="00BCD4"/>
                </a:solidFill>
              </a:defRPr>
            </a:pPr>
            <a:r>
              <a:t>github_nhi_agent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40" y="2423160"/>
            <a:ext cx="2286000" cy="658368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config.yaml</a:t>
            </a:r>
            <a:br/>
            <a:r>
              <a:t>GitHub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2423160"/>
            <a:ext cx="2103120" cy="658368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orchestrator</a:t>
            </a:r>
            <a:br/>
            <a:r>
              <a:t>demo/run_demo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2423160"/>
            <a:ext cx="2286000" cy="658368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GitHub API</a:t>
            </a:r>
            <a:br/>
            <a:r>
              <a:t>env vars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2423160"/>
            <a:ext cx="1828800" cy="658368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NHI findings[]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00400"/>
            <a:ext cx="2011680" cy="658368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1">
                <a:solidFill>
                  <a:srgbClr val="00BCD4"/>
                </a:solidFill>
              </a:defRPr>
            </a:pPr>
            <a:r>
              <a:t>risk_scorer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06040" y="3200400"/>
            <a:ext cx="2286000" cy="658368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config.yaml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3200400"/>
            <a:ext cx="2103120" cy="658368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orchestrator</a:t>
            </a:r>
            <a:br/>
            <a:r>
              <a:t>policies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3200400"/>
            <a:ext cx="2286000" cy="658368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findings[]</a:t>
            </a:r>
            <a:br/>
            <a:r>
              <a:t>config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3200400"/>
            <a:ext cx="1828800" cy="658368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scored findings[]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977640"/>
            <a:ext cx="2011680" cy="658368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1">
                <a:solidFill>
                  <a:srgbClr val="00BCD4"/>
                </a:solidFill>
              </a:defRPr>
            </a:pPr>
            <a:r>
              <a:t>nhi_policies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06040" y="3977640"/>
            <a:ext cx="2286000" cy="658368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config.yaml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977640"/>
            <a:ext cx="2103120" cy="658368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orchestrator</a:t>
            </a:r>
            <a:br/>
            <a:r>
              <a:t>demo/run_demo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9480" y="3977640"/>
            <a:ext cx="2286000" cy="658368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findings[]</a:t>
            </a:r>
            <a:br/>
            <a:r>
              <a:t>config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3977640"/>
            <a:ext cx="1828800" cy="658368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violations[]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754880"/>
            <a:ext cx="2011680" cy="658368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1">
                <a:solidFill>
                  <a:srgbClr val="00BCD4"/>
                </a:solidFill>
              </a:defRPr>
            </a:pPr>
            <a:r>
              <a:t>report_generator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06040" y="4754880"/>
            <a:ext cx="2286000" cy="658368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config.yaml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4754880"/>
            <a:ext cx="2103120" cy="658368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orchestrator</a:t>
            </a:r>
            <a:br/>
            <a:r>
              <a:t>demo/run_demo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69480" y="4754880"/>
            <a:ext cx="2286000" cy="658368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findings[]</a:t>
            </a:r>
            <a:br/>
            <a:r>
              <a:t>violations[]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92640" y="4754880"/>
            <a:ext cx="1828800" cy="658368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HTML + JSON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532120"/>
            <a:ext cx="2011680" cy="658368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1">
                <a:solidFill>
                  <a:srgbClr val="00BCD4"/>
                </a:solidFill>
              </a:defRPr>
            </a:pPr>
            <a:r>
              <a:t>nhi_orchestrator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06040" y="5532120"/>
            <a:ext cx="2286000" cy="658368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all agents</a:t>
            </a:r>
            <a:br/>
            <a:r>
              <a:t>LangChain</a:t>
            </a:r>
            <a:br/>
            <a:r>
              <a:t>OpenAI API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0" y="5532120"/>
            <a:ext cx="2103120" cy="658368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user</a:t>
            </a:r>
            <a:br/>
            <a:r>
              <a:t>CI/CD</a:t>
            </a:r>
            <a:br/>
            <a:r>
              <a:t>scheduler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69480" y="5532120"/>
            <a:ext cx="2286000" cy="658368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CLI args</a:t>
            </a:r>
            <a:br/>
            <a:r>
              <a:t>config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92640" y="5532120"/>
            <a:ext cx="1828800" cy="658368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HTML + JSON</a:t>
            </a:r>
            <a:br/>
            <a:r>
              <a:t>report path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8686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spcBef>
                <a:spcPts val="1000"/>
              </a:spcBef>
              <a:defRPr sz="2600" b="1">
                <a:solidFill>
                  <a:srgbClr val="FFFFFF"/>
                </a:solidFill>
              </a:defRPr>
            </a:pPr>
            <a:r>
              <a:t>10. Deployment Architecture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DDFF"/>
                </a:solidFill>
              </a:defRPr>
            </a:pPr>
            <a:r>
              <a:t>Local, CI/CD, Docker, and REST API deployment options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0" y="6537960"/>
            <a:ext cx="109728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201168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l">
              <a:defRPr sz="1400" b="1">
                <a:solidFill>
                  <a:srgbClr val="4CAF50"/>
                </a:solidFill>
              </a:defRPr>
            </a:pPr>
            <a:r>
              <a:t>LOCAL DEV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Python 3.10+ with .venv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Direct module invocation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React dev server (Vite)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python orchestrator/nhi_orchestrator.py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383280"/>
            <a:ext cx="5303520" cy="201168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l">
              <a:defRPr sz="1400" b="1">
                <a:solidFill>
                  <a:srgbClr val="007ACC"/>
                </a:solidFill>
              </a:defRPr>
            </a:pPr>
            <a:r>
              <a:t>GITHUB ACTIONS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nhi-governance.yml workflow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Scheduled: 2 AM daily (cron)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Auto publish report artifact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Create GitHub Issues for violations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303520" cy="201168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l">
              <a:defRPr sz="1400" b="1">
                <a:solidFill>
                  <a:srgbClr val="FF9800"/>
                </a:solidFill>
              </a:defRPr>
            </a:pPr>
            <a:r>
              <a:t>DOCKER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Base: Python 3.10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ENTRYPOINT: nhi_orchestrator.py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Env: GITHUB_TOKEN, OPENAI_API_KEY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Volume mount /reports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383280"/>
            <a:ext cx="5303520" cy="201168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l">
              <a:defRPr sz="1400" b="1">
                <a:solidFill>
                  <a:srgbClr val="9C27B0"/>
                </a:solidFill>
              </a:defRPr>
            </a:pPr>
            <a:r>
              <a:t>REST API (Future)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Flask/FastAPI backend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GET /api/findings, /api/violations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POST /api/scan (trigger scan)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React frontend ↔ REST ↔ 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8686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spcBef>
                <a:spcPts val="1000"/>
              </a:spcBef>
              <a:defRPr sz="2600" b="1">
                <a:solidFill>
                  <a:srgbClr val="FFFFFF"/>
                </a:solidFill>
              </a:defRPr>
            </a:pPr>
            <a:r>
              <a:t>11. Technology Stack Diagram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DDFF"/>
                </a:solidFill>
              </a:defRPr>
            </a:pPr>
            <a:r>
              <a:t>Layered architecture — application, middleware, infrastructure, external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0" y="6537960"/>
            <a:ext cx="109728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4552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APPLICATION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73152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defRPr sz="1100" b="1">
                <a:solidFill>
                  <a:srgbClr val="007ACC"/>
                </a:solidFill>
              </a:defRPr>
            </a:pPr>
            <a:r>
              <a:t>Backend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nhi_orchestrator.py, cert_agent.py, github_nhi_agent.py, risk_scorer.py, nhi_policies.py, report_generator.py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486400" cy="73152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defRPr sz="1100" b="1">
                <a:solidFill>
                  <a:srgbClr val="007ACC"/>
                </a:solidFill>
              </a:defRPr>
            </a:pPr>
            <a:r>
              <a:t>Frontend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React 18, TypeScript 5, Vite, Lucide Icons, Vanilla CSS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23160"/>
            <a:ext cx="11274552" cy="4114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MIDDLEWARE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5486400" cy="73152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defRPr sz="1100" b="1">
                <a:solidFill>
                  <a:srgbClr val="9C27B0"/>
                </a:solidFill>
              </a:defRPr>
            </a:pPr>
            <a:r>
              <a:t>AI/Orchestration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LangChain, OpenAI GPT-4o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926080"/>
            <a:ext cx="5486400" cy="73152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defRPr sz="1100" b="1">
                <a:solidFill>
                  <a:srgbClr val="9C27B0"/>
                </a:solidFill>
              </a:defRPr>
            </a:pPr>
            <a:r>
              <a:t>Data/Config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Pydantic (validation), YAML (config), Schedule (scheduling)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94760"/>
            <a:ext cx="11274552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INFRASTRUCTURE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5486400" cy="73152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defRPr sz="1100" b="1">
                <a:solidFill>
                  <a:srgbClr val="4CAF50"/>
                </a:solidFill>
              </a:defRPr>
            </a:pPr>
            <a:r>
              <a:t>Python Ecosystem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Python 3.10+, ssl/socket (stdlib), requests, PyGithub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297680"/>
            <a:ext cx="5486400" cy="73152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defRPr sz="1100" b="1">
                <a:solidFill>
                  <a:srgbClr val="4CAF50"/>
                </a:solidFill>
              </a:defRPr>
            </a:pPr>
            <a:r>
              <a:t>JS Ecosystem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Node.js 18+, npm, ESLint, Vite dev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166360"/>
            <a:ext cx="11274552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EXTERNAL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669280"/>
            <a:ext cx="5486400" cy="73152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APIs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GitHub API (discovery), OpenAI API (LLM enrichment)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5669280"/>
            <a:ext cx="5486400" cy="73152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Network/Storage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SSL/TLS servers (cert checks), File system (/reports/)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8686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spcBef>
                <a:spcPts val="1000"/>
              </a:spcBef>
              <a:defRPr sz="2600" b="1">
                <a:solidFill>
                  <a:srgbClr val="FFFFFF"/>
                </a:solidFill>
              </a:defRPr>
            </a:pPr>
            <a:r>
              <a:t>12. UML Class Diagram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DDFF"/>
                </a:solidFill>
              </a:defRPr>
            </a:pPr>
            <a:r>
              <a:t>Key data models and their relationships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0" y="6537960"/>
            <a:ext cx="109728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3474720" cy="2514600"/>
          </a:xfrm>
          <a:prstGeom prst="roundRect">
            <a:avLst/>
          </a:prstGeom>
          <a:solidFill>
            <a:srgbClr val="182038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411480" rtlCol="0" anchor="ctr"/>
          <a:lstStyle/>
          <a:p>
            <a:pPr algn="l">
              <a:defRPr sz="100" b="0">
                <a:solidFill>
                  <a:srgbClr val="0F172A"/>
                </a:solidFill>
              </a:defRPr>
            </a:pPr>
            <a:endParaRPr/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nhi_type: Enum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id: str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name: str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host: str | None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days_left: int | None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status: str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scopes: list[str]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score: int (0-100)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severity: Enum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risk_reason: str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347472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«class» Finding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051560"/>
            <a:ext cx="3474720" cy="2514600"/>
          </a:xfrm>
          <a:prstGeom prst="roundRect">
            <a:avLst/>
          </a:prstGeom>
          <a:solidFill>
            <a:srgbClr val="182038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411480" rtlCol="0" anchor="ctr"/>
          <a:lstStyle/>
          <a:p>
            <a:pPr algn="l">
              <a:defRPr sz="100" b="0">
                <a:solidFill>
                  <a:srgbClr val="0F172A"/>
                </a:solidFill>
              </a:defRPr>
            </a:pPr>
            <a:endParaRPr/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rule_id: str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rule_name: str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violated: bool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severity: Enum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message: str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finding_id: str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finding_name: str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nhi_type: str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recommended_action: str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extra: dict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051560"/>
            <a:ext cx="3474720" cy="3657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«class» PolicyResult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051560"/>
            <a:ext cx="3474720" cy="1673352"/>
          </a:xfrm>
          <a:prstGeom prst="roundRect">
            <a:avLst/>
          </a:prstGeom>
          <a:solidFill>
            <a:srgbClr val="182038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411480" rtlCol="0" anchor="ctr"/>
          <a:lstStyle/>
          <a:p>
            <a:pPr algn="l">
              <a:defRPr sz="100" b="0">
                <a:solidFill>
                  <a:srgbClr val="0F172A"/>
                </a:solidFill>
              </a:defRPr>
            </a:pPr>
            <a:endParaRPr/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pat: Finding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deploy_keys: list[Finding]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actions_secrets: list[Finding]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workflow_secret_refs: dict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repos_scanned: list[str]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scan_time: str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051560"/>
            <a:ext cx="347472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«class» GitHubResults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4206240"/>
            <a:ext cx="3474720" cy="1042416"/>
          </a:xfrm>
          <a:prstGeom prst="roundRect">
            <a:avLst/>
          </a:prstGeom>
          <a:solidFill>
            <a:srgbClr val="182038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411480" rtlCol="0" anchor="ctr"/>
          <a:lstStyle/>
          <a:p>
            <a:pPr algn="l">
              <a:defRPr sz="100" b="0">
                <a:solidFill>
                  <a:srgbClr val="0F172A"/>
                </a:solidFill>
              </a:defRPr>
            </a:pPr>
            <a:endParaRPr/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id: str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name: str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type: Enum (nightly/weekly/...)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4206240"/>
            <a:ext cx="3474720" cy="3657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«class» ScanSchedule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06240"/>
            <a:ext cx="3474720" cy="1673352"/>
          </a:xfrm>
          <a:prstGeom prst="roundRect">
            <a:avLst/>
          </a:prstGeom>
          <a:solidFill>
            <a:srgbClr val="182038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411480" rtlCol="0" anchor="ctr"/>
          <a:lstStyle/>
          <a:p>
            <a:pPr algn="l">
              <a:defRPr sz="100" b="0">
                <a:solidFill>
                  <a:srgbClr val="0F172A"/>
                </a:solidFill>
              </a:defRPr>
            </a:pPr>
            <a:endParaRPr/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thresholds: {red_days, yellow_days}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github: {username, scan_all_repos}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nhi_policy: {pat_max_age_days, ...}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ssl: {connect_timeout, domains_file}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llm: {model, enabled, min_score}</a:t>
            </a:r>
          </a:p>
          <a:p>
            <a:pPr algn="l">
              <a:spcBef>
                <a:spcPts val="100"/>
              </a:spcBef>
              <a:defRPr sz="800" b="0">
                <a:solidFill>
                  <a:srgbClr val="BBBBBB"/>
                </a:solidFill>
              </a:defRPr>
            </a:pPr>
            <a:r>
              <a:t>+ reporting: {output_dir, prefix}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06240"/>
            <a:ext cx="3474720" cy="36576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«class» Config (config.yaml)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474720"/>
            <a:ext cx="3200400" cy="320040"/>
          </a:xfrm>
          <a:prstGeom prst="roundRect">
            <a:avLst/>
          </a:prstGeom>
          <a:solidFill>
            <a:srgbClr val="1A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1">
                <a:solidFill>
                  <a:srgbClr val="FFEB3B"/>
                </a:solidFill>
              </a:defRPr>
            </a:pPr>
            <a:r>
              <a:t>Finding  1──* PolicyResult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3383280"/>
            <a:ext cx="3200400" cy="320040"/>
          </a:xfrm>
          <a:prstGeom prst="roundRect">
            <a:avLst/>
          </a:prstGeom>
          <a:solidFill>
            <a:srgbClr val="1A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1">
                <a:solidFill>
                  <a:srgbClr val="FFEB3B"/>
                </a:solidFill>
              </a:defRPr>
            </a:pPr>
            <a:r>
              <a:t>GitHubResults  1──* Finding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6373368"/>
            <a:ext cx="3200400" cy="320040"/>
          </a:xfrm>
          <a:prstGeom prst="roundRect">
            <a:avLst/>
          </a:prstGeom>
          <a:solidFill>
            <a:srgbClr val="1A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1">
                <a:solidFill>
                  <a:srgbClr val="FFEB3B"/>
                </a:solidFill>
              </a:defRPr>
            </a:pPr>
            <a:r>
              <a:t>Config  →  all modules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8686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spcBef>
                <a:spcPts val="1000"/>
              </a:spcBef>
              <a:defRPr sz="2600" b="1">
                <a:solidFill>
                  <a:srgbClr val="FFFFFF"/>
                </a:solidFill>
              </a:defRPr>
            </a:pPr>
            <a:r>
              <a:t>13. UML Component Diagram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DDFF"/>
                </a:solidFill>
              </a:defRPr>
            </a:pPr>
            <a:r>
              <a:t>System components, interfaces, and dependencies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0" y="6537960"/>
            <a:ext cx="109728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0" y="1097280"/>
            <a:ext cx="4114800" cy="1097280"/>
          </a:xfrm>
          <a:prstGeom prst="roundRect">
            <a:avLst/>
          </a:prstGeom>
          <a:solidFill>
            <a:srgbClr val="182038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1100" b="1">
                <a:solidFill>
                  <a:srgbClr val="9C27B0"/>
                </a:solidFill>
              </a:defRPr>
            </a:pPr>
            <a:r>
              <a:t>«component»</a:t>
            </a:r>
            <a:br/>
            <a:r>
              <a:t>NHI Orchestrator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3017520" cy="1097280"/>
          </a:xfrm>
          <a:prstGeom prst="roundRect">
            <a:avLst/>
          </a:prstGeom>
          <a:solidFill>
            <a:srgbClr val="182038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1100" b="1">
                <a:solidFill>
                  <a:srgbClr val="4CAF50"/>
                </a:solidFill>
              </a:defRPr>
            </a:pPr>
            <a:r>
              <a:t>«component»</a:t>
            </a:r>
            <a:br/>
            <a:r>
              <a:t>Cert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2743200"/>
            <a:ext cx="3017520" cy="1097280"/>
          </a:xfrm>
          <a:prstGeom prst="roundRect">
            <a:avLst/>
          </a:prstGeom>
          <a:solidFill>
            <a:srgbClr val="182038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1100" b="1">
                <a:solidFill>
                  <a:srgbClr val="4CAF50"/>
                </a:solidFill>
              </a:defRPr>
            </a:pPr>
            <a:r>
              <a:t>«component»</a:t>
            </a:r>
            <a:br/>
            <a:r>
              <a:t>GitHub NHI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743200"/>
            <a:ext cx="2011680" cy="1097280"/>
          </a:xfrm>
          <a:prstGeom prst="roundRect">
            <a:avLst/>
          </a:prstGeom>
          <a:solidFill>
            <a:srgbClr val="182038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1100" b="1">
                <a:solidFill>
                  <a:srgbClr val="FF9800"/>
                </a:solidFill>
              </a:defRPr>
            </a:pPr>
            <a:r>
              <a:t>«component»</a:t>
            </a:r>
            <a:br/>
            <a:r>
              <a:t>Risk Scorer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2743200"/>
            <a:ext cx="2011680" cy="1097280"/>
          </a:xfrm>
          <a:prstGeom prst="roundRect">
            <a:avLst/>
          </a:prstGeom>
          <a:solidFill>
            <a:srgbClr val="182038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1100" b="1">
                <a:solidFill>
                  <a:srgbClr val="FF9800"/>
                </a:solidFill>
              </a:defRPr>
            </a:pPr>
            <a:r>
              <a:t>«component»</a:t>
            </a:r>
            <a:br/>
            <a:r>
              <a:t>Policy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4572000"/>
            <a:ext cx="4114800" cy="1097280"/>
          </a:xfrm>
          <a:prstGeom prst="roundRect">
            <a:avLst/>
          </a:prstGeom>
          <a:solidFill>
            <a:srgbClr val="182038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1100" b="1">
                <a:solidFill>
                  <a:srgbClr val="00BCD4"/>
                </a:solidFill>
              </a:defRPr>
            </a:pPr>
            <a:r>
              <a:t>«component»</a:t>
            </a:r>
            <a:br/>
            <a:r>
              <a:t>Report Generator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4572000"/>
            <a:ext cx="3017520" cy="1097280"/>
          </a:xfrm>
          <a:prstGeom prst="roundRect">
            <a:avLst/>
          </a:prstGeom>
          <a:solidFill>
            <a:srgbClr val="182038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1100" b="1">
                <a:solidFill>
                  <a:srgbClr val="00BCD4"/>
                </a:solidFill>
              </a:defRPr>
            </a:pPr>
            <a:r>
              <a:t>«component»</a:t>
            </a:r>
            <a:br/>
            <a:r>
              <a:t>React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54880"/>
            <a:ext cx="2560320" cy="640080"/>
          </a:xfrm>
          <a:prstGeom prst="roundRect">
            <a:avLst/>
          </a:prstGeom>
          <a:solidFill>
            <a:srgbClr val="121828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007ACC"/>
                </a:solidFill>
              </a:defRPr>
            </a:pPr>
            <a:r>
              <a:t>«external»</a:t>
            </a:r>
            <a:br/>
            <a:r>
              <a:t>GitHub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669280"/>
            <a:ext cx="2560320" cy="640080"/>
          </a:xfrm>
          <a:prstGeom prst="roundRect">
            <a:avLst/>
          </a:prstGeom>
          <a:solidFill>
            <a:srgbClr val="121828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007ACC"/>
                </a:solidFill>
              </a:defRPr>
            </a:pPr>
            <a:r>
              <a:t>«external»</a:t>
            </a:r>
            <a:br/>
            <a:r>
              <a:t>OpenAI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097280"/>
            <a:ext cx="2560320" cy="640080"/>
          </a:xfrm>
          <a:prstGeom prst="roundRect">
            <a:avLst/>
          </a:prstGeom>
          <a:solidFill>
            <a:srgbClr val="121828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007ACC"/>
                </a:solidFill>
              </a:defRPr>
            </a:pPr>
            <a:r>
              <a:t>«external»</a:t>
            </a:r>
            <a:br/>
            <a:r>
              <a:t>SSL/TLS Servers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5943600"/>
            <a:ext cx="2560320" cy="640080"/>
          </a:xfrm>
          <a:prstGeom prst="roundRect">
            <a:avLst/>
          </a:prstGeom>
          <a:solidFill>
            <a:srgbClr val="121828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00BCD4"/>
                </a:solidFill>
              </a:defRPr>
            </a:pPr>
            <a:r>
              <a:t>«artifact»</a:t>
            </a:r>
            <a:br/>
            <a:r>
              <a:t>HTML/JSON Reports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2286000"/>
            <a:ext cx="1371600" cy="274320"/>
          </a:xfrm>
          <a:prstGeom prst="roundRect">
            <a:avLst/>
          </a:prstGeom>
          <a:solidFill>
            <a:srgbClr val="1A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800" b="0">
                <a:solidFill>
                  <a:srgbClr val="00BCD4"/>
                </a:solidFill>
              </a:defRPr>
            </a:pPr>
            <a:r>
              <a:t>──▶ uses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60" y="2286000"/>
            <a:ext cx="1371600" cy="274320"/>
          </a:xfrm>
          <a:prstGeom prst="roundRect">
            <a:avLst/>
          </a:prstGeom>
          <a:solidFill>
            <a:srgbClr val="1A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800" b="0">
                <a:solidFill>
                  <a:srgbClr val="00BCD4"/>
                </a:solidFill>
              </a:defRPr>
            </a:pPr>
            <a:r>
              <a:t>──▶ uses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286000"/>
            <a:ext cx="1371600" cy="274320"/>
          </a:xfrm>
          <a:prstGeom prst="roundRect">
            <a:avLst/>
          </a:prstGeom>
          <a:solidFill>
            <a:srgbClr val="1A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800" b="0">
                <a:solidFill>
                  <a:srgbClr val="00BCD4"/>
                </a:solidFill>
              </a:defRPr>
            </a:pPr>
            <a:r>
              <a:t>──▶ scores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2286000"/>
            <a:ext cx="1371600" cy="274320"/>
          </a:xfrm>
          <a:prstGeom prst="roundRect">
            <a:avLst/>
          </a:prstGeom>
          <a:solidFill>
            <a:srgbClr val="1A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800" b="0">
                <a:solidFill>
                  <a:srgbClr val="00BCD4"/>
                </a:solidFill>
              </a:defRPr>
            </a:pPr>
            <a:r>
              <a:t>──▶ evaluates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4160520"/>
            <a:ext cx="1371600" cy="274320"/>
          </a:xfrm>
          <a:prstGeom prst="roundRect">
            <a:avLst/>
          </a:prstGeom>
          <a:solidFill>
            <a:srgbClr val="1A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800" b="0">
                <a:solidFill>
                  <a:srgbClr val="00BCD4"/>
                </a:solidFill>
              </a:defRPr>
            </a:pPr>
            <a:r>
              <a:t>──▶ generates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4160520"/>
            <a:ext cx="1371600" cy="274320"/>
          </a:xfrm>
          <a:prstGeom prst="roundRect">
            <a:avLst/>
          </a:prstGeom>
          <a:solidFill>
            <a:srgbClr val="1A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800" b="0">
                <a:solidFill>
                  <a:srgbClr val="00BCD4"/>
                </a:solidFill>
              </a:defRPr>
            </a:pPr>
            <a:r>
              <a:t>──▶ reads reports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8686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spcBef>
                <a:spcPts val="1000"/>
              </a:spcBef>
              <a:defRPr sz="2600" b="1">
                <a:solidFill>
                  <a:srgbClr val="FFFFFF"/>
                </a:solidFill>
              </a:defRPr>
            </a:pPr>
            <a:r>
              <a:t>14. Design Decisions, Assumptions &amp; Constraints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DDFF"/>
                </a:solidFill>
              </a:defRPr>
            </a:pPr>
            <a:r>
              <a:t>Justification of key architectural choices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0" y="6537960"/>
            <a:ext cx="109728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4572000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66360" y="1051560"/>
            <a:ext cx="6565392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Justification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4572000" cy="5943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1">
                <a:solidFill>
                  <a:srgbClr val="00BCD4"/>
                </a:solidFill>
              </a:defRPr>
            </a:pPr>
            <a:r>
              <a:t>LangChain for orchestration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1783080"/>
            <a:ext cx="6565392" cy="5943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Agent autonomously decides tool ordering, retry logic, and result combination — more flexible than hardcoded pipelines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14600"/>
            <a:ext cx="4572000" cy="5943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1">
                <a:solidFill>
                  <a:srgbClr val="00BCD4"/>
                </a:solidFill>
              </a:defRPr>
            </a:pPr>
            <a:r>
              <a:t>Deterministic scoring (0-100)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2514600"/>
            <a:ext cx="6565392" cy="5943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Reproducible, auditable risk scores without LLM variability; LLM enrichment is optional overlay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46120"/>
            <a:ext cx="4572000" cy="5943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1">
                <a:solidFill>
                  <a:srgbClr val="00BCD4"/>
                </a:solidFill>
              </a:defRPr>
            </a:pPr>
            <a:r>
              <a:t>Python-based policy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3246120"/>
            <a:ext cx="6565392" cy="5943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Structured for future 1:1 port to OPA Rego; keeps policy logic testable and version-controlled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77640"/>
            <a:ext cx="4572000" cy="5943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1">
                <a:solidFill>
                  <a:srgbClr val="00BCD4"/>
                </a:solidFill>
              </a:defRPr>
            </a:pPr>
            <a:r>
              <a:t>Modular agent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3977640"/>
            <a:ext cx="6565392" cy="5943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Each agent (cert, GitHub, scorer, policy, report) is independently testable and replaceable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709160"/>
            <a:ext cx="4572000" cy="5943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1">
                <a:solidFill>
                  <a:srgbClr val="00BCD4"/>
                </a:solidFill>
              </a:defRPr>
            </a:pPr>
            <a:r>
              <a:t>Config-driven thresholds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4709160"/>
            <a:ext cx="6565392" cy="5943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Single config.yaml drives all agents — no hardcoded magic numbers; easy to tune per environment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40680"/>
            <a:ext cx="4572000" cy="5943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1">
                <a:solidFill>
                  <a:srgbClr val="00BCD4"/>
                </a:solidFill>
              </a:defRPr>
            </a:pPr>
            <a:r>
              <a:t>Mock/demo mode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5440680"/>
            <a:ext cx="6565392" cy="5943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Enables development, testing, and demos without real API keys or network access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172200"/>
            <a:ext cx="4572000" cy="5943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1">
                <a:solidFill>
                  <a:srgbClr val="00BCD4"/>
                </a:solidFill>
              </a:defRPr>
            </a:pPr>
            <a:r>
              <a:t>HTML + JSON dual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60" y="6172200"/>
            <a:ext cx="6565392" cy="5943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HTML for human stakeholders; JSON for machine consumption, CI/CD integration, and dashboard feeding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6035040"/>
            <a:ext cx="11274552" cy="68580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defRPr sz="1200" b="1">
                <a:solidFill>
                  <a:srgbClr val="FF9800"/>
                </a:solidFill>
              </a:defRPr>
            </a:pPr>
            <a:r>
              <a:t>Assumptions &amp; Constraints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GitHub token has read:repo scope  •  Python 3.10+ required  •  OpenAI API key optional (for LLM mode)  •  Network access to target domains for SSL checks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8686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spcBef>
                <a:spcPts val="1000"/>
              </a:spcBef>
              <a:defRPr sz="2600" b="1">
                <a:solidFill>
                  <a:srgbClr val="FFFFFF"/>
                </a:solidFill>
              </a:defRPr>
            </a:pPr>
            <a:r>
              <a:t>15. Non-Functional Requirements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DDFF"/>
                </a:solidFill>
              </a:defRPr>
            </a:pPr>
            <a:r>
              <a:t>Performance, scalability, and security considerations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0" y="6537960"/>
            <a:ext cx="109728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303520" cy="228600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l">
              <a:defRPr sz="1400" b="1">
                <a:solidFill>
                  <a:srgbClr val="4CAF50"/>
                </a:solidFill>
              </a:defRPr>
            </a:pPr>
            <a:r>
              <a:t>Performance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Parallel discovery: cert + GitHub agents run concurrently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SSL connect timeout: 10s per domain (configurable)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GitHub API timeout: 60s for full repo scan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LLM enrichment timeout: 120s (optional, skippable)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51560"/>
            <a:ext cx="5303520" cy="228600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l">
              <a:defRPr sz="1400" b="1">
                <a:solidFill>
                  <a:srgbClr val="007ACC"/>
                </a:solidFill>
              </a:defRPr>
            </a:pPr>
            <a:r>
              <a:t>Scalability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Modular agent design — add new NHI sources easily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Config-driven: adjust thresholds without code changes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JSON output enables downstream pipeline integration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Docker deployment for horizontal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703320"/>
            <a:ext cx="5303520" cy="228600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l">
              <a:defRPr sz="1400" b="1">
                <a:solidFill>
                  <a:srgbClr val="F44336"/>
                </a:solidFill>
              </a:defRPr>
            </a:pPr>
            <a:r>
              <a:t>Security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No hardcoded credentials — env vars for tokens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GitHub token: minimum read:repo scope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LLM: only high-risk findings sent to API (score ≥ 50)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Reports stored locally; no data exfiltration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03320"/>
            <a:ext cx="5303520" cy="228600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l">
              <a:defRPr sz="1400" b="1">
                <a:solidFill>
                  <a:srgbClr val="9C27B0"/>
                </a:solidFill>
              </a:defRPr>
            </a:pPr>
            <a:r>
              <a:t>Reliability &amp; Maintainability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Demo mode for testing without external dependencies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Graceful error handling with timeout fallbacks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Report archival with configurable max_reports limit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BB"/>
                </a:solidFill>
              </a:defRPr>
            </a:pPr>
            <a:r>
              <a:t>  •  Policy engine structured for OPA Rego migration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8686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spcBef>
                <a:spcPts val="1000"/>
              </a:spcBef>
              <a:defRPr sz="2600" b="1">
                <a:solidFill>
                  <a:srgbClr val="FFFFFF"/>
                </a:solidFill>
              </a:defRPr>
            </a:pPr>
            <a:r>
              <a:t>16. SRS Traceability Matrix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DDFF"/>
                </a:solidFill>
              </a:defRPr>
            </a:pPr>
            <a:r>
              <a:t>Requirements mapped to design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0" y="6537960"/>
            <a:ext cx="109728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926080" cy="384048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SRS Requirement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93008" y="1097280"/>
            <a:ext cx="2560320" cy="384048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Design Component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63056" y="1097280"/>
            <a:ext cx="3017520" cy="384048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Implementation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90304" y="1097280"/>
            <a:ext cx="2560320" cy="384048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72768"/>
            <a:ext cx="2926080" cy="3657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t>FR-01: Discover SSL certs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1572768"/>
            <a:ext cx="2560320" cy="3657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Discovery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572768"/>
            <a:ext cx="3017520" cy="3657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cert_agent.py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90304" y="1572768"/>
            <a:ext cx="2560320" cy="3657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SSL scan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011680"/>
            <a:ext cx="2926080" cy="3657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t>FR-02: Discover GitHub NHIs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3008" y="2011680"/>
            <a:ext cx="2560320" cy="3657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Discovery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011680"/>
            <a:ext cx="3017520" cy="3657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github_nhi_agent.py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90304" y="2011680"/>
            <a:ext cx="2560320" cy="3657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NHI findings 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450592"/>
            <a:ext cx="2926080" cy="3657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t>FR-03: Risk scoring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93008" y="2450592"/>
            <a:ext cx="2560320" cy="3657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Analysis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2450592"/>
            <a:ext cx="3017520" cy="3657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risk_scorer.py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90304" y="2450592"/>
            <a:ext cx="2560320" cy="3657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Score 0-100 + severity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89504"/>
            <a:ext cx="2926080" cy="3657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t>FR-04: Policy evaluation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93008" y="2889504"/>
            <a:ext cx="2560320" cy="3657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Analysis Layer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2889504"/>
            <a:ext cx="3017520" cy="3657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nhi_policies.py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90304" y="2889504"/>
            <a:ext cx="2560320" cy="3657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Violations report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28416"/>
            <a:ext cx="2926080" cy="3657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t>FR-05: LLM enrichment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93008" y="3328416"/>
            <a:ext cx="2560320" cy="3657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Analysis (optional)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6" y="3328416"/>
            <a:ext cx="3017520" cy="3657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risk_scorer.py + OpenAI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90304" y="3328416"/>
            <a:ext cx="2560320" cy="3657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risk_reason field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767328"/>
            <a:ext cx="2926080" cy="3657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t>FR-06: HTML reporting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93008" y="3767328"/>
            <a:ext cx="2560320" cy="3657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Reporting Layer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63056" y="3767328"/>
            <a:ext cx="3017520" cy="3657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report_generator.py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90304" y="3767328"/>
            <a:ext cx="2560320" cy="3657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HTML file generated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206240"/>
            <a:ext cx="2926080" cy="3657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t>FR-07: JSON inventory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93008" y="4206240"/>
            <a:ext cx="2560320" cy="3657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Reporting Layer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63056" y="4206240"/>
            <a:ext cx="3017520" cy="3657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report_generator.py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90304" y="4206240"/>
            <a:ext cx="2560320" cy="3657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nhi_inventory.json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645152"/>
            <a:ext cx="2926080" cy="3657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t>FR-08: Orchestration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93008" y="4645152"/>
            <a:ext cx="2560320" cy="3657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Orchestration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6" y="4645152"/>
            <a:ext cx="3017520" cy="3657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nhi_orchestrator.py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90304" y="4645152"/>
            <a:ext cx="2560320" cy="3657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End-to-end scan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084064"/>
            <a:ext cx="2926080" cy="3657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t>FR-09: Dashboard UI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93008" y="5084064"/>
            <a:ext cx="2560320" cy="3657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Presentation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63056" y="5084064"/>
            <a:ext cx="3017520" cy="3657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React dashboard (9 pages)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90304" y="5084064"/>
            <a:ext cx="2560320" cy="3657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Visual verification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522976"/>
            <a:ext cx="2926080" cy="3657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t>NFR-01: No hardcoded secrets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93008" y="5522976"/>
            <a:ext cx="2560320" cy="3657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All modules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63056" y="5522976"/>
            <a:ext cx="3017520" cy="3657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Env vars + config.yaml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90304" y="5522976"/>
            <a:ext cx="2560320" cy="36576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Code review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961888"/>
            <a:ext cx="2926080" cy="3657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t>NFR-02: Configurable thresholds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93008" y="5961888"/>
            <a:ext cx="2560320" cy="3657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config.yaml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63056" y="5961888"/>
            <a:ext cx="3017520" cy="3657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YAML-driven agents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90304" y="5961888"/>
            <a:ext cx="2560320" cy="36576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t>Config validation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8686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spcBef>
                <a:spcPts val="1000"/>
              </a:spcBef>
              <a:defRPr sz="2600" b="1">
                <a:solidFill>
                  <a:srgbClr val="FFFFFF"/>
                </a:solidFill>
              </a:defRPr>
            </a:pPr>
            <a:r>
              <a:t>17. Interface &amp; Integration Design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DDFF"/>
                </a:solidFill>
              </a:defRPr>
            </a:pPr>
            <a:r>
              <a:t>CLI, REST API, and React Dashboard interfaces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0" y="6537960"/>
            <a:ext cx="109728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486400" cy="256032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l">
              <a:defRPr sz="1300" b="1">
                <a:solidFill>
                  <a:srgbClr val="4CAF50"/>
                </a:solidFill>
              </a:defRPr>
            </a:pPr>
            <a:r>
              <a:t>CLI Interface (Current)</a:t>
            </a:r>
          </a:p>
          <a:p>
            <a:pPr algn="l">
              <a:spcBef>
                <a:spcPts val="200"/>
              </a:spcBef>
              <a:defRPr sz="900" b="1">
                <a:solidFill>
                  <a:srgbClr val="FFEB3B"/>
                </a:solidFill>
              </a:defRPr>
            </a:pPr>
            <a:r>
              <a:t>python orchestrator/nhi_orchestrator.py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  --no-llm           # skip GPT-4o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  --skip-github      # cert-only mode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endParaRPr/>
          </a:p>
          <a:p>
            <a:pPr algn="l">
              <a:spcBef>
                <a:spcPts val="200"/>
              </a:spcBef>
              <a:defRPr sz="900" b="1">
                <a:solidFill>
                  <a:srgbClr val="FFEB3B"/>
                </a:solidFill>
              </a:defRPr>
            </a:pPr>
            <a:r>
              <a:t>python demo/run_demo.py     # demo mode</a:t>
            </a:r>
          </a:p>
          <a:p>
            <a:pPr algn="l">
              <a:spcBef>
                <a:spcPts val="200"/>
              </a:spcBef>
              <a:defRPr sz="900" b="1">
                <a:solidFill>
                  <a:srgbClr val="FFEB3B"/>
                </a:solidFill>
              </a:defRPr>
            </a:pPr>
            <a:r>
              <a:t>python demo/scheduler.py    # nightly scheduler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BBBBBB"/>
                </a:solidFill>
              </a:defRPr>
            </a:pPr>
            <a:r>
              <a:t>  --run-now --once   # single scan (CI/CD)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51560"/>
            <a:ext cx="5486400" cy="256032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l">
              <a:defRPr sz="1300" b="1">
                <a:solidFill>
                  <a:srgbClr val="9C27B0"/>
                </a:solidFill>
              </a:defRPr>
            </a:pPr>
            <a:r>
              <a:t>REST API Design (Future)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4CAF50"/>
                </a:solidFill>
              </a:defRPr>
            </a:pPr>
            <a:r>
              <a:t>GET   /api/findings             All scored findings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4CAF50"/>
                </a:solidFill>
              </a:defRPr>
            </a:pPr>
            <a:r>
              <a:t>GET   /api/violations           Policy violations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4CAF50"/>
                </a:solidFill>
              </a:defRPr>
            </a:pPr>
            <a:r>
              <a:t>GET   /api/inventory            NHI inventory JSON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4CAF50"/>
                </a:solidFill>
              </a:defRPr>
            </a:pPr>
            <a:r>
              <a:t>GET   /api/summary              Quick statistics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FF9800"/>
                </a:solidFill>
              </a:defRPr>
            </a:pPr>
            <a:r>
              <a:t>PUT   /api/config               Update thresholds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00BCD4"/>
                </a:solidFill>
              </a:defRPr>
            </a:pPr>
            <a:r>
              <a:t>POST  /api/scan                 Trigger new scan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4CAF50"/>
                </a:solidFill>
              </a:defRPr>
            </a:pPr>
            <a:r>
              <a:t>GET   /api/scan-status          Current scan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11274552" cy="274320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l">
              <a:defRPr sz="1300" b="1">
                <a:solidFill>
                  <a:srgbClr val="00BCD4"/>
                </a:solidFill>
              </a:defRPr>
            </a:pPr>
            <a:r>
              <a:t>React Dashboard — 9 Interactive Pages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51960"/>
            <a:ext cx="3474720" cy="457200"/>
          </a:xfrm>
          <a:prstGeom prst="roundRect">
            <a:avLst/>
          </a:prstGeom>
          <a:solidFill>
            <a:srgbClr val="182038"/>
          </a:solidFill>
          <a:ln w="381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tlCol="0" anchor="ctr"/>
          <a:lstStyle/>
          <a:p>
            <a:pPr algn="l">
              <a:defRPr sz="900" b="1">
                <a:solidFill>
                  <a:srgbClr val="00BCD4"/>
                </a:solidFill>
              </a:defRPr>
            </a:pPr>
            <a:r>
              <a:t>OverviewPage</a:t>
            </a:r>
          </a:p>
          <a:p>
            <a:pPr algn="l">
              <a:spcBef>
                <a:spcPts val="200"/>
              </a:spcBef>
              <a:defRPr sz="800" b="0">
                <a:solidFill>
                  <a:srgbClr val="BBBBBB"/>
                </a:solidFill>
              </a:defRPr>
            </a:pPr>
            <a:r>
              <a:t>Risk summary, key metrics, recent alerts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19" y="4251960"/>
            <a:ext cx="3474720" cy="457200"/>
          </a:xfrm>
          <a:prstGeom prst="roundRect">
            <a:avLst/>
          </a:prstGeom>
          <a:solidFill>
            <a:srgbClr val="182038"/>
          </a:solidFill>
          <a:ln w="381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tlCol="0" anchor="ctr"/>
          <a:lstStyle/>
          <a:p>
            <a:pPr algn="l">
              <a:defRPr sz="900" b="1">
                <a:solidFill>
                  <a:srgbClr val="00BCD4"/>
                </a:solidFill>
              </a:defRPr>
            </a:pPr>
            <a:r>
              <a:t>IdentitiesPage</a:t>
            </a:r>
          </a:p>
          <a:p>
            <a:pPr algn="l">
              <a:spcBef>
                <a:spcPts val="200"/>
              </a:spcBef>
              <a:defRPr sz="800" b="0">
                <a:solidFill>
                  <a:srgbClr val="BBBBBB"/>
                </a:solidFill>
              </a:defRPr>
            </a:pPr>
            <a:r>
              <a:t>Full NHI inventory with filtering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4251960"/>
            <a:ext cx="3474720" cy="457200"/>
          </a:xfrm>
          <a:prstGeom prst="roundRect">
            <a:avLst/>
          </a:prstGeom>
          <a:solidFill>
            <a:srgbClr val="182038"/>
          </a:solidFill>
          <a:ln w="381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tlCol="0" anchor="ctr"/>
          <a:lstStyle/>
          <a:p>
            <a:pPr algn="l">
              <a:defRPr sz="900" b="1">
                <a:solidFill>
                  <a:srgbClr val="00BCD4"/>
                </a:solidFill>
              </a:defRPr>
            </a:pPr>
            <a:r>
              <a:t>CertificatesPage</a:t>
            </a:r>
          </a:p>
          <a:p>
            <a:pPr algn="l">
              <a:spcBef>
                <a:spcPts val="200"/>
              </a:spcBef>
              <a:defRPr sz="800" b="0">
                <a:solidFill>
                  <a:srgbClr val="BBBBBB"/>
                </a:solidFill>
              </a:defRPr>
            </a:pPr>
            <a:r>
              <a:t>SSL/TLS certificate status &amp; expiry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46320"/>
            <a:ext cx="3474720" cy="457200"/>
          </a:xfrm>
          <a:prstGeom prst="roundRect">
            <a:avLst/>
          </a:prstGeom>
          <a:solidFill>
            <a:srgbClr val="182038"/>
          </a:solidFill>
          <a:ln w="381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tlCol="0" anchor="ctr"/>
          <a:lstStyle/>
          <a:p>
            <a:pPr algn="l">
              <a:defRPr sz="900" b="1">
                <a:solidFill>
                  <a:srgbClr val="00BCD4"/>
                </a:solidFill>
              </a:defRPr>
            </a:pPr>
            <a:r>
              <a:t>PoliciesPage</a:t>
            </a:r>
          </a:p>
          <a:p>
            <a:pPr algn="l">
              <a:spcBef>
                <a:spcPts val="200"/>
              </a:spcBef>
              <a:defRPr sz="800" b="0">
                <a:solidFill>
                  <a:srgbClr val="BBBBBB"/>
                </a:solidFill>
              </a:defRPr>
            </a:pPr>
            <a:r>
              <a:t>Policy compliance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19" y="4846320"/>
            <a:ext cx="3474720" cy="457200"/>
          </a:xfrm>
          <a:prstGeom prst="roundRect">
            <a:avLst/>
          </a:prstGeom>
          <a:solidFill>
            <a:srgbClr val="182038"/>
          </a:solidFill>
          <a:ln w="381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tlCol="0" anchor="ctr"/>
          <a:lstStyle/>
          <a:p>
            <a:pPr algn="l">
              <a:defRPr sz="900" b="1">
                <a:solidFill>
                  <a:srgbClr val="00BCD4"/>
                </a:solidFill>
              </a:defRPr>
            </a:pPr>
            <a:r>
              <a:t>AlertsPage</a:t>
            </a:r>
          </a:p>
          <a:p>
            <a:pPr algn="l">
              <a:spcBef>
                <a:spcPts val="200"/>
              </a:spcBef>
              <a:defRPr sz="800" b="0">
                <a:solidFill>
                  <a:srgbClr val="BBBBBB"/>
                </a:solidFill>
              </a:defRPr>
            </a:pPr>
            <a:r>
              <a:t>Active alerts &amp; violation notifications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4846320"/>
            <a:ext cx="3474720" cy="457200"/>
          </a:xfrm>
          <a:prstGeom prst="roundRect">
            <a:avLst/>
          </a:prstGeom>
          <a:solidFill>
            <a:srgbClr val="182038"/>
          </a:solidFill>
          <a:ln w="381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tlCol="0" anchor="ctr"/>
          <a:lstStyle/>
          <a:p>
            <a:pPr algn="l">
              <a:defRPr sz="900" b="1">
                <a:solidFill>
                  <a:srgbClr val="00BCD4"/>
                </a:solidFill>
              </a:defRPr>
            </a:pPr>
            <a:r>
              <a:t>ScansPage</a:t>
            </a:r>
          </a:p>
          <a:p>
            <a:pPr algn="l">
              <a:spcBef>
                <a:spcPts val="200"/>
              </a:spcBef>
              <a:defRPr sz="800" b="0">
                <a:solidFill>
                  <a:srgbClr val="BBBBBB"/>
                </a:solidFill>
              </a:defRPr>
            </a:pPr>
            <a:r>
              <a:t>Scan history &amp; scheduling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40680"/>
            <a:ext cx="3474720" cy="457200"/>
          </a:xfrm>
          <a:prstGeom prst="roundRect">
            <a:avLst/>
          </a:prstGeom>
          <a:solidFill>
            <a:srgbClr val="182038"/>
          </a:solidFill>
          <a:ln w="381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tlCol="0" anchor="ctr"/>
          <a:lstStyle/>
          <a:p>
            <a:pPr algn="l">
              <a:defRPr sz="900" b="1">
                <a:solidFill>
                  <a:srgbClr val="00BCD4"/>
                </a:solidFill>
              </a:defRPr>
            </a:pPr>
            <a:r>
              <a:t>MLAnalyticsPage</a:t>
            </a:r>
          </a:p>
          <a:p>
            <a:pPr algn="l">
              <a:spcBef>
                <a:spcPts val="200"/>
              </a:spcBef>
              <a:defRPr sz="800" b="0">
                <a:solidFill>
                  <a:srgbClr val="BBBBBB"/>
                </a:solidFill>
              </a:defRPr>
            </a:pPr>
            <a:r>
              <a:t>ML-powered risk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19" y="5440680"/>
            <a:ext cx="3474720" cy="457200"/>
          </a:xfrm>
          <a:prstGeom prst="roundRect">
            <a:avLst/>
          </a:prstGeom>
          <a:solidFill>
            <a:srgbClr val="182038"/>
          </a:solidFill>
          <a:ln w="381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tlCol="0" anchor="ctr"/>
          <a:lstStyle/>
          <a:p>
            <a:pPr algn="l">
              <a:defRPr sz="900" b="1">
                <a:solidFill>
                  <a:srgbClr val="00BCD4"/>
                </a:solidFill>
              </a:defRPr>
            </a:pPr>
            <a:r>
              <a:t>AuditLogPage</a:t>
            </a:r>
          </a:p>
          <a:p>
            <a:pPr algn="l">
              <a:spcBef>
                <a:spcPts val="200"/>
              </a:spcBef>
              <a:defRPr sz="800" b="0">
                <a:solidFill>
                  <a:srgbClr val="BBBBBB"/>
                </a:solidFill>
              </a:defRPr>
            </a:pPr>
            <a:r>
              <a:t>Audit trail of all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5440680"/>
            <a:ext cx="3474720" cy="457200"/>
          </a:xfrm>
          <a:prstGeom prst="roundRect">
            <a:avLst/>
          </a:prstGeom>
          <a:solidFill>
            <a:srgbClr val="182038"/>
          </a:solidFill>
          <a:ln w="381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tlCol="0" anchor="ctr"/>
          <a:lstStyle/>
          <a:p>
            <a:pPr algn="l">
              <a:defRPr sz="900" b="1">
                <a:solidFill>
                  <a:srgbClr val="00BCD4"/>
                </a:solidFill>
              </a:defRPr>
            </a:pPr>
            <a:r>
              <a:t>SettingsPage</a:t>
            </a:r>
          </a:p>
          <a:p>
            <a:pPr algn="l">
              <a:spcBef>
                <a:spcPts val="200"/>
              </a:spcBef>
              <a:defRPr sz="800" b="0">
                <a:solidFill>
                  <a:srgbClr val="BBBBBB"/>
                </a:solidFill>
              </a:defRPr>
            </a:pPr>
            <a:r>
              <a:t>System configuration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2743</Words>
  <Application>Microsoft Office PowerPoint</Application>
  <PresentationFormat>Widescreen</PresentationFormat>
  <Paragraphs>494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Mishra, Umang</cp:lastModifiedBy>
  <cp:revision>2</cp:revision>
  <dcterms:created xsi:type="dcterms:W3CDTF">2013-01-27T09:14:16Z</dcterms:created>
  <dcterms:modified xsi:type="dcterms:W3CDTF">2026-05-06T09:57:17Z</dcterms:modified>
  <cp:category/>
</cp:coreProperties>
</file>