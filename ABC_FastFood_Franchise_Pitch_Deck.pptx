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75120" y="0"/>
            <a:ext cx="201168" cy="6858000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FFFFFF"/>
                </a:solidFill>
              </a:rPr>
              <a:t>ABC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C200"/>
                </a:solidFill>
              </a:rPr>
              <a:t>FASTFOOD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</a:rPr>
              <a:t>FRANCHISE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C200"/>
                </a:solidFill>
              </a:rPr>
              <a:t>INVESTOR PRESENTATION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4224528"/>
            <a:ext cx="11274552" cy="0"/>
          </a:xfrm>
          <a:prstGeom prst="line">
            <a:avLst/>
          </a:prstGeom>
          <a:ln w="25400">
            <a:solidFill>
              <a:srgbClr val="FFC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43434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Pizza  |  Burgers  |  Chicken-Based Fast Food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006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BBBB"/>
                </a:solidFill>
              </a:rPr>
              <a:t>Franchise Investment: ₹50 Lakhs  |  Space: 1,000 sq ft  |  ROI: Within 24 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C200"/>
                </a:solidFill>
              </a:rPr>
              <a:t>Pan-India Franchise Opportunity  |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64592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Own Your
Future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338328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Join India's fastest growing
QSR franchise brand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</a:rPr>
              <a:t>PRESENTATION OVERVIEW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868680"/>
            <a:ext cx="11274552" cy="0"/>
          </a:xfrm>
          <a:prstGeom prst="line">
            <a:avLst/>
          </a:prstGeom>
          <a:ln w="25400">
            <a:solidFill>
              <a:srgbClr val="D726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0080" y="1051560"/>
            <a:ext cx="502920" cy="50292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06424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12471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Brand Story &amp; Vision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29384"/>
            <a:ext cx="502920" cy="50292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00253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India QSR Market Opportunity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807208"/>
            <a:ext cx="502920" cy="50292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62072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88036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Our Products &amp; USP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685031"/>
            <a:ext cx="502920" cy="50292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739895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758183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Franchise Business 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562856"/>
            <a:ext cx="502920" cy="50292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1772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63600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Investment &amp; Financial Projections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440679"/>
            <a:ext cx="502920" cy="50292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495543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513831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Unit Economics &amp; ROI Analysis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051560"/>
            <a:ext cx="502920" cy="50292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1106424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112471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SWOT Analysis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929384"/>
            <a:ext cx="502920" cy="50292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198424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200253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Competitive Landscape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807208"/>
            <a:ext cx="502920" cy="50292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2862072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88036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Why ABC FastFood Over Competitors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685031"/>
            <a:ext cx="502920" cy="50292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739895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3758183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Support &amp; Training System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562856"/>
            <a:ext cx="502920" cy="50292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61772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463600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Expansion Roadmap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5440679"/>
            <a:ext cx="502920" cy="50292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5495543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5513831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37160"/>
            <a:ext cx="5029200" cy="384048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3192" y="173736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01  |  BRAND STORY &amp;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WHO WE ARE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234440"/>
            <a:ext cx="11274552" cy="0"/>
          </a:xfrm>
          <a:prstGeom prst="line">
            <a:avLst/>
          </a:prstGeom>
          <a:ln w="25400">
            <a:solidFill>
              <a:srgbClr val="D726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32588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DDDDDD"/>
                </a:solidFill>
              </a:rPr>
              <a:t>ABC FastFood was born from a simple belief — every Indian deserves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DDDDD"/>
                </a:solidFill>
              </a:rPr>
              <a:t>world-class fast food at honest prices, served fresh and fast.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DDDDD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DDDDD"/>
                </a:solidFill>
              </a:rPr>
              <a:t>Founded with a passion for bold flavours and warm hospitality,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DDDDD"/>
                </a:solidFill>
              </a:rPr>
              <a:t>ABC brings together the best of Pizza, Burgers and Chicken-based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DDDDD"/>
                </a:solidFill>
              </a:rPr>
              <a:t>fast food under one roof — creating an unbeatable dining experience.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DDDDD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DDDDD"/>
                </a:solidFill>
              </a:rPr>
              <a:t>Our brand stands for TASTE, VALUE &amp; TRUST.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846320"/>
            <a:ext cx="2468880" cy="1645920"/>
          </a:xfrm>
          <a:prstGeom prst="rect">
            <a:avLst/>
          </a:prstGeom>
          <a:solidFill>
            <a:srgbClr val="2C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846320"/>
            <a:ext cx="2468880" cy="73152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49834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C200"/>
                </a:solidFill>
              </a:rPr>
              <a:t>₹50L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55778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Franchise
Investment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4846320"/>
            <a:ext cx="2468880" cy="1645920"/>
          </a:xfrm>
          <a:prstGeom prst="rect">
            <a:avLst/>
          </a:prstGeom>
          <a:solidFill>
            <a:srgbClr val="2C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4846320"/>
            <a:ext cx="2468880" cy="73152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49834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C200"/>
                </a:solidFill>
              </a:rPr>
              <a:t>24M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55778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ROI
Target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4846320"/>
            <a:ext cx="2468880" cy="1645920"/>
          </a:xfrm>
          <a:prstGeom prst="rect">
            <a:avLst/>
          </a:prstGeom>
          <a:solidFill>
            <a:srgbClr val="2C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4846320"/>
            <a:ext cx="2468880" cy="73152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49834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C200"/>
                </a:solidFill>
              </a:rPr>
              <a:t>1000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55778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Sq Ft
Required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15400" y="4846320"/>
            <a:ext cx="2468880" cy="1645920"/>
          </a:xfrm>
          <a:prstGeom prst="rect">
            <a:avLst/>
          </a:prstGeom>
          <a:solidFill>
            <a:srgbClr val="2C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15400" y="4846320"/>
            <a:ext cx="2468880" cy="73152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5400" y="49834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C200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55778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Revenue
Streams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1280160"/>
            <a:ext cx="5029200" cy="141732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13258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🎯 OUR VISION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169164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To become India's most-loved homegrown QSR brand with 500+ franchise outlets by 2030.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2834640"/>
            <a:ext cx="5029200" cy="1417320"/>
          </a:xfrm>
          <a:prstGeom prst="rect">
            <a:avLst/>
          </a:prstGeom>
          <a:solidFill>
            <a:srgbClr val="226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28803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🚀 OUR MISSION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24612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Empower franchise partners with a proven system, exceptional support &amp; profitable business.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4343400"/>
            <a:ext cx="5029200" cy="685800"/>
          </a:xfrm>
          <a:prstGeom prst="rect">
            <a:avLst/>
          </a:prstGeom>
          <a:solidFill>
            <a:srgbClr val="4A2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44348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🏆 OUR CORE VALUES: Quality | Consistency | Community | Speed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37160"/>
            <a:ext cx="5486400" cy="384048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3192" y="173736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02  |  INDIA QSR MARKET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</a:rPr>
              <a:t>A BOOMING ₹1.5 LAKH CRORE INDUSTRY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234440"/>
            <a:ext cx="11274552" cy="0"/>
          </a:xfrm>
          <a:prstGeom prst="line">
            <a:avLst/>
          </a:prstGeom>
          <a:ln w="25400">
            <a:solidFill>
              <a:srgbClr val="D726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400800" cy="38404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949440" y="1371600"/>
            <a:ext cx="2286000" cy="1051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44475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C200"/>
                </a:solidFill>
              </a:rPr>
              <a:t>14-16%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Annual Growth Rate (CAGR)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0" y="1371600"/>
            <a:ext cx="2286000" cy="1051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0" y="144475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C200"/>
                </a:solidFill>
              </a:rPr>
              <a:t>7,500+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QSR Outlets Across India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2651760"/>
            <a:ext cx="2286000" cy="1051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272491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C200"/>
                </a:solidFill>
              </a:rPr>
              <a:t>500M+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Young Consumer Base (&lt;35 yrs)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18320" y="2651760"/>
            <a:ext cx="2286000" cy="1051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72491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C200"/>
                </a:solidFill>
              </a:rPr>
              <a:t>72%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Urban Population Eating Out Weekly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3931920"/>
            <a:ext cx="2286000" cy="1051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400507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C200"/>
                </a:solidFill>
              </a:rPr>
              <a:t>₹1.5L Cr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448055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Market Size by 2027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3931920"/>
            <a:ext cx="2286000" cy="1051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400507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C200"/>
                </a:solidFill>
              </a:rPr>
              <a:t>3x Growth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448055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Tier 2 &amp; 3 City Expansion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5257800"/>
            <a:ext cx="4754880" cy="50292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0" y="53218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India QSR sector: One of the TOP 5 fastest growing food markets globally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37160"/>
            <a:ext cx="4572000" cy="384048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3192" y="173736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03  |  OUR PRODUCTS &amp; USP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THREE WINNING CATEGORIES. ONE POWERFUL BRAND.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234440"/>
            <a:ext cx="11274552" cy="0"/>
          </a:xfrm>
          <a:prstGeom prst="line">
            <a:avLst/>
          </a:prstGeom>
          <a:ln w="25400">
            <a:solidFill>
              <a:srgbClr val="FFC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5760" y="1371600"/>
            <a:ext cx="3566160" cy="5120640"/>
          </a:xfrm>
          <a:prstGeom prst="rect">
            <a:avLst/>
          </a:prstGeom>
          <a:solidFill>
            <a:srgbClr val="2C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3566160" cy="109728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1732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FFFFFF"/>
                </a:solidFill>
              </a:rPr>
              <a:t>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488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7262C"/>
                </a:solidFill>
              </a:rPr>
              <a:t>PIZZA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DDDD"/>
                </a:solidFill>
              </a:rPr>
              <a:t>✔  Signature Indian-fusion pizzas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DDDD"/>
                </a:solidFill>
              </a:rPr>
              <a:t>✔  Classic Margherita to Spicy Tikka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490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DDDD"/>
                </a:solidFill>
              </a:rPr>
              <a:t>✔  7", 10", 14" sizes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51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DDDD"/>
                </a:solidFill>
              </a:rPr>
              <a:t>✔  Veg &amp; Non-Veg variants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54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DDDD"/>
                </a:solidFill>
              </a:rPr>
              <a:t>✔  Starting at ₹149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371600"/>
            <a:ext cx="3566160" cy="5120640"/>
          </a:xfrm>
          <a:prstGeom prst="rect">
            <a:avLst/>
          </a:prstGeom>
          <a:solidFill>
            <a:srgbClr val="2C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371600"/>
            <a:ext cx="3566160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141732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FFFFFF"/>
                </a:solidFill>
              </a:rPr>
              <a:t>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1488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67E22"/>
                </a:solidFill>
              </a:rPr>
              <a:t>BURGERS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DDDD"/>
                </a:solidFill>
              </a:rPr>
              <a:t>✔  Crispy &amp; Grilled options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246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DDDD"/>
                </a:solidFill>
              </a:rPr>
              <a:t>✔  Aloo Tikki | Chicken | Paneer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7490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DDDD"/>
                </a:solidFill>
              </a:rPr>
              <a:t>✔  Double-stack signature burgers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251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DDDD"/>
                </a:solidFill>
              </a:rPr>
              <a:t>✔  Combo meals with fries &amp; drinks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754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DDDD"/>
                </a:solidFill>
              </a:rPr>
              <a:t>✔  Starting at ₹99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371600"/>
            <a:ext cx="3566160" cy="5120640"/>
          </a:xfrm>
          <a:prstGeom prst="rect">
            <a:avLst/>
          </a:prstGeom>
          <a:solidFill>
            <a:srgbClr val="2C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1371600"/>
            <a:ext cx="3566160" cy="10972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141732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FFFFFF"/>
                </a:solidFill>
              </a:rPr>
              <a:t>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1488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E44AD"/>
                </a:solidFill>
              </a:rPr>
              <a:t>CHICKEN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DDDD"/>
                </a:solidFill>
              </a:rPr>
              <a:t>✔  Crispy Fried Chicken (7 spices)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246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DDDD"/>
                </a:solidFill>
              </a:rPr>
              <a:t>✔  Popcorn Chicken &amp; Strips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7490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DDDD"/>
                </a:solidFill>
              </a:rPr>
              <a:t>✔  Hot Wings (Honey Chilli / BBQ)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251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DDDD"/>
                </a:solidFill>
              </a:rPr>
              <a:t>✔  Spicy Grilled Chicken options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754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DDDD"/>
                </a:solidFill>
              </a:rPr>
              <a:t>✔  Starting at ₹129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3550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🧑‍🍳 Freshly Prepared   |   ⚡ 10-Min Service   |   🌱 Locally Sourced   |   📦 Dine-in + Delivery + Takeaway   |   💰 Value Pricing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37160"/>
            <a:ext cx="5029200" cy="384048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3192" y="173736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04  |  FRANCHISE BUSINESS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</a:rPr>
              <a:t>HOW THE ABC FASTFOOD FRANCHISE WORKS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234440"/>
            <a:ext cx="11274552" cy="0"/>
          </a:xfrm>
          <a:prstGeom prst="line">
            <a:avLst/>
          </a:prstGeom>
          <a:ln w="25400">
            <a:solidFill>
              <a:srgbClr val="D726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20040" y="1417320"/>
            <a:ext cx="2011680" cy="164592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4447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C200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59" y="18288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SIGN
AGREEMENT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59" y="256032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DDDD"/>
                </a:solidFill>
              </a:rPr>
              <a:t>Legal franchise agreement
&amp; territory protection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8" y="20116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7262C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1417320"/>
            <a:ext cx="2011680" cy="1645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14447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C200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79" y="18288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SETUP &amp;
FIT-OUT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79" y="256032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DDDD"/>
                </a:solidFill>
              </a:rPr>
              <a:t>Brand-standard outlet setup
with our design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20116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7262C"/>
                </a:solidFill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83479" y="1417320"/>
            <a:ext cx="2011680" cy="164592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19" y="14447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C200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199" y="18288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TRAINING
&amp; LAUNCH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199" y="256032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DDDD"/>
                </a:solidFill>
              </a:rPr>
              <a:t>Full staff &amp; owner training
+ grand opening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3448" y="20116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7262C"/>
                </a:solidFill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199" y="1417320"/>
            <a:ext cx="2011680" cy="1645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14447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C200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19" y="18288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OPERATE &amp;
EARN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19" y="256032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DDDD"/>
                </a:solidFill>
              </a:rPr>
              <a:t>Daily operations with HQ
support &amp; supply chain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5167" y="20116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7262C"/>
                </a:solidFill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19" y="1417320"/>
            <a:ext cx="2011680" cy="164592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38359" y="14447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C200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18288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GROW &amp;
EXPAND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256032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DDDD"/>
                </a:solidFill>
              </a:rPr>
              <a:t>Multi-unit opportunities
for top performers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429000"/>
            <a:ext cx="114300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4930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200"/>
                </a:solidFill>
              </a:rPr>
              <a:t>REVENUE STREAMS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886200"/>
            <a:ext cx="4572000" cy="27432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5120640" y="3931920"/>
            <a:ext cx="6400800" cy="338328"/>
          </a:xfrm>
          <a:prstGeom prst="rect">
            <a:avLst/>
          </a:prstGeom>
          <a:solidFill>
            <a:srgbClr val="2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12080" y="396849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200"/>
                </a:solidFill>
              </a:rPr>
              <a:t>Franchise Fee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396849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₹5,00,000 (one-time)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20640" y="4279392"/>
            <a:ext cx="6400800" cy="338328"/>
          </a:xfrm>
          <a:prstGeom prst="rect">
            <a:avLst/>
          </a:prstGeom>
          <a:solidFill>
            <a:srgbClr val="2E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80" y="431596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200"/>
                </a:solidFill>
              </a:rPr>
              <a:t>Royalty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31596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5% of monthly net sales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20640" y="4626864"/>
            <a:ext cx="6400800" cy="338328"/>
          </a:xfrm>
          <a:prstGeom prst="rect">
            <a:avLst/>
          </a:prstGeom>
          <a:solidFill>
            <a:srgbClr val="2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12080" y="4663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200"/>
                </a:solidFill>
              </a:rPr>
              <a:t>Marketing Fund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4663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2% of monthly net sales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20640" y="4974336"/>
            <a:ext cx="6400800" cy="338328"/>
          </a:xfrm>
          <a:prstGeom prst="rect">
            <a:avLst/>
          </a:prstGeom>
          <a:solidFill>
            <a:srgbClr val="2E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12080" y="50109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200"/>
                </a:solidFill>
              </a:rPr>
              <a:t>Agreement Term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50109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5 Years (renewable)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20640" y="5321808"/>
            <a:ext cx="6400800" cy="338328"/>
          </a:xfrm>
          <a:prstGeom prst="rect">
            <a:avLst/>
          </a:prstGeom>
          <a:solidFill>
            <a:srgbClr val="2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12080" y="535838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200"/>
                </a:solidFill>
              </a:rPr>
              <a:t>Territory Rights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535838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Exclusive 2 km radius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20640" y="5669279"/>
            <a:ext cx="6400800" cy="338328"/>
          </a:xfrm>
          <a:prstGeom prst="rect">
            <a:avLst/>
          </a:prstGeom>
          <a:solidFill>
            <a:srgbClr val="2E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12080" y="5705855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200"/>
                </a:solidFill>
              </a:rPr>
              <a:t>Avg Daily Orders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5705855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200–350 covers/day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20640" y="6016752"/>
            <a:ext cx="6400800" cy="338328"/>
          </a:xfrm>
          <a:prstGeom prst="rect">
            <a:avLst/>
          </a:prstGeom>
          <a:solidFill>
            <a:srgbClr val="2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12080" y="60533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200"/>
                </a:solidFill>
              </a:rPr>
              <a:t>Avg Ticket Size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60533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₹220–₹280 per cover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20640" y="6364224"/>
            <a:ext cx="6400800" cy="338328"/>
          </a:xfrm>
          <a:prstGeom prst="rect">
            <a:avLst/>
          </a:prstGeom>
          <a:solidFill>
            <a:srgbClr val="2E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12080" y="6400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200"/>
                </a:solidFill>
              </a:rPr>
              <a:t>Monthly Revenue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21040" y="6400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₹5.5L – ₹9L (est.)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37160"/>
            <a:ext cx="5943600" cy="384048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3192" y="173736"/>
            <a:ext cx="5852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05  |  INVESTMENT &amp; FINANCIAL PROJECTIONS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YOUR COMPLETE INVESTMENT SNAPSHOT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234440"/>
            <a:ext cx="11274552" cy="0"/>
          </a:xfrm>
          <a:prstGeom prst="line">
            <a:avLst/>
          </a:prstGeom>
          <a:ln w="25400">
            <a:solidFill>
              <a:srgbClr val="FFC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8686800" cy="38404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235440" y="1417320"/>
            <a:ext cx="2651760" cy="1143000"/>
          </a:xfrm>
          <a:prstGeom prst="rect">
            <a:avLst/>
          </a:prstGeom>
          <a:solidFill>
            <a:srgbClr val="2C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35440" y="1417320"/>
            <a:ext cx="2651760" cy="91440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15544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C200"/>
                </a:solidFill>
              </a:rPr>
              <a:t>₹50 Lakhs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2057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Total Investment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2743200"/>
            <a:ext cx="2651760" cy="1143000"/>
          </a:xfrm>
          <a:prstGeom prst="rect">
            <a:avLst/>
          </a:prstGeom>
          <a:solidFill>
            <a:srgbClr val="2C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35440" y="2743200"/>
            <a:ext cx="2651760" cy="91440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28803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C200"/>
                </a:solidFill>
              </a:rPr>
              <a:t>₹5.5–9L/mo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383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Avg Monthly Revenue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4069080"/>
            <a:ext cx="2651760" cy="1143000"/>
          </a:xfrm>
          <a:prstGeom prst="rect">
            <a:avLst/>
          </a:prstGeom>
          <a:solidFill>
            <a:srgbClr val="2C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4069080"/>
            <a:ext cx="2651760" cy="91440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42062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C200"/>
                </a:solidFill>
              </a:rPr>
              <a:t>~35–40%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4709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Gross Margin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5394959"/>
            <a:ext cx="2651760" cy="1143000"/>
          </a:xfrm>
          <a:prstGeom prst="rect">
            <a:avLst/>
          </a:prstGeom>
          <a:solidFill>
            <a:srgbClr val="2C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5394959"/>
            <a:ext cx="2651760" cy="91440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55321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C200"/>
                </a:solidFill>
              </a:rPr>
              <a:t>Month 18–24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60350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Break-even Point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37160"/>
            <a:ext cx="5486400" cy="384048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3192" y="173736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06  |  UNIT ECONOMICS &amp; ROI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YOUR MONEY WORKING FOR YOU — WITHIN 24 MONTHS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234440"/>
            <a:ext cx="11274552" cy="0"/>
          </a:xfrm>
          <a:prstGeom prst="line">
            <a:avLst/>
          </a:prstGeom>
          <a:ln w="25400">
            <a:solidFill>
              <a:srgbClr val="D726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20040" y="1371600"/>
            <a:ext cx="5303520" cy="3017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08176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200"/>
                </a:solidFill>
              </a:rPr>
              <a:t>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408176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C200"/>
                </a:solidFill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91640"/>
            <a:ext cx="53035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728216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  Avg Daily Orders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728216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D7262C"/>
                </a:solidFill>
              </a:rPr>
              <a:t>280 covers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011680"/>
            <a:ext cx="5303520" cy="301752"/>
          </a:xfrm>
          <a:prstGeom prst="rect">
            <a:avLst/>
          </a:prstGeom>
          <a:solidFill>
            <a:srgbClr val="F0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048256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  Avg Ticket Size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048256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D7262C"/>
                </a:solidFill>
              </a:rPr>
              <a:t>₹250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331720"/>
            <a:ext cx="53035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368296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  Monthly Gross 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368296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D7262C"/>
                </a:solidFill>
              </a:rPr>
              <a:t>₹21,00,000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651760"/>
            <a:ext cx="5303520" cy="301752"/>
          </a:xfrm>
          <a:prstGeom prst="rect">
            <a:avLst/>
          </a:prstGeom>
          <a:solidFill>
            <a:srgbClr val="F0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688336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  Less: Aggregator Commission (15%)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2688336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D7262C"/>
                </a:solidFill>
              </a:rPr>
              <a:t>-₹94,500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971800"/>
            <a:ext cx="53035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008376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  Net Revenue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008376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D7262C"/>
                </a:solidFill>
              </a:rPr>
              <a:t>₹19,05,500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291839"/>
            <a:ext cx="5303520" cy="3017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328415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200"/>
                </a:solidFill>
              </a:rPr>
              <a:t>EXPENSES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328415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C200"/>
                </a:solidFill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611879"/>
            <a:ext cx="53035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648456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  Raw Material Cost (28%)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3648456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D7262C"/>
                </a:solidFill>
              </a:rPr>
              <a:t>₹5,33,540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931920"/>
            <a:ext cx="5303520" cy="301752"/>
          </a:xfrm>
          <a:prstGeom prst="rect">
            <a:avLst/>
          </a:prstGeom>
          <a:solidFill>
            <a:srgbClr val="F0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3968496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  Staff (6 persons)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3968496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D7262C"/>
                </a:solidFill>
              </a:rPr>
              <a:t>₹1,20,000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251960"/>
            <a:ext cx="53035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4288536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  Rent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4288536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D7262C"/>
                </a:solidFill>
              </a:rPr>
              <a:t>₹60,000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572000"/>
            <a:ext cx="5303520" cy="301752"/>
          </a:xfrm>
          <a:prstGeom prst="rect">
            <a:avLst/>
          </a:prstGeom>
          <a:solidFill>
            <a:srgbClr val="F0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4608576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  Royalty (5%)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4608576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D7262C"/>
                </a:solidFill>
              </a:rPr>
              <a:t>₹95,275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4892040"/>
            <a:ext cx="53035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4928616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  Marketing Fund (2%)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0" y="4928616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D7262C"/>
                </a:solidFill>
              </a:rPr>
              <a:t>₹38,110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5212079"/>
            <a:ext cx="5303520" cy="301752"/>
          </a:xfrm>
          <a:prstGeom prst="rect">
            <a:avLst/>
          </a:prstGeom>
          <a:solidFill>
            <a:srgbClr val="F0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5248655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  Utilities &amp; Misc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66160" y="5248655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D7262C"/>
                </a:solidFill>
              </a:rPr>
              <a:t>₹35,000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532120"/>
            <a:ext cx="53035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5568696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  Total Expenses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66160" y="5568696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D7262C"/>
                </a:solidFill>
              </a:rPr>
              <a:t>₹8,81,925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5852159"/>
            <a:ext cx="5303520" cy="3017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5888736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200"/>
                </a:solidFill>
              </a:rPr>
              <a:t>EBITDA / NET PROFIT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66160" y="5888736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C200"/>
                </a:solidFill>
              </a:rPr>
              <a:t>~₹10,23,575/month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25880"/>
            <a:ext cx="6035040" cy="5303520"/>
          </a:xfrm>
          <a:prstGeom prst="rect">
            <a:avLst/>
          </a:prstGeom>
        </p:spPr>
      </p:pic>
      <p:sp>
        <p:nvSpPr>
          <p:cNvPr id="54" name="Rectangle 53"/>
          <p:cNvSpPr/>
          <p:nvPr/>
        </p:nvSpPr>
        <p:spPr>
          <a:xfrm>
            <a:off x="320040" y="6309360"/>
            <a:ext cx="5303520" cy="41148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633679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💰  Estimated Full ROI: 18–24 Months  |  Annual Return: 20–25%+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37160"/>
            <a:ext cx="3657600" cy="384048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3192" y="173736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07  |  SWOT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STRATEGIC ASSESSMENT — ABC FASTFOOD FRANCHISE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234440"/>
            <a:ext cx="11274552" cy="0"/>
          </a:xfrm>
          <a:prstGeom prst="line">
            <a:avLst/>
          </a:prstGeom>
          <a:ln w="25400">
            <a:solidFill>
              <a:srgbClr val="FFC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20040" y="1371600"/>
            <a:ext cx="5669280" cy="25146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566928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2646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💪 STRENGTHS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74519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DDDD"/>
                </a:solidFill>
              </a:rPr>
              <a:t>• Multi-category offering (Pizza, Burger, Chicken)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21991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DDDD"/>
                </a:solidFill>
              </a:rPr>
              <a:t>• Affordable pricing vs international chains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9463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DDDD"/>
                </a:solidFill>
              </a:rPr>
              <a:t>• India-specific menu with local flavours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1693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DDDD"/>
                </a:solidFill>
              </a:rPr>
              <a:t>• Proven franchise system with full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6440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DDDD"/>
                </a:solidFill>
              </a:rPr>
              <a:t>• Low investment vs competition (₹50L)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11879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DDDD"/>
                </a:solidFill>
              </a:rPr>
              <a:t>• Fast service model — 10-min guarantee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5935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DDDD"/>
                </a:solidFill>
              </a:rPr>
              <a:t>• Strong delivery platform integration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371600"/>
            <a:ext cx="5669280" cy="25146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371600"/>
            <a:ext cx="566928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42646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⚠ WEAKNESSES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74519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DDDD"/>
                </a:solidFill>
              </a:rPr>
              <a:t>• Brand recognition still growing vs MNCs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221991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DDDD"/>
                </a:solidFill>
              </a:rPr>
              <a:t>• Limited brand history vs legacy players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569463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DDDD"/>
                </a:solidFill>
              </a:rPr>
              <a:t>• Dependent on franchisee execution 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91693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DDDD"/>
                </a:solidFill>
              </a:rPr>
              <a:t>• Supply chain consistency in remote Tier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6440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DDDD"/>
                </a:solidFill>
              </a:rPr>
              <a:t>• Premium positioning challenged in rural markets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069080"/>
            <a:ext cx="5669280" cy="25146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069080"/>
            <a:ext cx="5669280" cy="4114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12394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🚀 OPPORTUNITIES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57200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DDDD"/>
                </a:solidFill>
              </a:rPr>
              <a:t>• Massive Tier 2 &amp; 3 city expansion potential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91947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DDDD"/>
                </a:solidFill>
              </a:rPr>
              <a:t>• India QSR growing at 14–16% CAGR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26694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DDDD"/>
                </a:solidFill>
              </a:rPr>
              <a:t>• Growing young population (18–35 demographic)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61441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DDDD"/>
                </a:solidFill>
              </a:rPr>
              <a:t>• Digital food delivery market at ₹2L Cr+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96188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DDDD"/>
                </a:solidFill>
              </a:rPr>
              <a:t>• Ghost kitchen / dark kitchen model expansion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3093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DDDD"/>
                </a:solidFill>
              </a:rPr>
              <a:t>• Corporate &amp; institutional catering segment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65683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DDDD"/>
                </a:solidFill>
              </a:rPr>
              <a:t>• First-mover advantage in many markets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4069080"/>
            <a:ext cx="5669280" cy="25146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4069080"/>
            <a:ext cx="5669280" cy="41148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12394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🔥 THREATS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57200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DDDD"/>
                </a:solidFill>
              </a:rPr>
              <a:t>• Strong MNC competition (Domino's, KFC, McDonald's)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491947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DDDD"/>
                </a:solidFill>
              </a:rPr>
              <a:t>• Raw material cost inflation risk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526694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DDDD"/>
                </a:solidFill>
              </a:rPr>
              <a:t>• Increasing real estate / rental costs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561441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DDDD"/>
                </a:solidFill>
              </a:rPr>
              <a:t>• Trained staff attrition challenges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596188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DDDD"/>
                </a:solidFill>
              </a:rPr>
              <a:t>• Regulatory / FSSAI compliance costs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23560" y="2606040"/>
            <a:ext cx="914400" cy="1325880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50992" y="2743200"/>
            <a:ext cx="868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SWOT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37160"/>
            <a:ext cx="5029200" cy="384048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3192" y="173736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08  |  COMPETITIVE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</a:rPr>
              <a:t>WHO ELSE IS IN THE GAME?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234440"/>
            <a:ext cx="11274552" cy="0"/>
          </a:xfrm>
          <a:prstGeom prst="line">
            <a:avLst/>
          </a:prstGeom>
          <a:ln w="25400">
            <a:solidFill>
              <a:srgbClr val="D726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5486400" cy="5212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89320" y="1371600"/>
            <a:ext cx="160020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41732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C200"/>
                </a:solidFill>
              </a:rPr>
              <a:t>Brand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1371600"/>
            <a:ext cx="114300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141732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C200"/>
                </a:solidFill>
              </a:rPr>
              <a:t>Investment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23960" y="1371600"/>
            <a:ext cx="77724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141732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C200"/>
                </a:solidFill>
              </a:rPr>
              <a:t>Royalty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46920" y="1371600"/>
            <a:ext cx="178308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141732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C200"/>
                </a:solidFill>
              </a:rPr>
              <a:t>Menu Type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75720" y="1371600"/>
            <a:ext cx="105156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21440" y="1417320"/>
            <a:ext cx="1005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C200"/>
                </a:solidFill>
              </a:rPr>
              <a:t>ROI Period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573000" y="1371600"/>
            <a:ext cx="96012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618720" y="141732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C200"/>
                </a:solidFill>
              </a:rPr>
              <a:t>India Focus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783080"/>
            <a:ext cx="1600200" cy="36576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1801368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7262C"/>
                </a:solidFill>
              </a:rPr>
              <a:t>ABC FastFood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35240" y="1783080"/>
            <a:ext cx="1143000" cy="36576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180136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7262C"/>
                </a:solidFill>
              </a:rPr>
              <a:t>₹50 Lakhs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23960" y="1783080"/>
            <a:ext cx="777240" cy="36576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0" y="1801368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7262C"/>
                </a:solidFill>
              </a:rPr>
              <a:t>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46920" y="1783080"/>
            <a:ext cx="1783080" cy="36576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180136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7262C"/>
                </a:solidFill>
              </a:rPr>
              <a:t>Pizza+Burger+Chicken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75720" y="1783080"/>
            <a:ext cx="1051560" cy="36576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521440" y="1801368"/>
            <a:ext cx="10058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7262C"/>
                </a:solidFill>
              </a:rPr>
              <a:t>18–24M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573000" y="1783080"/>
            <a:ext cx="960120" cy="36576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618720" y="180136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7262C"/>
                </a:solidFill>
              </a:rPr>
              <a:t>✅ 100%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2167128"/>
            <a:ext cx="1600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2185416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Domino's India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35240" y="2167128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0" y="2185416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₹75–100L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23960" y="2167128"/>
            <a:ext cx="7772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69680" y="2185416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5.5%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46920" y="2167128"/>
            <a:ext cx="1783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92640" y="2185416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Pizza Only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75720" y="2167128"/>
            <a:ext cx="10515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521440" y="2185416"/>
            <a:ext cx="10058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36–48M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573000" y="2167128"/>
            <a:ext cx="960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618720" y="2185416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⚠ Partial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89320" y="2551176"/>
            <a:ext cx="1600200" cy="365760"/>
          </a:xfrm>
          <a:prstGeom prst="rect">
            <a:avLst/>
          </a:prstGeom>
          <a:solidFill>
            <a:srgbClr val="F0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35040" y="2569464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KFC India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35240" y="2551176"/>
            <a:ext cx="1143000" cy="365760"/>
          </a:xfrm>
          <a:prstGeom prst="rect">
            <a:avLst/>
          </a:prstGeom>
          <a:solidFill>
            <a:srgbClr val="F0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80960" y="2569464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₹1–1.5 Cr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823960" y="2551176"/>
            <a:ext cx="777240" cy="365760"/>
          </a:xfrm>
          <a:prstGeom prst="rect">
            <a:avLst/>
          </a:prstGeom>
          <a:solidFill>
            <a:srgbClr val="F0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69680" y="2569464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6%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46920" y="2551176"/>
            <a:ext cx="1783080" cy="365760"/>
          </a:xfrm>
          <a:prstGeom prst="rect">
            <a:avLst/>
          </a:prstGeom>
          <a:solidFill>
            <a:srgbClr val="F0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92640" y="2569464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Chicken Only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475720" y="2551176"/>
            <a:ext cx="1051560" cy="365760"/>
          </a:xfrm>
          <a:prstGeom prst="rect">
            <a:avLst/>
          </a:prstGeom>
          <a:solidFill>
            <a:srgbClr val="F0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521440" y="2569464"/>
            <a:ext cx="10058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36–60M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573000" y="2551176"/>
            <a:ext cx="960120" cy="365760"/>
          </a:xfrm>
          <a:prstGeom prst="rect">
            <a:avLst/>
          </a:prstGeom>
          <a:solidFill>
            <a:srgbClr val="F0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618720" y="2569464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⚠ Partial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89320" y="2935224"/>
            <a:ext cx="1600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2953512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McDonald's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635240" y="2935224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80960" y="2953512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₹1.5–2 Cr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23960" y="2935224"/>
            <a:ext cx="7772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869680" y="2953512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4%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646920" y="2935224"/>
            <a:ext cx="1783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92640" y="2953512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Burger Only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475720" y="2935224"/>
            <a:ext cx="10515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521440" y="2953512"/>
            <a:ext cx="10058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48–72M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573000" y="2935224"/>
            <a:ext cx="960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618720" y="2953512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⚠ Partial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89320" y="3319272"/>
            <a:ext cx="1600200" cy="365760"/>
          </a:xfrm>
          <a:prstGeom prst="rect">
            <a:avLst/>
          </a:prstGeom>
          <a:solidFill>
            <a:srgbClr val="F0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035040" y="3337560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Subway India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635240" y="3319272"/>
            <a:ext cx="1143000" cy="365760"/>
          </a:xfrm>
          <a:prstGeom prst="rect">
            <a:avLst/>
          </a:prstGeom>
          <a:solidFill>
            <a:srgbClr val="F0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680960" y="3337560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₹40–60L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823960" y="3319272"/>
            <a:ext cx="777240" cy="365760"/>
          </a:xfrm>
          <a:prstGeom prst="rect">
            <a:avLst/>
          </a:prstGeom>
          <a:solidFill>
            <a:srgbClr val="F0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869680" y="3337560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8%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646920" y="3319272"/>
            <a:ext cx="1783080" cy="365760"/>
          </a:xfrm>
          <a:prstGeom prst="rect">
            <a:avLst/>
          </a:prstGeom>
          <a:solidFill>
            <a:srgbClr val="F0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692640" y="3337560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Sandwiches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475720" y="3319272"/>
            <a:ext cx="1051560" cy="365760"/>
          </a:xfrm>
          <a:prstGeom prst="rect">
            <a:avLst/>
          </a:prstGeom>
          <a:solidFill>
            <a:srgbClr val="F0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521440" y="3337560"/>
            <a:ext cx="10058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24–36M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2573000" y="3319272"/>
            <a:ext cx="960120" cy="365760"/>
          </a:xfrm>
          <a:prstGeom prst="rect">
            <a:avLst/>
          </a:prstGeom>
          <a:solidFill>
            <a:srgbClr val="F0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2618720" y="3337560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⚠ Partial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989320" y="3703320"/>
            <a:ext cx="1600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035040" y="3721608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Local QSR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635240" y="3703320"/>
            <a:ext cx="1143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680960" y="3721608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₹20–40L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823960" y="3703320"/>
            <a:ext cx="7772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869680" y="3721608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0%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646920" y="3703320"/>
            <a:ext cx="1783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692640" y="372160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Limited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1475720" y="3703320"/>
            <a:ext cx="10515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1521440" y="3721608"/>
            <a:ext cx="10058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12–24M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2573000" y="3703320"/>
            <a:ext cx="960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2618720" y="372160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</a:rPr>
              <a:t>✅ Yes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989320" y="4251960"/>
            <a:ext cx="6199632" cy="36576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080760" y="4279392"/>
            <a:ext cx="5943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★  ABC FastFood offers the BEST value-to-investment ratio in the Indian QSR market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37160"/>
            <a:ext cx="5943600" cy="384048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3192" y="173736"/>
            <a:ext cx="5852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09  |  WHY ABC FASTFOOD OVER COMPETITION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10 COMPELLING REASONS TO CHOOSE ABC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234440"/>
            <a:ext cx="11274552" cy="0"/>
          </a:xfrm>
          <a:prstGeom prst="line">
            <a:avLst/>
          </a:prstGeom>
          <a:ln w="25400">
            <a:solidFill>
              <a:srgbClr val="FFC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20040" y="1371600"/>
            <a:ext cx="5577840" cy="9144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457200" cy="91440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" y="1600200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41732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7262C"/>
                </a:solidFill>
              </a:rPr>
              <a:t>LOWEST INVESTMENT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1051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₹50L vs ₹75L–₹200L for MNCs — 50–75% cheaper to start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371600"/>
            <a:ext cx="5577840" cy="9144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371600"/>
            <a:ext cx="457200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1600200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141732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3-IN-1 MENU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81051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Pizza + Burgers + Chicken = 3x customer base. No competitor matches this breadth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423160"/>
            <a:ext cx="5577840" cy="9144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423160"/>
            <a:ext cx="457200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" y="2651760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2468879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FASTEST ROI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286207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18–24 months vs 36–72 months for major MNC franchises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2423160"/>
            <a:ext cx="5577840" cy="9144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2423160"/>
            <a:ext cx="4572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90488" y="2651760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468879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980B9"/>
                </a:solidFill>
              </a:rPr>
              <a:t>100% INDIA-FIRST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286207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Menu engineered for Indian tastes — Tikka Pizza, Desi Burgers, Spicy Wings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474720"/>
            <a:ext cx="5577840" cy="9144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3474720"/>
            <a:ext cx="457200" cy="9144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" y="3703320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3520439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E44AD"/>
                </a:solidFill>
              </a:rPr>
              <a:t>END-TO-END SUPPORT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3913631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Site selection → design → training → launch → ongoing ops support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3474720"/>
            <a:ext cx="5577840" cy="9144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3474720"/>
            <a:ext cx="457200" cy="914400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0488" y="3703320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3520439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200"/>
                </a:solidFill>
              </a:rPr>
              <a:t>LOWER ROYALTY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3913631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5% royalty vs 6–8% at Subway/KFC — more profit stays with YOU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526279"/>
            <a:ext cx="5577840" cy="9144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" y="4526279"/>
            <a:ext cx="457200" cy="91440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8328" y="4754879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4571999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7262C"/>
                </a:solidFill>
              </a:rPr>
              <a:t>SMALLER SPACE NEEDED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496519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Profitable at 1,000 sq ft vs 1,500–2,500 sq ft for MNCs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4526279"/>
            <a:ext cx="5577840" cy="9144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72200" y="4526279"/>
            <a:ext cx="457200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90488" y="4754879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4571999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DELIVERY-FIRST DESIGN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20840" y="496519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Swiggy + Zomato + own app integration from Day 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5577840"/>
            <a:ext cx="5577840" cy="9144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0040" y="5577840"/>
            <a:ext cx="457200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8328" y="5806440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" y="5623559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SCALABLE MODEL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" y="601675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Multi-unit rights available — grow from 1 to 10+ outlets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2200" y="5577840"/>
            <a:ext cx="5577840" cy="9144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72200" y="5577840"/>
            <a:ext cx="4572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90488" y="5806440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5623559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980B9"/>
                </a:solidFill>
              </a:rPr>
              <a:t>GROWING BRAND EQUITY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20840" y="601675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National marketing campaigns + social media with 500K+ followers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" y="651967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BOTTOM LINE: More menu. Less money. Faster returns. Better support. ABC FastFood is built for YOUR success.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37160"/>
            <a:ext cx="5029200" cy="384048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3192" y="173736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10  |  SUPPORT &amp; TRAINING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YOU ARE NEVER ALONE — WE'RE WITH YOU 24/7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234440"/>
            <a:ext cx="11274552" cy="0"/>
          </a:xfrm>
          <a:prstGeom prst="line">
            <a:avLst/>
          </a:prstGeom>
          <a:ln w="25400">
            <a:solidFill>
              <a:srgbClr val="D726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20040" y="1417320"/>
            <a:ext cx="356616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3566160" cy="9144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52704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5819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7262C"/>
                </a:solidFill>
              </a:rPr>
              <a:t>Pre-Launch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7568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✓ Site selection &amp; lease negotiation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459736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✓ Store design &amp; layout blueprint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43784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✓ Equipment procurement guidance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2783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✓ Pre-opening marketing campaign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417320"/>
            <a:ext cx="356616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06240" y="1417320"/>
            <a:ext cx="3566160" cy="914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152704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15819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E44AD"/>
                </a:solidFill>
              </a:rPr>
              <a:t>Training Programme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07568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✓ 14-day intensive at ABC Training 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459736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✓ Operations manual &amp; SOPs provided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843784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✓ Kitchen management &amp; food safety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322783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✓ POS system &amp; inventory training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2440" y="1417320"/>
            <a:ext cx="356616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2440" y="1417320"/>
            <a:ext cx="3566160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152704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15819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Launch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07568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✓ Dedicated opening team on-site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459736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✓ Grand opening marketing push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843784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✓ Social media activation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22783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✓ Free PR &amp; local press coverage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931920"/>
            <a:ext cx="356616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3931920"/>
            <a:ext cx="3566160" cy="91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404164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096511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Ongoing Operations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59028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✓ Monthly field visits by business coach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974336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✓ 24/7 helpline &amp; WhatsApp support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358383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✓ Supply chain — centralized procurement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742431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✓ Quarterly performance reviews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3931920"/>
            <a:ext cx="356616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06240" y="3931920"/>
            <a:ext cx="356616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06240" y="404164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0600" y="4096511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980B9"/>
                </a:solidFill>
              </a:rPr>
              <a:t>Marketing &amp; Tech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459028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✓ National &amp; regional ad campaigns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43400" y="4974336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✓ Swiggy/Zomato account management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43400" y="5358383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✓ Own ABC app with loyalty programme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5742431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✓ Data dashboard — real-time analytics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92440" y="3931920"/>
            <a:ext cx="356616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92440" y="3931920"/>
            <a:ext cx="3566160" cy="91440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92440" y="404164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4096511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200"/>
                </a:solidFill>
              </a:rPr>
              <a:t>Growth Support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459028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✓ Multi-unit franchise opportunities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4974336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✓ Annual franchisee conference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5358383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✓ New product rollout support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5742431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</a:rPr>
              <a:t>✓ Territory expansion rights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37160"/>
            <a:ext cx="4114800" cy="384048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3192" y="173736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11  |  EXPANSION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SCALING INDIA — 500 OUTLETS BY 2030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234440"/>
            <a:ext cx="11274552" cy="0"/>
          </a:xfrm>
          <a:prstGeom prst="line">
            <a:avLst/>
          </a:prstGeom>
          <a:ln w="25400">
            <a:solidFill>
              <a:srgbClr val="FFC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20040" y="2103120"/>
            <a:ext cx="11430000" cy="54864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63040" y="1874519"/>
            <a:ext cx="320040" cy="32004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331720"/>
            <a:ext cx="2560320" cy="34747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2560320" cy="109728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2344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7262C"/>
                </a:solidFill>
              </a:rPr>
              <a:t>2024–25
PHASE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4231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Foundation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92608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CCCCC"/>
                </a:solidFill>
              </a:rPr>
              <a:t>25 outlets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CCCCC"/>
                </a:solidFill>
              </a:rPr>
              <a:t>Metro cities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CCCCC"/>
                </a:solidFill>
              </a:rPr>
              <a:t>Delhi, Mumbai,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CCCCC"/>
                </a:solidFill>
              </a:rPr>
              <a:t>Bengaluru, Hyderabad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874519"/>
            <a:ext cx="320040" cy="320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0" y="2331720"/>
            <a:ext cx="2560320" cy="34747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2331720"/>
            <a:ext cx="2560320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12344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7E22"/>
                </a:solidFill>
              </a:rPr>
              <a:t>2025–26
PHASE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4231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Expansion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92608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CCCCC"/>
                </a:solidFill>
              </a:rPr>
              <a:t>100 outlets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CCCCC"/>
                </a:solidFill>
              </a:rPr>
              <a:t>Tier 1 &amp; Tier 2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CCCCC"/>
                </a:solidFill>
              </a:rPr>
              <a:t>cities across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CCCCC"/>
                </a:solidFill>
              </a:rPr>
              <a:t>12 states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1874519"/>
            <a:ext cx="32004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2331720"/>
            <a:ext cx="2560320" cy="34747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2331720"/>
            <a:ext cx="2560320" cy="1097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12344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</a:rPr>
              <a:t>2026–27
PHASE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4231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92608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CCCCC"/>
                </a:solidFill>
              </a:rPr>
              <a:t>250 outlets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CCCCC"/>
                </a:solidFill>
              </a:rPr>
              <a:t>Tier 2 &amp; Tier 3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CCCCC"/>
                </a:solidFill>
              </a:rPr>
              <a:t>cities, dark kitchens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CCCCC"/>
                </a:solidFill>
              </a:rPr>
              <a:t>&amp; cloud outlets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66960" y="1874519"/>
            <a:ext cx="320040" cy="3200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61120" y="2331720"/>
            <a:ext cx="2560320" cy="34747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61120" y="2331720"/>
            <a:ext cx="2560320" cy="10972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0" y="12344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980B9"/>
                </a:solidFill>
              </a:rPr>
              <a:t>2028–30
PHASE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24231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Domination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292608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CCCCC"/>
                </a:solidFill>
              </a:rPr>
              <a:t>500+ outlets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CCCCC"/>
                </a:solidFill>
              </a:rPr>
              <a:t>Pan-India presence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CCCCC"/>
                </a:solidFill>
              </a:rPr>
              <a:t>International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CCCCC"/>
                </a:solidFill>
              </a:rPr>
              <a:t>exploration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0"/>
            <a:ext cx="1143000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37160"/>
            <a:ext cx="5029200" cy="384048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3192" y="173736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IDEAL FRANCHISEE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</a:rPr>
              <a:t>ARE YOU THE RIGHT FIT FOR ABC FASTFOOD?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1234440"/>
            <a:ext cx="11274552" cy="0"/>
          </a:xfrm>
          <a:prstGeom prst="line">
            <a:avLst/>
          </a:prstGeom>
          <a:ln w="25400">
            <a:solidFill>
              <a:srgbClr val="D726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20040" y="1417320"/>
            <a:ext cx="5394960" cy="1508760"/>
          </a:xfrm>
          <a:prstGeom prst="rect">
            <a:avLst/>
          </a:prstGeom>
          <a:solidFill>
            <a:srgbClr val="F0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50876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A1A2E"/>
                </a:solidFill>
              </a:rPr>
              <a:t>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581912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7262C"/>
                </a:solidFill>
              </a:rPr>
              <a:t>Financial Capacity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011680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Minimum liquid funds of ₹50 Lakhs. Proof of financial capability required.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79" y="1417320"/>
            <a:ext cx="5394960" cy="1508760"/>
          </a:xfrm>
          <a:prstGeom prst="rect">
            <a:avLst/>
          </a:prstGeom>
          <a:solidFill>
            <a:srgbClr val="F0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79" y="1417320"/>
            <a:ext cx="109728" cy="150876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16002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A1A2E"/>
                </a:solidFill>
              </a:rPr>
              <a:t>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1581912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7262C"/>
                </a:solidFill>
              </a:rPr>
              <a:t>Business Mindset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011680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Entrepreneurial drive with willingness to follow the ABC system and SOPs.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108960"/>
            <a:ext cx="5394960" cy="1508760"/>
          </a:xfrm>
          <a:prstGeom prst="rect">
            <a:avLst/>
          </a:prstGeom>
          <a:solidFill>
            <a:srgbClr val="F0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108960"/>
            <a:ext cx="109728" cy="150876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2918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A1A2E"/>
                </a:solidFill>
              </a:rPr>
              <a:t>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273552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7262C"/>
                </a:solidFill>
              </a:rPr>
              <a:t>Local Market Knowledge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703320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Understanding of local consumer behaviour, footfall areas, and competition.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79" y="3108960"/>
            <a:ext cx="5394960" cy="1508760"/>
          </a:xfrm>
          <a:prstGeom prst="rect">
            <a:avLst/>
          </a:prstGeom>
          <a:solidFill>
            <a:srgbClr val="F0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79" y="3108960"/>
            <a:ext cx="109728" cy="150876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32918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A1A2E"/>
                </a:solidFill>
              </a:rPr>
              <a:t>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273552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7262C"/>
                </a:solidFill>
              </a:rPr>
              <a:t>Commitment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703320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Owner-operated or active oversight. We prefer hands-on franchisees.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800600"/>
            <a:ext cx="5394960" cy="1508760"/>
          </a:xfrm>
          <a:prstGeom prst="rect">
            <a:avLst/>
          </a:prstGeom>
          <a:solidFill>
            <a:srgbClr val="F0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800600"/>
            <a:ext cx="109728" cy="150876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983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A1A2E"/>
                </a:solidFill>
              </a:rPr>
              <a:t>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965192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7262C"/>
                </a:solidFill>
              </a:rPr>
              <a:t>Team Builder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394960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Ability to recruit, manage and motivate a team of 6–10 staff members.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79" y="4800600"/>
            <a:ext cx="5394960" cy="1508760"/>
          </a:xfrm>
          <a:prstGeom prst="rect">
            <a:avLst/>
          </a:prstGeom>
          <a:solidFill>
            <a:srgbClr val="F0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6479" y="4800600"/>
            <a:ext cx="109728" cy="150876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59" y="4983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A1A2E"/>
                </a:solidFill>
              </a:rPr>
              <a:t>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965192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7262C"/>
                </a:solidFill>
              </a:rPr>
              <a:t>Tech Savvy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5394960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Comfortable with POS systems, delivery apps, and digital marketing basics.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6446520"/>
            <a:ext cx="11430000" cy="32004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473952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No food industry experience required — our training system will make you a pro!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89520" y="0"/>
            <a:ext cx="201168" cy="6858000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37160"/>
            <a:ext cx="3657600" cy="384048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73736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12  | 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8580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READY TO OWN YOUR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C200"/>
                </a:solidFill>
              </a:rPr>
              <a:t>ABC FASTFOOD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10512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FRANCHISE?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2450592"/>
            <a:ext cx="11274552" cy="0"/>
          </a:xfrm>
          <a:prstGeom prst="line">
            <a:avLst/>
          </a:prstGeom>
          <a:ln w="25400">
            <a:solidFill>
              <a:srgbClr val="FFC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20040" y="2606040"/>
            <a:ext cx="1097280" cy="54864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2679192"/>
            <a:ext cx="1060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62432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Fill Franchise Enquiry 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90779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</a:rPr>
              <a:t>Apply online or contact our franchise team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264408"/>
            <a:ext cx="1097280" cy="548640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3337560"/>
            <a:ext cx="1060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28269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Discovery Call / Meeting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56616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</a:rPr>
              <a:t>30-min call with our franchise development team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922776"/>
            <a:ext cx="1097280" cy="54864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" y="3995928"/>
            <a:ext cx="1060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941063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Site 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22452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</a:rPr>
              <a:t>Our experts visit &amp; approve your proposed location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581144"/>
            <a:ext cx="1097280" cy="548640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" y="4654296"/>
            <a:ext cx="1060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</a:rPr>
              <a:t>STEP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599431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Agreement Signing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88289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</a:rPr>
              <a:t>Legal documentation &amp; territory allocation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239512"/>
            <a:ext cx="1097280" cy="548640"/>
          </a:xfrm>
          <a:prstGeom prst="rect">
            <a:avLst/>
          </a:prstGeom>
          <a:solidFill>
            <a:srgbClr val="D7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" y="5312664"/>
            <a:ext cx="1060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525780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Training &amp; Setup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554126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</a:rPr>
              <a:t>14-day training + store fit-out begins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897879"/>
            <a:ext cx="1097280" cy="548640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" y="5971031"/>
            <a:ext cx="1060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</a:rPr>
              <a:t>STEP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5916167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GRAND OPENING!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" y="6199631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</a:rPr>
              <a:t>Launch your ABC FastFood franchise!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13716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GET IN TOUCH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201168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📞  +91 98765 43210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26060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📧  franchise@abcfastfood.in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320040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🌐  www.abcfastfood.in/franchise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79" y="379476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📍  ABC FastFood HQ, Mumbai, India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434840"/>
            <a:ext cx="3794760" cy="594360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4471416"/>
            <a:ext cx="3794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</a:rPr>
              <a:t>APPLY NOW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09560" y="5166360"/>
            <a:ext cx="3794760" cy="14173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01000" y="5230368"/>
            <a:ext cx="3611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DDDDDD"/>
                </a:solidFill>
              </a:rPr>
              <a:t>Limited franchise territories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DDDDDD"/>
                </a:solidFill>
              </a:rPr>
              <a:t>available in your city.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DDDDDD"/>
                </a:solidFill>
              </a:rPr>
              <a:t>First-come, first-served basis.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DDDDDD"/>
                </a:solidFill>
              </a:rPr>
              <a:t>Apply before slots fill up!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