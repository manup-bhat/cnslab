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78" r:id="rId4"/>
    <p:sldId id="263" r:id="rId5"/>
    <p:sldId id="264" r:id="rId6"/>
    <p:sldId id="271" r:id="rId7"/>
    <p:sldId id="268" r:id="rId8"/>
    <p:sldId id="269" r:id="rId9"/>
    <p:sldId id="276" r:id="rId10"/>
    <p:sldId id="275" r:id="rId11"/>
    <p:sldId id="279" r:id="rId17"/>
    <p:sldId id="280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EBDA19-7459-437E-87C6-172F433A6FFA}">
  <a:tblStyle styleId="{03EBDA19-7459-437E-87C6-172F433A6F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ee3756f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cee3756f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27107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d027107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A0DB3A1-7286-23CE-1596-698D3075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27107ea4_0_0:notes">
            <a:extLst>
              <a:ext uri="{FF2B5EF4-FFF2-40B4-BE49-F238E27FC236}">
                <a16:creationId xmlns:a16="http://schemas.microsoft.com/office/drawing/2014/main" id="{3C77C475-992C-27CF-7ED6-021DF298FF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d027107ea4_0_0:notes">
            <a:extLst>
              <a:ext uri="{FF2B5EF4-FFF2-40B4-BE49-F238E27FC236}">
                <a16:creationId xmlns:a16="http://schemas.microsoft.com/office/drawing/2014/main" id="{653CD9B6-6B09-A92E-2589-EAFF17F62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496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027107ea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d027107ea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ee3756f8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cee3756f8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ef51215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cef51215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ee3756f8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cee3756f8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DB79BA80-E4BA-EA45-7EB8-A3173056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5F78F06D-B400-1DAD-10C1-5F7211F92F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A71988F2-44A4-D2FB-0849-44E09FB32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579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366E168-DD1B-5191-F81A-53D01A32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1CA165F7-A09B-BA8F-A11D-BD6F0234B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E34355F2-8B41-CEFD-9013-5326CD2A3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44371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833101" y="410175"/>
            <a:ext cx="69639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0" marR="0" lvl="0" indent="0" algn="ctr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1400"/>
              <a:buFont typeface="Verdana"/>
              <a:buNone/>
            </a:pPr>
            <a:r>
              <a:rPr sz="1800" b="1">
                <a:latin typeface="Times New Roman"/>
              </a:rPr>
              <a:t>DEPARTMENT OF INFORMATION SCIENCE &amp; ENGINEERING</a:t>
            </a:r>
            <a:endParaRPr sz="1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848875" y="825575"/>
            <a:ext cx="73494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sz="1900" b="1">
                <a:solidFill>
                  <a:srgbClr val="FF0000"/>
                </a:solidFill>
                <a:latin typeface="Times New Roman"/>
              </a:rPr>
              <a:t>Major Project (IS481P)</a:t>
            </a:r>
            <a:endParaRPr lang="en" sz="19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spcAft>
                <a:spcPts val="100"/>
              </a:spcAft>
            </a:pPr>
            <a:r>
              <a:rPr sz="1900" b="1">
                <a:latin typeface="Times New Roman"/>
              </a:rPr>
              <a:t>“Non-Human Identity Governance Agent”</a:t>
            </a:r>
          </a:p>
          <a:p>
            <a:pPr algn="ctr">
              <a:spcAft>
                <a:spcPts val="100"/>
              </a:spcAft>
            </a:pPr>
            <a:r>
              <a:rPr sz="1400" b="1">
                <a:latin typeface="Times New Roman"/>
              </a:rPr>
              <a:t>Evaluation — Phase III</a:t>
            </a:r>
          </a:p>
          <a:p>
            <a:pPr algn="ctr">
              <a:spcAft>
                <a:spcPts val="100"/>
              </a:spcAft>
            </a:pPr>
            <a:r>
              <a:rPr sz="1200" b="0">
                <a:latin typeface="Times New Roman"/>
              </a:rPr>
              <a:t>Academic Year – 2025-26</a:t>
            </a:r>
          </a:p>
          <a:p>
            <a:pPr algn="ctr">
              <a:spcAft>
                <a:spcPts val="100"/>
              </a:spcAft>
            </a:pPr>
            <a:r>
              <a:rPr sz="800" b="0">
                <a:latin typeface="Times New Roman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00" b="1">
                <a:latin typeface="Times New Roman"/>
              </a:rPr>
              <a:t>Carried Out By:                                            Carried Out At:</a:t>
            </a:r>
          </a:p>
          <a:p>
            <a:pPr algn="l">
              <a:spcAft>
                <a:spcPts val="100"/>
              </a:spcAft>
            </a:pPr>
            <a:r>
              <a:rPr sz="1200" b="0">
                <a:latin typeface="Times New Roman"/>
              </a:rPr>
              <a:t>Manu Prakash Bhat (1RV22IS035)                     Honeywell</a:t>
            </a:r>
          </a:p>
          <a:p>
            <a:pPr algn="l">
              <a:spcAft>
                <a:spcPts val="100"/>
              </a:spcAft>
            </a:pPr>
            <a:r>
              <a:rPr sz="600" b="0">
                <a:latin typeface="Times New Roman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00" b="1">
                <a:latin typeface="Times New Roman"/>
              </a:rPr>
              <a:t>Internal Guide:                                             External Guide:</a:t>
            </a:r>
          </a:p>
          <a:p>
            <a:pPr algn="l">
              <a:spcAft>
                <a:spcPts val="100"/>
              </a:spcAft>
            </a:pPr>
            <a:r>
              <a:rPr sz="1200" b="0">
                <a:latin typeface="Times New Roman"/>
              </a:rPr>
              <a:t>Dr. Merin Meleet                                           Tejeshwar Rao</a:t>
            </a:r>
          </a:p>
          <a:p>
            <a:pPr algn="l">
              <a:spcAft>
                <a:spcPts val="100"/>
              </a:spcAft>
            </a:pPr>
            <a:r>
              <a:rPr sz="1200" b="0">
                <a:latin typeface="Times New Roman"/>
              </a:rPr>
              <a:t>Associate Professor, Dept. of ISE                  Manager DevSecOps &amp; Cloud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DF329-031A-4A70-B2B8-6776069254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Incorporation of Suggestions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800"/>
              <a:buNone/>
            </a:pPr>
            <a:r>
              <a:rPr sz="1600" b="1">
                <a:latin typeface="Times New Roman"/>
              </a:rPr>
              <a:t>Phase-II Panel Feedback Addressed: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Enhanced credential rotation with pre-rotation validation and rollback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Added exponential backoff for Azure Graph API rate-limiting (HTTP 429)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Implemented dual-notification: Email + Teams webhook for critical alerts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Expanded OPA policies to include GitHub PATs in governance scope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Added audit trail logging for all remediation actions (SOC 2 evidence)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Improved HTML reports with sortable columns and risk-level filtering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Achieved 82% unit test coverage across all monitoring modules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3C3955B-06A6-CAB7-4A46-E2992A5A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6057E493-0987-0FF2-0686-5C9853A03B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Detailed Design</a:t>
            </a: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FA49F16B-167D-1E78-C6F2-70A00FE75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sz="1400" b="0">
                <a:latin typeface="Times New Roman"/>
              </a:rPr>
              <a:t>The system uses a four-layer architecture: Discovery (Azure Graph API + OpenSSL) → AI Classification (LangChain risk scoring) → Policy Enforcement (OPA/Rego) → Automated Remediation (GitHub Actions + Key Vault). Each layer operates independently via event-driven GitHub Actions pipelines.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A75B1-7A99-B75B-2299-DD14DB643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2" name="Picture 61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00" y="2000000"/>
            <a:ext cx="8400000" cy="89583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0000" y="2955833"/>
            <a:ext cx="83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latin typeface="Times New Roman"/>
              </a:rPr>
              <a:t>Fig. 1: Four-Layer NHI Governance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8140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Implementation Details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129825" y="1064102"/>
            <a:ext cx="8884500" cy="3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sz="1600" b="1">
                <a:latin typeface="Times New Roman"/>
              </a:rPr>
              <a:t>Core Modules Developed: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check_certs.sh — TLS certificate monitor (OpenSSL + SNI + custom ports)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check_azure_sp.py — Azure SP credential monitor (Graph API)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risk_scorer.py — LangChain AI agent for multi-dimensional risk scoring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policy_engine.py — OPA/Rego governance rule evaluation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rotate_credentials.py — Automated rotation via Azure Key Vault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report_generator.py — HTML/CSV reports with colour-coded indicators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CI/CD: Three GitHub Actions workflows deployed (cert-expiry, azure-sp-expiry, auto-remediate)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D0DBE-A6FA-4A55-96D9-C4DA6059AC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Technical Solution Development</a:t>
            </a:r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129825" y="1064102"/>
            <a:ext cx="8884500" cy="3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sz="1600" b="1">
                <a:latin typeface="Times New Roman"/>
              </a:rPr>
              <a:t>AI-Driven Risk Classification (LangChain)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Privilege Scope Score — API permissions mapped to risk weight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Credential Age Score — Days since creation vs. 30-day policy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Usage Pattern Score — Dormant &gt; 7 days triggers escalation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latin typeface="Times New Roman"/>
              </a:rPr>
              <a:t>Policy-as-Code Enforcement (OPA/Rego)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no_stale_secret: deny if credential.age_days &gt; 30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no_dormant_identity: deny if last_used_days &gt; 7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no_overprivileged: deny if permissions contain write_all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Automated Remediation: Policy violation → GitHub Actions → Key Vault rotation → Audit log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24F1F-A5D3-4CEE-B656-1DAD048ECF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Environmental &amp; Sustainability Considerations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>
                <a:latin typeface="Times New Roman"/>
              </a:rPr>
              <a:t>Sustainable Design Principles: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Event-driven — workflows execute only on trigger, no always-on compute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Serverless-first — GitHub Actions runners are on-demand, zero idle cost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Rolling retention — 15-report window auto-prunes stale artifacts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Efficient API usage — batch queries with caching reduce redundant calls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latin typeface="Times New Roman"/>
              </a:rPr>
              <a:t>Resource Metrics: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Avg execution: 45s (cert-check) | 90s (SP-check) | 30s (rotation)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Monthly compute cost: $0 (GitHub Actions free tier)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Non-critical scans scheduled during off-peak hours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EFAFBB-6C29-47FA-A460-420C6A4EA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Demonstration — System Workflow</a:t>
            </a:r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sz="1400">
                <a:latin typeface="Times New Roman"/>
              </a:rPr>
              <a:t>End-to-end governance workflow: Discovery scans identify NHIs → AI classifies risk → OPA policies evaluate compliance → Violations auto-remediated via credential rotation.</a:t>
            </a:r>
            <a:endParaRPr dirty="0">
              <a:latin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E86ED1-86B0-4B20-8836-5107CE72B6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130" name="Picture 129" descr="architecture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673" y="1800000"/>
            <a:ext cx="1568654" cy="300000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400000" y="4860000"/>
            <a:ext cx="83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latin typeface="Times New Roman"/>
              </a:rPr>
              <a:t>Fig. 2: Governance Workflow (Mermaid)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Demonstration — Execution Flow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sz="1400">
                <a:latin typeface="Times New Roman"/>
              </a:rPr>
              <a:t>Sequence: Scheduler triggers Credential Agent → Azure AD queried → Risk Scorer evaluates → Policy Engine checks rules → Remediation rotates secrets if violated.</a:t>
            </a:r>
            <a:endParaRPr dirty="0">
              <a:latin typeface="Times New Roman" panose="02020603050405020304" pitchFamily="18" charset="0"/>
              <a:ea typeface="MS Mincho" panose="02020609040205080304" pitchFamily="49" charset="-128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3E166-A2F1-4C7B-9188-4F1ED1CD62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136" name="Picture 135" descr="execution_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373" y="1800000"/>
            <a:ext cx="4919254" cy="300000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400000" y="4860000"/>
            <a:ext cx="83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latin typeface="Times New Roman"/>
              </a:rPr>
              <a:t>Fig. 3: Execution Sequence Diagram (Mermaid)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FF067644-50DC-4294-80F7-1D994D10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>
            <a:extLst>
              <a:ext uri="{FF2B5EF4-FFF2-40B4-BE49-F238E27FC236}">
                <a16:creationId xmlns:a16="http://schemas.microsoft.com/office/drawing/2014/main" id="{2AC97730-CE50-D338-6CD4-1DF4FDCF4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Results Obtained so far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6">
            <a:extLst>
              <a:ext uri="{FF2B5EF4-FFF2-40B4-BE49-F238E27FC236}">
                <a16:creationId xmlns:a16="http://schemas.microsoft.com/office/drawing/2014/main" id="{E1EDE473-6D10-E124-D808-13BF8A703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sz="1600" b="0">
                <a:latin typeface="Times New Roman"/>
              </a:rPr>
              <a:t>• Full NHI discovery pipeline operational — 50+ Azure SPs, 30+ TLS endpoints</a:t>
            </a:r>
            <a:endParaRPr dirty="0">
              <a:latin typeface="Times New Roman" panose="02020603050405020304" pitchFamily="18" charset="0"/>
              <a:ea typeface="MS Mincho" panose="02020609040205080304" pitchFamily="49" charset="-128"/>
              <a:sym typeface="Times New Roman"/>
            </a:endParaRP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Three-tier classification (CRITICAL / EXPIRING / OK) with configurable thresholds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LangChain AI risk scoring across privilege, age, and usage dimensions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OPA/Rego engine with 12 governance rules deployed and validated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Automated credential rotation via Azure Key Vault — zero standing secrets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Conditional alerts (SMTP + Teams) triggered only on violations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HTML + CSV reporting with SIEM-compatible export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3 GitHub Actions workflows with cron scheduling + 90-day retention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82% unit test coverage; all secrets in encrypted repository secrets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EE151-E0D4-14B7-D376-B301872C6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39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93A12645-194F-B4E8-0249-62BB59E7B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>
            <a:extLst>
              <a:ext uri="{FF2B5EF4-FFF2-40B4-BE49-F238E27FC236}">
                <a16:creationId xmlns:a16="http://schemas.microsoft.com/office/drawing/2014/main" id="{6BF60B48-2FB5-7FE3-F437-FB7A8FD06A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Work to be done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6">
            <a:extLst>
              <a:ext uri="{FF2B5EF4-FFF2-40B4-BE49-F238E27FC236}">
                <a16:creationId xmlns:a16="http://schemas.microsoft.com/office/drawing/2014/main" id="{E381FC37-86FB-AB55-BC89-51A69389C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sz="1600" b="0">
                <a:latin typeface="Times New Roman"/>
              </a:rPr>
              <a:t>• Deploy Azure-hosted real-time NHI inventory dashboard</a:t>
            </a:r>
            <a:endParaRPr dirty="0">
              <a:latin typeface="Times New Roman" panose="02020603050405020304" pitchFamily="18" charset="0"/>
              <a:ea typeface="MS Mincho" panose="02020609040205080304" pitchFamily="49" charset="-128"/>
              <a:sym typeface="Times New Roman"/>
            </a:endParaRP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Integrate anomaly detection for unusual identity access patterns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Build CISO audit log for SOC 2 / ISO 27001 compliance evidence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Implement multi-tenant support for multiple Azure AD tenants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Enterprise-scale performance testing (1000+ NHIs within SLA)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Security audit and penetration testing of the governance agent</a:t>
            </a:r>
          </a:p>
          <a:p>
            <a:pPr algn="l">
              <a:spcAft>
                <a:spcPts val="200"/>
              </a:spcAft>
            </a:pPr>
            <a:r>
              <a:rPr sz="1600" b="0">
                <a:latin typeface="Times New Roman"/>
              </a:rPr>
              <a:t>• Final documentation, user guide, and deployable package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67FB36-7FF6-5CF5-19B0-9E66CA4D09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361142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400" b="1">
                <a:latin typeface="Times New Roman"/>
              </a:rPr>
              <a:t>Component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ext cx="0" cy="500000"/>
          </a:xfrm>
        </p:spPr>
        <p:txBody>
          <a:bodyPr/>
          <a:lstStyle/>
          <a:p>
            <a:pPr algn="just"/>
            <a:r>
              <a:rPr sz="1400">
                <a:latin typeface="Times New Roman"/>
              </a:rPr>
              <a:t>Module dependency and data flow between system components across the four layers.</a:t>
            </a:r>
          </a:p>
        </p:txBody>
      </p:sp>
      <p:pic>
        <p:nvPicPr>
          <p:cNvPr id="4" name="Picture 3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00" y="1700000"/>
            <a:ext cx="8200000" cy="10783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2838323"/>
            <a:ext cx="83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latin typeface="Times New Roman"/>
              </a:rPr>
              <a:t>Fig. 4: Component Dependency Diagram (Mermaid)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400" b="1">
                <a:latin typeface="Times New Roman"/>
              </a:rP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[1] Ponemon Institute, "The 2024 State of Certificate Lifecycle Management," DigiCert, 2024.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[2] E. Barker, "Recommendation for Key Management: Part 1 – General," NIST SP 800-57 Rev. 5, May 2020.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[3] Microsoft, "Azure Well-Architected Framework: Identity and Access Management," Microsoft Learn, 2024.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[4] Microsoft, "Application and Service Principal Objects in Azure AD," Microsoft Learn, 2024.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[5] CISA, "IAM Recommended Best Practices Guide for Administrators," CISA, 2024.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[6] H. Chase et al., "LangChain: A Framework for LLM Applications," GitHub, 2023.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[7] T. Topsakal and T. Akinci, "Creating LLM Applications Utilizing LangChain," in Proc. ICAICE, 2023.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[8] Open Policy Agent, "Policy-Based Control for Cloud Native Environments," CNCF, 2024.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[9] GitHub Inc., "Security Hardening for GitHub Actions," GitHub Docs, 2024.</a:t>
            </a:r>
          </a:p>
          <a:p>
            <a:pPr algn="just">
              <a:spcAft>
                <a:spcPts val="200"/>
              </a:spcAft>
            </a:pPr>
            <a:r>
              <a:rPr sz="1200" b="0">
                <a:latin typeface="Times New Roman"/>
              </a:rPr>
              <a:t>[10] B. Beyer et al., Site Reliability Engineering, O’Reilly Media, 2016.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93</Words>
  <Application>Microsoft Office PowerPoint</Application>
  <PresentationFormat>On-screen Show (16:9)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Verdana</vt:lpstr>
      <vt:lpstr>Simple Light</vt:lpstr>
      <vt:lpstr>PowerPoint Presentation</vt:lpstr>
      <vt:lpstr>Incorporation of Suggestions</vt:lpstr>
      <vt:lpstr>Detailed Design</vt:lpstr>
      <vt:lpstr>Implementation Details</vt:lpstr>
      <vt:lpstr>Technical Solution Development</vt:lpstr>
      <vt:lpstr>Environmental &amp; Sustainability Considerations</vt:lpstr>
      <vt:lpstr>Demonstration</vt:lpstr>
      <vt:lpstr>Demonstration</vt:lpstr>
      <vt:lpstr>Results Obtained so far</vt:lpstr>
      <vt:lpstr>Work to be done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Vanishree K</dc:creator>
  <cp:lastModifiedBy>Vanishree K</cp:lastModifiedBy>
  <cp:revision>15</cp:revision>
  <dcterms:modified xsi:type="dcterms:W3CDTF">2026-05-04T17:18:12Z</dcterms:modified>
</cp:coreProperties>
</file>