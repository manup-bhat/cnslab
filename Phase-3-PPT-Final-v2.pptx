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78" r:id="rId4"/>
    <p:sldId id="263" r:id="rId5"/>
    <p:sldId id="264" r:id="rId6"/>
    <p:sldId id="281" r:id="rId7"/>
    <p:sldId id="282" r:id="rId8"/>
    <p:sldId id="285" r:id="rId9"/>
    <p:sldId id="269" r:id="rId10"/>
    <p:sldId id="268" r:id="rId11"/>
    <p:sldId id="283" r:id="rId12"/>
    <p:sldId id="276" r:id="rId13"/>
    <p:sldId id="284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3EBDA19-7459-437E-87C6-172F433A6FFA}">
  <a:tblStyle styleId="{03EBDA19-7459-437E-87C6-172F433A6FF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cee3756f8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2cee3756f8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27107e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2d027107e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7A0DB3A1-7286-23CE-1596-698D30759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27107ea4_0_0:notes">
            <a:extLst>
              <a:ext uri="{FF2B5EF4-FFF2-40B4-BE49-F238E27FC236}">
                <a16:creationId xmlns:a16="http://schemas.microsoft.com/office/drawing/2014/main" id="{3C77C475-992C-27CF-7ED6-021DF298FF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2d027107ea4_0_0:notes">
            <a:extLst>
              <a:ext uri="{FF2B5EF4-FFF2-40B4-BE49-F238E27FC236}">
                <a16:creationId xmlns:a16="http://schemas.microsoft.com/office/drawing/2014/main" id="{653CD9B6-6B09-A92E-2589-EAFF17F629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4496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d027107ea4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d027107ea4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cee3756f84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2cee3756f84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1C658A47-3E57-C698-D941-3AC5C0384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cee3756f84_0_105:notes">
            <a:extLst>
              <a:ext uri="{FF2B5EF4-FFF2-40B4-BE49-F238E27FC236}">
                <a16:creationId xmlns:a16="http://schemas.microsoft.com/office/drawing/2014/main" id="{201BD2BE-51DE-724F-094C-DBA6836469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2cee3756f84_0_105:notes">
            <a:extLst>
              <a:ext uri="{FF2B5EF4-FFF2-40B4-BE49-F238E27FC236}">
                <a16:creationId xmlns:a16="http://schemas.microsoft.com/office/drawing/2014/main" id="{32B89B9D-1C14-9CFF-51F6-6AB624FAFF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1390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C7F4F7D0-96F5-5C1A-4622-375B9C799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cee3756f84_0_105:notes">
            <a:extLst>
              <a:ext uri="{FF2B5EF4-FFF2-40B4-BE49-F238E27FC236}">
                <a16:creationId xmlns:a16="http://schemas.microsoft.com/office/drawing/2014/main" id="{AD9FE3C3-3CF7-FC8A-B503-A2016C1C8E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2cee3756f84_0_105:notes">
            <a:extLst>
              <a:ext uri="{FF2B5EF4-FFF2-40B4-BE49-F238E27FC236}">
                <a16:creationId xmlns:a16="http://schemas.microsoft.com/office/drawing/2014/main" id="{21AFD872-F4B8-EAEB-1DE0-751173ADCA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33762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222FF215-B539-EE55-4F16-4F2FC1698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cee3756f84_0_115:notes">
            <a:extLst>
              <a:ext uri="{FF2B5EF4-FFF2-40B4-BE49-F238E27FC236}">
                <a16:creationId xmlns:a16="http://schemas.microsoft.com/office/drawing/2014/main" id="{5EEAE05E-7680-059C-9F1F-295284AEC9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g2cee3756f84_0_115:notes">
            <a:extLst>
              <a:ext uri="{FF2B5EF4-FFF2-40B4-BE49-F238E27FC236}">
                <a16:creationId xmlns:a16="http://schemas.microsoft.com/office/drawing/2014/main" id="{FA45722E-6129-08A1-9612-0468944981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17947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f8927c7bf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6f8927c7bf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cee3756f84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g2cee3756f84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E1FF85C2-DF67-22E9-8024-DAD20F3D4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f8927c7bf_0_275:notes">
            <a:extLst>
              <a:ext uri="{FF2B5EF4-FFF2-40B4-BE49-F238E27FC236}">
                <a16:creationId xmlns:a16="http://schemas.microsoft.com/office/drawing/2014/main" id="{EF4BF9B9-BD06-A8C0-46C0-6626C25F24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6f8927c7bf_0_275:notes">
            <a:extLst>
              <a:ext uri="{FF2B5EF4-FFF2-40B4-BE49-F238E27FC236}">
                <a16:creationId xmlns:a16="http://schemas.microsoft.com/office/drawing/2014/main" id="{5F3DAC3B-C22F-BB25-C55D-4D86DB01A4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66765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DB79BA80-E4BA-EA45-7EB8-A3173056F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f8927c7bf_0_275:notes">
            <a:extLst>
              <a:ext uri="{FF2B5EF4-FFF2-40B4-BE49-F238E27FC236}">
                <a16:creationId xmlns:a16="http://schemas.microsoft.com/office/drawing/2014/main" id="{5F78F06D-B400-1DAD-10C1-5F7211F92F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6f8927c7bf_0_275:notes">
            <a:extLst>
              <a:ext uri="{FF2B5EF4-FFF2-40B4-BE49-F238E27FC236}">
                <a16:creationId xmlns:a16="http://schemas.microsoft.com/office/drawing/2014/main" id="{A71988F2-44A4-D2FB-0849-44E09FB322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95790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04F4385C-38FD-213F-A98F-31564D881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f8927c7bf_0_275:notes">
            <a:extLst>
              <a:ext uri="{FF2B5EF4-FFF2-40B4-BE49-F238E27FC236}">
                <a16:creationId xmlns:a16="http://schemas.microsoft.com/office/drawing/2014/main" id="{0C013F0E-AF89-4930-BA66-A8AF16E875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6f8927c7bf_0_275:notes">
            <a:extLst>
              <a:ext uri="{FF2B5EF4-FFF2-40B4-BE49-F238E27FC236}">
                <a16:creationId xmlns:a16="http://schemas.microsoft.com/office/drawing/2014/main" id="{5A2EDAF3-77BE-D12D-30B0-3DCE962FE8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9762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4;p13">
            <a:extLst>
              <a:ext uri="{FF2B5EF4-FFF2-40B4-BE49-F238E27FC236}">
                <a16:creationId xmlns:a16="http://schemas.microsoft.com/office/drawing/2014/main" id="{837C5F46-C634-0084-D1A8-B5B07CB67972}"/>
              </a:ext>
            </a:extLst>
          </p:cNvPr>
          <p:cNvSpPr txBox="1"/>
          <p:nvPr/>
        </p:nvSpPr>
        <p:spPr>
          <a:xfrm>
            <a:off x="1553988" y="248429"/>
            <a:ext cx="69639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5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56666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1400"/>
              <a:buFont typeface="Verdana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INFORMATION SCIENCE &amp; ENGINEERING</a:t>
            </a:r>
            <a:endParaRPr sz="1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55;p13">
            <a:extLst>
              <a:ext uri="{FF2B5EF4-FFF2-40B4-BE49-F238E27FC236}">
                <a16:creationId xmlns:a16="http://schemas.microsoft.com/office/drawing/2014/main" id="{60F1ED22-C4C8-5A72-E3AA-3F62BED48C9C}"/>
              </a:ext>
            </a:extLst>
          </p:cNvPr>
          <p:cNvSpPr txBox="1"/>
          <p:nvPr/>
        </p:nvSpPr>
        <p:spPr>
          <a:xfrm>
            <a:off x="569762" y="663829"/>
            <a:ext cx="7349400" cy="2043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endParaRPr lang="en" sz="1900" b="1" dirty="0">
              <a:solidFill>
                <a:srgbClr val="FF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endParaRPr lang="en" sz="1900" b="1" dirty="0">
              <a:solidFill>
                <a:srgbClr val="FF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" sz="19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Major Project</a:t>
            </a:r>
            <a:r>
              <a:rPr lang="en" sz="1900" b="1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(IS4</a:t>
            </a:r>
            <a:r>
              <a:rPr lang="en" sz="19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81P</a:t>
            </a:r>
            <a:r>
              <a:rPr lang="en" sz="1900" b="1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) </a:t>
            </a:r>
            <a:r>
              <a:rPr lang="en" sz="19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endParaRPr lang="en" sz="1900" b="1" dirty="0">
              <a:solidFill>
                <a:srgbClr val="FF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4400"/>
              <a:buFont typeface="Times New Roman"/>
              <a:buNone/>
            </a:pPr>
            <a:r>
              <a:rPr lang="en-US" sz="19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“Non-Human Identity Governance Agent”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19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4400"/>
              <a:buFont typeface="Times New Roman"/>
              <a:buNone/>
            </a:pPr>
            <a:r>
              <a:rPr lang="en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Evaluation- Phase-III</a:t>
            </a:r>
            <a:endParaRPr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4400"/>
              <a:buFont typeface="Calibri"/>
              <a:buNone/>
            </a:pPr>
            <a:r>
              <a:rPr lang="en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Academic Year – 2025-26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4400"/>
              <a:buFont typeface="Calibri"/>
              <a:buNone/>
            </a:pPr>
            <a:endParaRPr sz="19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4400"/>
              <a:buFont typeface="Calibri"/>
              <a:buNone/>
            </a:pPr>
            <a:endParaRPr lang="en-IN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207ABD86-AE59-5869-0CC8-0D058A718D05}"/>
              </a:ext>
            </a:extLst>
          </p:cNvPr>
          <p:cNvSpPr>
            <a:spLocks noGrp="1"/>
          </p:cNvSpPr>
          <p:nvPr/>
        </p:nvSpPr>
        <p:spPr>
          <a:xfrm>
            <a:off x="8193345" y="45014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"/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31A7D294-30E6-8A19-B0D1-E7603CB44EB1}"/>
              </a:ext>
            </a:extLst>
          </p:cNvPr>
          <p:cNvSpPr txBox="1"/>
          <p:nvPr/>
        </p:nvSpPr>
        <p:spPr>
          <a:xfrm>
            <a:off x="401956" y="2896764"/>
            <a:ext cx="362606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Carried Out By: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 Prakash Bhat (1RV22IS035)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Guide: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Merin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Meleet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</a:t>
            </a: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2223E24F-E094-74DB-3CF4-F86946E781AC}"/>
              </a:ext>
            </a:extLst>
          </p:cNvPr>
          <p:cNvSpPr txBox="1"/>
          <p:nvPr/>
        </p:nvSpPr>
        <p:spPr>
          <a:xfrm>
            <a:off x="5311182" y="2896764"/>
            <a:ext cx="320670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Carried Out At: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Honeywell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Guide: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Tejeshwar Rao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DevSecOps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Cloud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Honeywell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400" b="1" i="0">
                <a:latin typeface="Times New Roman"/>
              </a:rPr>
              <a:t>Incorporation of Suggestions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Refined UML component, class, and sequence diagrams — improved label clarity and reduced visual clutter for presentation readability</a:t>
            </a:r>
          </a:p>
          <a:p>
            <a:pPr latinLnBrk="0"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Redesigned system architecture as a compact four-layer left-to-right flow diagram with labeled data-flow arrows between layers</a:t>
            </a:r>
          </a:p>
          <a:p>
            <a:pPr marL="114300" indent="0" latinLnBrk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C1AF62-5E0D-4E5B-9BF4-04147E02A5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53C3955B-06A6-CAB7-4A46-E2992A5A3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6057E493-0987-0FF2-0686-5C9853A03B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400" b="1" i="0">
                <a:latin typeface="Times New Roman"/>
              </a:rPr>
              <a:t>Detailed Design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FA75B1-7A99-B75B-2299-DD14DB6436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lang="en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2" name="Picture 61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000" y="2060000"/>
            <a:ext cx="8400000" cy="180000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00000" y="3860000"/>
            <a:ext cx="83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latin typeface="Times New Roman"/>
              </a:rPr>
              <a:t>Fig. 1: Four-Layer NHI Governance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073188-6852-57A7-2165-97004AEE84A0}"/>
              </a:ext>
            </a:extLst>
          </p:cNvPr>
          <p:cNvSpPr txBox="1"/>
          <p:nvPr/>
        </p:nvSpPr>
        <p:spPr>
          <a:xfrm>
            <a:off x="372000" y="1003501"/>
            <a:ext cx="8328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Four-layer modular architecture where each layer operates independently. Discovery agents feed findings into the scoring engine, which passes scored results to the policy evaluator, and violations route to multi-channel reporting and notification outputs.</a:t>
            </a:r>
          </a:p>
        </p:txBody>
      </p:sp>
    </p:spTree>
    <p:extLst>
      <p:ext uri="{BB962C8B-B14F-4D97-AF65-F5344CB8AC3E}">
        <p14:creationId xmlns:p14="http://schemas.microsoft.com/office/powerpoint/2010/main" val="3181409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400" b="1" i="0">
                <a:latin typeface="Times New Roman"/>
              </a:rPr>
              <a:t>Implementation Details</a:t>
            </a: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129825" y="1064101"/>
            <a:ext cx="8752918" cy="3992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spcAft>
                <a:spcPts val="200"/>
              </a:spcAft>
              <a:buNone/>
            </a:pPr>
            <a:r>
              <a:rPr lang="en-IN" sz="1600" b="1" dirty="0">
                <a:latin typeface="Times New Roman"/>
              </a:rPr>
              <a:t>Backend (Python 3.11+ — 6 Core Modules):</a:t>
            </a:r>
          </a:p>
          <a:p>
            <a:pPr marL="0" lvl="0" indent="0" algn="just">
              <a:spcAft>
                <a:spcPts val="200"/>
              </a:spcAft>
              <a:buNone/>
            </a:pPr>
            <a:r>
              <a:rPr lang="en-IN" sz="1600" dirty="0">
                <a:latin typeface="Times New Roman"/>
              </a:rPr>
              <a:t>• Three discovery agents scan SSL/TLS certificates, GitHub non-human identities, and Azure service principal credentials independently</a:t>
            </a:r>
          </a:p>
          <a:p>
            <a:pPr marL="0" lvl="0" indent="0" algn="just">
              <a:spcAft>
                <a:spcPts val="200"/>
              </a:spcAft>
              <a:buNone/>
            </a:pPr>
            <a:r>
              <a:rPr lang="en-IN" sz="1600" dirty="0">
                <a:latin typeface="Times New Roman"/>
              </a:rPr>
              <a:t>• Risk scorer computes weighted 0–100 severity scores with optional GPT-4o enrichment for high-risk findings</a:t>
            </a:r>
          </a:p>
          <a:p>
            <a:pPr marL="0" lvl="0" indent="0" algn="just">
              <a:spcAft>
                <a:spcPts val="200"/>
              </a:spcAft>
              <a:buNone/>
            </a:pPr>
            <a:r>
              <a:rPr lang="en-IN" sz="1600" dirty="0">
                <a:latin typeface="Times New Roman"/>
              </a:rPr>
              <a:t>• Policy engine evaluates 7 governance rules mapped to SOC 2 and ISO 27001 compliance controls</a:t>
            </a:r>
          </a:p>
          <a:p>
            <a:pPr marL="0" lvl="0" indent="0" algn="just">
              <a:spcAft>
                <a:spcPts val="200"/>
              </a:spcAft>
              <a:buNone/>
            </a:pPr>
            <a:r>
              <a:rPr lang="en-IN" sz="1600" dirty="0">
                <a:latin typeface="Times New Roman"/>
              </a:rPr>
              <a:t>• Report generator produces unified HTML reports with colour-coded severity badges and rolling 15-report retention</a:t>
            </a:r>
          </a:p>
          <a:p>
            <a:pPr marL="0" lvl="0" indent="0" algn="just">
              <a:spcAft>
                <a:spcPts val="200"/>
              </a:spcAft>
              <a:buNone/>
            </a:pPr>
            <a:endParaRPr lang="en-IN" sz="1600" dirty="0">
              <a:latin typeface="Times New Roman"/>
            </a:endParaRPr>
          </a:p>
          <a:p>
            <a:pPr marL="0" lvl="0" indent="0" algn="just">
              <a:spcAft>
                <a:spcPts val="200"/>
              </a:spcAft>
              <a:buNone/>
            </a:pPr>
            <a:r>
              <a:rPr lang="en-IN" sz="1600" b="1" dirty="0">
                <a:latin typeface="Times New Roman"/>
              </a:rPr>
              <a:t>Frontend (React 19 + TypeScript + Vite):</a:t>
            </a:r>
          </a:p>
          <a:p>
            <a:pPr marL="0" lvl="0" indent="0" algn="just">
              <a:spcAft>
                <a:spcPts val="200"/>
              </a:spcAft>
              <a:buNone/>
            </a:pPr>
            <a:r>
              <a:rPr lang="en-IN" sz="1600" dirty="0">
                <a:latin typeface="Times New Roman"/>
              </a:rPr>
              <a:t>• Five-page interactive dashboard covering risk overview, NHI inventory, certificate monitoring, policy violations, and system settings</a:t>
            </a:r>
            <a:endParaRPr sz="1600" i="0" dirty="0">
              <a:latin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CD0DBE-A6FA-4A55-96D9-C4DA6059AC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400" b="1" i="0">
                <a:latin typeface="Times New Roman"/>
              </a:rPr>
              <a:t>Technical Solution Development</a:t>
            </a:r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1"/>
          </p:nvPr>
        </p:nvSpPr>
        <p:spPr>
          <a:xfrm>
            <a:off x="129825" y="1064102"/>
            <a:ext cx="8884500" cy="3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Risk Scoring: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finding scored 0–100 using four weighted components — age (40), type (30), privilege (20), and context (10)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score increases linearly as credential approaches its rotation deadline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type weight reflects blast radius — PATs and write keys score highest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Privilege component penalizes broad scopes like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admin:org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delete_repo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 scoring 50 or above are enriched with a GPT-4o generated risk summary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enrichment is optional and gracefully skipped when API is unavailable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score maps to severity — CRITICAL, HIGH, MEDIUM, or LOW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524F1F-A5D3-4CEE-B656-1DAD048ECF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>
          <a:extLst>
            <a:ext uri="{FF2B5EF4-FFF2-40B4-BE49-F238E27FC236}">
              <a16:creationId xmlns:a16="http://schemas.microsoft.com/office/drawing/2014/main" id="{4C88FEF6-9EA1-3F4E-553C-1FB6E0538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>
            <a:extLst>
              <a:ext uri="{FF2B5EF4-FFF2-40B4-BE49-F238E27FC236}">
                <a16:creationId xmlns:a16="http://schemas.microsoft.com/office/drawing/2014/main" id="{4BF21824-63B8-5541-35D1-AC2E3C025F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400" b="1" i="0" dirty="0">
                <a:latin typeface="Times New Roman"/>
              </a:rPr>
              <a:t>Technical Solution Development</a:t>
            </a:r>
          </a:p>
        </p:txBody>
      </p:sp>
      <p:sp>
        <p:nvSpPr>
          <p:cNvPr id="103" name="Google Shape;103;p21">
            <a:extLst>
              <a:ext uri="{FF2B5EF4-FFF2-40B4-BE49-F238E27FC236}">
                <a16:creationId xmlns:a16="http://schemas.microsoft.com/office/drawing/2014/main" id="{0CD9190A-5C9E-5540-C02B-38FC673154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825" y="1064102"/>
            <a:ext cx="8884500" cy="3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Policy-as-Code Enforcement: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Seven governance rules enforce rotation deadlines, certificate expiry thresholds, privilege escalation detection, and high-risk score escalation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Rotation rules flag stale PATs, write deploy keys, and Actions secrets based on configurable age limits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Certificate rules detect approaching and imminent SSL/TLS expiry separately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Catch-all rule escalates any finding scoring 70 or above regardless of type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thresholds externalized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config.yaml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adjustment without code changes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 mapped to SOC 2 and ISO 27001 compliance controls for audit evidence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84ECC9-36B5-E728-DEBA-D66F01BEA6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78926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>
          <a:extLst>
            <a:ext uri="{FF2B5EF4-FFF2-40B4-BE49-F238E27FC236}">
              <a16:creationId xmlns:a16="http://schemas.microsoft.com/office/drawing/2014/main" id="{0E3A41AA-EEED-0D2C-7A09-BC3DF4A2C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60;p14">
            <a:extLst>
              <a:ext uri="{FF2B5EF4-FFF2-40B4-BE49-F238E27FC236}">
                <a16:creationId xmlns:a16="http://schemas.microsoft.com/office/drawing/2014/main" id="{0C509E32-3ED6-5EA5-BD4E-F6252B8C4D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400" b="1" i="0">
                <a:latin typeface="Times New Roman"/>
              </a:rPr>
              <a:t>Environmental &amp; Sustainability Considerations</a:t>
            </a:r>
          </a:p>
        </p:txBody>
      </p:sp>
      <p:sp>
        <p:nvSpPr>
          <p:cNvPr id="11" name="Google Shape;61;p14">
            <a:extLst>
              <a:ext uri="{FF2B5EF4-FFF2-40B4-BE49-F238E27FC236}">
                <a16:creationId xmlns:a16="http://schemas.microsoft.com/office/drawing/2014/main" id="{B4E0965F-6158-D591-D219-289892319F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1" i="0" dirty="0">
                <a:latin typeface="Times New Roman"/>
              </a:rPr>
              <a:t>Sustainable Design Principles: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/>
            <a:r>
              <a:rPr sz="1600" b="0" i="0" dirty="0">
                <a:latin typeface="Times New Roman"/>
              </a:rPr>
              <a:t>Event-driven — workflows execute only on trigger, zero idle compute</a:t>
            </a:r>
          </a:p>
          <a:p>
            <a:pPr algn="l"/>
            <a:r>
              <a:rPr sz="1600" b="0" i="0" dirty="0">
                <a:latin typeface="Times New Roman"/>
              </a:rPr>
              <a:t>Serverless-first — GitHub Actions runners are on-demand, no always-on cost</a:t>
            </a:r>
          </a:p>
          <a:p>
            <a:pPr algn="l"/>
            <a:r>
              <a:rPr sz="1600" b="0" i="0" dirty="0">
                <a:latin typeface="Times New Roman"/>
              </a:rPr>
              <a:t>Rolling retention — 15-report window auto-prunes stale artifacts</a:t>
            </a:r>
          </a:p>
          <a:p>
            <a:pPr algn="l"/>
            <a:r>
              <a:rPr sz="1600" b="0" i="0" dirty="0">
                <a:latin typeface="Times New Roman"/>
              </a:rPr>
              <a:t>Efficient API usage — batch queries with pagination reduce redundant calls</a:t>
            </a:r>
          </a:p>
          <a:p>
            <a:pPr algn="l"/>
            <a:r>
              <a:rPr sz="1600" b="0" i="0" dirty="0">
                <a:latin typeface="Times New Roman"/>
              </a:rPr>
              <a:t>Graceful degradation — missing credentials silently skipped, not retried</a:t>
            </a:r>
          </a:p>
          <a:p>
            <a:pPr algn="l"/>
            <a:r>
              <a:rPr sz="1600" b="0" i="0" dirty="0">
                <a:latin typeface="Times New Roman"/>
              </a:rPr>
              <a:t>LLM cost optimization — GPT-4o invoked only for findings scoring ≥ 50</a:t>
            </a:r>
          </a:p>
          <a:p>
            <a:pPr algn="l"/>
            <a:endParaRPr sz="1600" b="0" i="0" dirty="0">
              <a:latin typeface="Times New Roman"/>
            </a:endParaRPr>
          </a:p>
          <a:p>
            <a:pPr algn="l"/>
            <a:r>
              <a:rPr sz="1600" b="1" i="0" dirty="0">
                <a:latin typeface="Times New Roman"/>
              </a:rPr>
              <a:t>Resource Metrics:</a:t>
            </a:r>
          </a:p>
          <a:p>
            <a:pPr algn="l"/>
            <a:r>
              <a:rPr sz="1600" b="0" i="0" dirty="0">
                <a:latin typeface="Times New Roman"/>
              </a:rPr>
              <a:t>Average scan: 45 sec (certs) | 90 sec (GitHub + Azure) | 30 sec (reports)</a:t>
            </a:r>
          </a:p>
          <a:p>
            <a:pPr algn="l"/>
            <a:r>
              <a:rPr sz="1600" b="0" i="0" dirty="0">
                <a:latin typeface="Times New Roman"/>
              </a:rPr>
              <a:t>Monthly compute cost: $0 (GitHub Actions free tier)</a:t>
            </a:r>
          </a:p>
          <a:p>
            <a:pPr algn="l"/>
            <a:r>
              <a:rPr sz="1600" b="0" i="0" dirty="0">
                <a:latin typeface="Times New Roman"/>
              </a:rPr>
              <a:t>No persistent database — stateless JSON inventory, no idle DB cost</a:t>
            </a:r>
          </a:p>
          <a:p>
            <a:pPr algn="l"/>
            <a:r>
              <a:rPr lang="en-IN" sz="1600" b="0" i="0" dirty="0">
                <a:latin typeface="Times New Roman"/>
              </a:rPr>
              <a:t>• </a:t>
            </a:r>
            <a:r>
              <a:rPr sz="1600" b="0" i="0" dirty="0">
                <a:latin typeface="Times New Roman"/>
              </a:rPr>
              <a:t>Non-critical scans scheduled off-peak hours to reduce CI queue load</a:t>
            </a: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2ECF8B83-4363-2E1C-D1D4-0B686BAF4D3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48269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7">
          <a:extLst>
            <a:ext uri="{FF2B5EF4-FFF2-40B4-BE49-F238E27FC236}">
              <a16:creationId xmlns:a16="http://schemas.microsoft.com/office/drawing/2014/main" id="{84F30D4B-EA57-3453-1FE9-B32612864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>
            <a:extLst>
              <a:ext uri="{FF2B5EF4-FFF2-40B4-BE49-F238E27FC236}">
                <a16:creationId xmlns:a16="http://schemas.microsoft.com/office/drawing/2014/main" id="{CAFD30E2-18EE-6229-0EC9-0A021AB443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400" b="1" i="0">
                <a:latin typeface="Times New Roman"/>
              </a:rPr>
              <a:t>Demonstration — System Workflow</a:t>
            </a:r>
          </a:p>
        </p:txBody>
      </p:sp>
      <p:sp>
        <p:nvSpPr>
          <p:cNvPr id="129" name="Google Shape;129;p25">
            <a:extLst>
              <a:ext uri="{FF2B5EF4-FFF2-40B4-BE49-F238E27FC236}">
                <a16:creationId xmlns:a16="http://schemas.microsoft.com/office/drawing/2014/main" id="{86AC7291-E195-69C5-9571-84C9A38F2D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buNone/>
            </a:pPr>
            <a:r>
              <a:rPr sz="1400" b="0" i="0">
                <a:latin typeface="Times New Roman"/>
              </a:rPr>
              <a:t>End-to-end governance cycle: Discovery agents scan NHIs across three platforms, risk scorer classifies severity, policy engine evaluates 7 rules, and violations route to reports and multi-channel notifications.</a:t>
            </a:r>
            <a:endParaRPr dirty="0">
              <a:latin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0C3D5F-7CD2-2116-C443-39E669F28B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pic>
        <p:nvPicPr>
          <p:cNvPr id="130" name="Picture 129" descr="workflow.png">
            <a:extLst>
              <a:ext uri="{FF2B5EF4-FFF2-40B4-BE49-F238E27FC236}">
                <a16:creationId xmlns:a16="http://schemas.microsoft.com/office/drawing/2014/main" id="{79CBBD8A-D2DA-1888-ABBD-A1FFE7C61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000" y="1800000"/>
            <a:ext cx="6744000" cy="2800000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5E19CD3A-E73C-4954-10FF-159785E79ECC}"/>
              </a:ext>
            </a:extLst>
          </p:cNvPr>
          <p:cNvSpPr txBox="1"/>
          <p:nvPr/>
        </p:nvSpPr>
        <p:spPr>
          <a:xfrm>
            <a:off x="400000" y="4660000"/>
            <a:ext cx="83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latin typeface="Times New Roman"/>
              </a:rPr>
              <a:t>Fig. 2: Governance Workflow Pipeline</a:t>
            </a:r>
          </a:p>
        </p:txBody>
      </p:sp>
    </p:spTree>
    <p:extLst>
      <p:ext uri="{BB962C8B-B14F-4D97-AF65-F5344CB8AC3E}">
        <p14:creationId xmlns:p14="http://schemas.microsoft.com/office/powerpoint/2010/main" val="358763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400" b="1" i="0">
                <a:latin typeface="Times New Roman"/>
              </a:rPr>
              <a:t>Demonstration — Execution Flow</a:t>
            </a: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26"/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buNone/>
            </a:pPr>
            <a:r>
              <a:rPr sz="1400" b="0" i="0">
                <a:latin typeface="Times New Roman"/>
              </a:rPr>
              <a:t>Interaction sequence during a single governance scan showing data flow from scheduler through discovery, scoring, policy, to output.</a:t>
            </a:r>
            <a:endParaRPr dirty="0">
              <a:latin typeface="Times New Roman" panose="02020603050405020304" pitchFamily="18" charset="0"/>
              <a:ea typeface="MS Mincho" panose="02020609040205080304" pitchFamily="49" charset="-128"/>
              <a:sym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63E166-A2F1-4C7B-9188-4F1ED1CD62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pic>
        <p:nvPicPr>
          <p:cNvPr id="136" name="Picture 135" descr="sequ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000" y="1800000"/>
            <a:ext cx="5544000" cy="2800000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400000" y="4660000"/>
            <a:ext cx="83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latin typeface="Times New Roman"/>
              </a:rPr>
              <a:t>Fig. 3: Execution Sequence Diagram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2400" b="1" dirty="0">
                <a:latin typeface="Times New Roman"/>
              </a:rPr>
              <a:t>Component Architecture</a:t>
            </a:r>
            <a:endParaRPr sz="2400" b="1" i="0" dirty="0">
              <a:latin typeface="Times New Roman"/>
            </a:endParaRPr>
          </a:p>
        </p:txBody>
      </p:sp>
      <p:sp>
        <p:nvSpPr>
          <p:cNvPr id="129" name="Google Shape;129;p25"/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US" sz="1400" dirty="0">
                <a:latin typeface="Times New Roman"/>
              </a:rPr>
              <a:t>Module dependency map showing how </a:t>
            </a:r>
            <a:r>
              <a:rPr lang="en-US" sz="1400" dirty="0" err="1">
                <a:latin typeface="Times New Roman"/>
              </a:rPr>
              <a:t>config.yaml</a:t>
            </a:r>
            <a:r>
              <a:rPr lang="en-US" sz="1400" dirty="0">
                <a:latin typeface="Times New Roman"/>
              </a:rPr>
              <a:t> drives all agents, the orchestrator coordinates execution, and outputs are independent.</a:t>
            </a:r>
          </a:p>
          <a:p>
            <a:pPr algn="just"/>
            <a:endParaRPr lang="en-US" sz="1400" dirty="0">
              <a:latin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E86ED1-86B0-4B20-8836-5107CE72B6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pic>
        <p:nvPicPr>
          <p:cNvPr id="4" name="Picture 3" descr="compon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00" y="1700000"/>
            <a:ext cx="8200000" cy="24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0000" y="4160000"/>
            <a:ext cx="83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 dirty="0">
                <a:latin typeface="Times New Roman"/>
              </a:rPr>
              <a:t>Fig. 4: Component Dependency Diagram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3">
          <a:extLst>
            <a:ext uri="{FF2B5EF4-FFF2-40B4-BE49-F238E27FC236}">
              <a16:creationId xmlns:a16="http://schemas.microsoft.com/office/drawing/2014/main" id="{0E3F1A91-1B89-8EFF-5965-06DBE746F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>
            <a:extLst>
              <a:ext uri="{FF2B5EF4-FFF2-40B4-BE49-F238E27FC236}">
                <a16:creationId xmlns:a16="http://schemas.microsoft.com/office/drawing/2014/main" id="{0B0CDBED-3960-863D-2484-70FB2CAA24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400" b="1" i="0">
                <a:latin typeface="Times New Roman"/>
              </a:rPr>
              <a:t>Results Obtained so far</a:t>
            </a: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26">
            <a:extLst>
              <a:ext uri="{FF2B5EF4-FFF2-40B4-BE49-F238E27FC236}">
                <a16:creationId xmlns:a16="http://schemas.microsoft.com/office/drawing/2014/main" id="{74E12DBC-0AB4-D29B-D8FE-99B8D131BF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just">
              <a:buNone/>
            </a:pPr>
            <a:r>
              <a:rPr lang="en-IN" sz="1400" b="1" dirty="0">
                <a:latin typeface="Times New Roman"/>
              </a:rPr>
              <a:t>Discovery &amp; Monitoring:</a:t>
            </a:r>
            <a:endParaRPr lang="en-US" sz="1400" b="0" i="0" dirty="0">
              <a:latin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400" b="0" i="0" dirty="0">
                <a:latin typeface="Times New Roman"/>
              </a:rPr>
              <a:t>Full NHI discovery — GitHub PATs, deploy keys, Actions secrets,</a:t>
            </a:r>
            <a:r>
              <a:rPr lang="en-US" sz="1400" dirty="0">
                <a:latin typeface="Times New Roman"/>
              </a:rPr>
              <a:t> </a:t>
            </a:r>
            <a:r>
              <a:rPr lang="en-US" sz="1400" b="0" i="0" dirty="0">
                <a:latin typeface="Times New Roman"/>
              </a:rPr>
              <a:t>workflow secret references, Azure SPs, SSL/TLS certificates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1400" b="0" i="0" dirty="0">
                <a:latin typeface="Times New Roman"/>
              </a:rPr>
              <a:t>P</a:t>
            </a:r>
            <a:r>
              <a:rPr sz="1400" b="0" i="0" dirty="0" err="1">
                <a:latin typeface="Times New Roman"/>
              </a:rPr>
              <a:t>ython</a:t>
            </a:r>
            <a:r>
              <a:rPr sz="1400" b="0" i="0" dirty="0">
                <a:latin typeface="Times New Roman"/>
              </a:rPr>
              <a:t>-native SSL monitor replacing legacy Bash script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sz="1400" b="0" i="0" dirty="0">
                <a:latin typeface="Times New Roman"/>
              </a:rPr>
              <a:t>Custom GitHub REST API client with pagination and scope inspection</a:t>
            </a:r>
          </a:p>
          <a:p>
            <a:pPr marL="114300" indent="0" algn="just">
              <a:buNone/>
            </a:pPr>
            <a:r>
              <a:rPr sz="1400" b="1" i="0" dirty="0">
                <a:latin typeface="Times New Roman"/>
              </a:rPr>
              <a:t>AI Classification: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sz="1400" b="0" i="0" dirty="0">
                <a:latin typeface="Times New Roman"/>
              </a:rPr>
              <a:t>Deterministic 0–100 scoring with four weighted components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sz="1400" b="0" i="0" dirty="0" err="1">
                <a:latin typeface="Times New Roman"/>
              </a:rPr>
              <a:t>LangChain</a:t>
            </a:r>
            <a:r>
              <a:rPr sz="1400" b="0" i="0" dirty="0">
                <a:latin typeface="Times New Roman"/>
              </a:rPr>
              <a:t> + GPT-4o enrichment for findings scoring ≥ 50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sz="1400" b="0" i="0" dirty="0">
                <a:latin typeface="Times New Roman"/>
              </a:rPr>
              <a:t>Dual execution: </a:t>
            </a:r>
            <a:r>
              <a:rPr sz="1400" b="0" i="0" dirty="0" err="1">
                <a:latin typeface="Times New Roman"/>
              </a:rPr>
              <a:t>LangChain</a:t>
            </a:r>
            <a:r>
              <a:rPr sz="1400" b="0" i="0" dirty="0">
                <a:latin typeface="Times New Roman"/>
              </a:rPr>
              <a:t> Agent mode + Direct sequential mode</a:t>
            </a:r>
          </a:p>
          <a:p>
            <a:pPr marL="114300" indent="0" algn="just">
              <a:buNone/>
            </a:pPr>
            <a:r>
              <a:rPr sz="1400" b="1" i="0" dirty="0">
                <a:latin typeface="Times New Roman"/>
              </a:rPr>
              <a:t>Policy &amp; Compliance: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sz="1400" b="0" i="0" dirty="0">
                <a:latin typeface="Times New Roman"/>
              </a:rPr>
              <a:t>7 rules (R001–R007) with SOC 2 and ISO 27001 control mapping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sz="1400" b="0" i="0" dirty="0">
                <a:latin typeface="Times New Roman"/>
              </a:rPr>
              <a:t>All thresholds externalized in </a:t>
            </a:r>
            <a:r>
              <a:rPr sz="1400" b="0" i="0" dirty="0" err="1">
                <a:latin typeface="Times New Roman"/>
              </a:rPr>
              <a:t>config.yaml</a:t>
            </a:r>
            <a:r>
              <a:rPr sz="1400" b="0" i="0" dirty="0">
                <a:latin typeface="Times New Roman"/>
              </a:rPr>
              <a:t> — zero hard-coded values</a:t>
            </a:r>
          </a:p>
          <a:p>
            <a:pPr marL="114300" indent="0" algn="just">
              <a:buNone/>
            </a:pPr>
            <a:r>
              <a:rPr sz="1400" b="1" i="0" dirty="0">
                <a:latin typeface="Times New Roman"/>
              </a:rPr>
              <a:t>Reporting &amp; Notification: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sz="1400" b="0" i="0" dirty="0">
                <a:latin typeface="Times New Roman"/>
              </a:rPr>
              <a:t>Unified HTML report with severity badges and rolling retention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sz="1400" b="0" i="0" dirty="0">
                <a:latin typeface="Times New Roman"/>
              </a:rPr>
              <a:t>Multi-channel: SMTP email, Slack Block Kit, Jira ticket creation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sz="1400" b="0" i="0" dirty="0">
                <a:latin typeface="Times New Roman"/>
              </a:rPr>
              <a:t>5-page React dashboard with risk charts and NHI inventory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0FD2BA-C9FC-DA0D-FA48-F347265F9B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</a:t>
            </a:fld>
            <a:endParaRPr kumimoji="0" lang="en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8651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3">
          <a:extLst>
            <a:ext uri="{FF2B5EF4-FFF2-40B4-BE49-F238E27FC236}">
              <a16:creationId xmlns:a16="http://schemas.microsoft.com/office/drawing/2014/main" id="{FF067644-50DC-4294-80F7-1D994D104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34;p26">
            <a:extLst>
              <a:ext uri="{FF2B5EF4-FFF2-40B4-BE49-F238E27FC236}">
                <a16:creationId xmlns:a16="http://schemas.microsoft.com/office/drawing/2014/main" id="{6406B54F-CA2F-D32C-E9EB-956E199F05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400" b="1" i="0">
                <a:latin typeface="Times New Roman"/>
              </a:rPr>
              <a:t>Work to be done</a:t>
            </a: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135;p26">
            <a:extLst>
              <a:ext uri="{FF2B5EF4-FFF2-40B4-BE49-F238E27FC236}">
                <a16:creationId xmlns:a16="http://schemas.microsoft.com/office/drawing/2014/main" id="{F9BB06D6-9DAD-B3AC-F19C-F1C6E0929D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spcAft>
                <a:spcPts val="200"/>
              </a:spcAft>
              <a:buNone/>
            </a:pPr>
            <a:r>
              <a:rPr sz="2000" b="0" i="0" dirty="0">
                <a:latin typeface="Times New Roman"/>
              </a:rPr>
              <a:t>Automated credential rotation via Azure Key Vault with</a:t>
            </a:r>
            <a:r>
              <a:rPr lang="en-IN" sz="2000" dirty="0">
                <a:latin typeface="Times New Roman"/>
              </a:rPr>
              <a:t> </a:t>
            </a:r>
            <a:r>
              <a:rPr sz="2000" b="0" i="0" dirty="0">
                <a:latin typeface="Times New Roman"/>
              </a:rPr>
              <a:t>pre-rotation validation and rollback mechanism</a:t>
            </a:r>
            <a:endParaRPr sz="2000" dirty="0">
              <a:latin typeface="Times New Roman" panose="02020603050405020304" pitchFamily="18" charset="0"/>
              <a:ea typeface="MS Mincho" panose="02020609040205080304" pitchFamily="49" charset="-128"/>
              <a:sym typeface="Times New Roman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sz="2000" b="0" i="0" dirty="0">
                <a:latin typeface="Times New Roman"/>
              </a:rPr>
              <a:t>Real-time anomaly detection for unusual identity access patterns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sz="2000" b="0" i="0" dirty="0">
                <a:latin typeface="Times New Roman"/>
              </a:rPr>
              <a:t>Migrate Python policy rules to OPA/Rego for language-agnostic</a:t>
            </a:r>
            <a:r>
              <a:rPr lang="en-IN" sz="2000" dirty="0">
                <a:latin typeface="Times New Roman"/>
              </a:rPr>
              <a:t> </a:t>
            </a:r>
            <a:r>
              <a:rPr sz="2000" b="0" i="0" dirty="0">
                <a:latin typeface="Times New Roman"/>
              </a:rPr>
              <a:t>evaluation and Kubernetes-native enforcement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sz="2000" b="0" i="0" dirty="0">
                <a:latin typeface="Times New Roman"/>
              </a:rPr>
              <a:t>Multi-tenant support for multiple Azure AD tenant governance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sz="2000" b="0" i="0" dirty="0">
                <a:latin typeface="Times New Roman"/>
              </a:rPr>
              <a:t>Enterprise-scale performance testing (1,000+ NHIs within SLA)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b="0" i="0" dirty="0">
                <a:latin typeface="Times New Roman"/>
              </a:rPr>
              <a:t>Uni</a:t>
            </a:r>
            <a:r>
              <a:rPr sz="2000" b="0" i="0" dirty="0">
                <a:latin typeface="Times New Roman"/>
              </a:rPr>
              <a:t>t and integration test suite with ≥ 80% code coverage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sz="2000" b="0" i="0" dirty="0">
                <a:latin typeface="Times New Roman"/>
              </a:rPr>
              <a:t>Docker containerization with Helm chart for Kubernetes deployment</a:t>
            </a: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03B21BC1-2810-3762-459D-AD96E5B53A0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12</a:t>
            </a:fld>
            <a:endParaRPr kumimoji="0" lang="en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390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3">
          <a:extLst>
            <a:ext uri="{FF2B5EF4-FFF2-40B4-BE49-F238E27FC236}">
              <a16:creationId xmlns:a16="http://schemas.microsoft.com/office/drawing/2014/main" id="{695A5FDA-0B09-813B-1AB0-950A58C1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C9E00C8-569A-A099-EA26-01137AD22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/>
          <a:lstStyle/>
          <a:p>
            <a:pPr algn="ctr"/>
            <a:r>
              <a:rPr sz="2400" b="1" i="0" dirty="0">
                <a:latin typeface="Times New Roman"/>
              </a:rPr>
              <a:t>References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98CB27D-A788-F69F-A83A-F633E1443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wrap="square">
            <a:normAutofit/>
          </a:bodyPr>
          <a:lstStyle/>
          <a:p>
            <a:pPr marL="11430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sz="1400" i="0" dirty="0">
                <a:latin typeface="Times New Roman"/>
              </a:rPr>
              <a:t>[1] </a:t>
            </a:r>
            <a:r>
              <a:rPr sz="1400" i="0" dirty="0" err="1">
                <a:latin typeface="Times New Roman"/>
              </a:rPr>
              <a:t>Ponemon</a:t>
            </a:r>
            <a:r>
              <a:rPr sz="1400" i="0" dirty="0">
                <a:latin typeface="Times New Roman"/>
              </a:rPr>
              <a:t> Institute, "The 2024 State of Certificate Lifecycle Management," DigiCert, 2024.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sz="1400" i="0" dirty="0">
                <a:latin typeface="Times New Roman"/>
              </a:rPr>
              <a:t>[2] E. Barker, "Recommendation for Key Management: Part 1 – General," NIST SP 800-57 Rev. 5, May 2020.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sz="1400" i="0" dirty="0">
                <a:latin typeface="Times New Roman"/>
              </a:rPr>
              <a:t>[3] Microsoft, "Azure Well-Architected Framework: Identity and Access Management," Microsoft Learn, 2024.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sz="1400" i="0" dirty="0">
                <a:latin typeface="Times New Roman"/>
              </a:rPr>
              <a:t>[4] Microsoft, "Application and Service Principal Objects in Azure AD," Microsoft Learn, 2024.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sz="1400" i="0" dirty="0">
                <a:latin typeface="Times New Roman"/>
              </a:rPr>
              <a:t>[5] CISA, "IAM Best Practices Guide for Administrators," CISA, 2024.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sz="1400" i="0" dirty="0">
                <a:latin typeface="Times New Roman"/>
              </a:rPr>
              <a:t>[6] H. Chase et al., "</a:t>
            </a:r>
            <a:r>
              <a:rPr sz="1400" i="0" dirty="0" err="1">
                <a:latin typeface="Times New Roman"/>
              </a:rPr>
              <a:t>LangChain</a:t>
            </a:r>
            <a:r>
              <a:rPr sz="1400" i="0" dirty="0">
                <a:latin typeface="Times New Roman"/>
              </a:rPr>
              <a:t>: A Framework for LLM Applications," GitHub, 2023.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sz="1400" i="0" dirty="0">
                <a:latin typeface="Times New Roman"/>
              </a:rPr>
              <a:t>[7] T. </a:t>
            </a:r>
            <a:r>
              <a:rPr sz="1400" i="0" dirty="0" err="1">
                <a:latin typeface="Times New Roman"/>
              </a:rPr>
              <a:t>Topsakal</a:t>
            </a:r>
            <a:r>
              <a:rPr sz="1400" i="0" dirty="0">
                <a:latin typeface="Times New Roman"/>
              </a:rPr>
              <a:t> and T. Akinci, "Creating LLM Applications Utilizing </a:t>
            </a:r>
            <a:r>
              <a:rPr sz="1400" i="0" dirty="0" err="1">
                <a:latin typeface="Times New Roman"/>
              </a:rPr>
              <a:t>LangChain</a:t>
            </a:r>
            <a:r>
              <a:rPr sz="1400" i="0" dirty="0">
                <a:latin typeface="Times New Roman"/>
              </a:rPr>
              <a:t>," in Proc. ICAICE, 2023.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sz="1400" i="0" dirty="0">
                <a:latin typeface="Times New Roman"/>
              </a:rPr>
              <a:t>[8] Open Policy Agent, "Policy-Based Control for Cloud Native Environments," CNCF, 2024.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sz="1400" i="0" dirty="0">
                <a:latin typeface="Times New Roman"/>
              </a:rPr>
              <a:t>[9] GitHub Inc., "Security Hardening for GitHub Actions," GitHub Docs, 2024.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sz="1400" i="0" dirty="0">
                <a:latin typeface="Times New Roman"/>
              </a:rPr>
              <a:t>[10] B. Beyer et al., Site Reliability Engineering, O'Reilly, 2016.</a:t>
            </a:r>
          </a:p>
        </p:txBody>
      </p:sp>
    </p:spTree>
    <p:extLst>
      <p:ext uri="{BB962C8B-B14F-4D97-AF65-F5344CB8AC3E}">
        <p14:creationId xmlns:p14="http://schemas.microsoft.com/office/powerpoint/2010/main" val="163967625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1129</Words>
  <Application>Microsoft Office PowerPoint</Application>
  <PresentationFormat>On-screen Show (16:9)</PresentationFormat>
  <Paragraphs>124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Times New Roman</vt:lpstr>
      <vt:lpstr>Verdana</vt:lpstr>
      <vt:lpstr>Wingdings</vt:lpstr>
      <vt:lpstr>Simple Light</vt:lpstr>
      <vt:lpstr>PowerPoint Presentation</vt:lpstr>
      <vt:lpstr>Incorporation of Suggestions</vt:lpstr>
      <vt:lpstr>Detailed Design</vt:lpstr>
      <vt:lpstr>Implementation Details</vt:lpstr>
      <vt:lpstr>Technical Solution Development</vt:lpstr>
      <vt:lpstr>Technical Solution Development</vt:lpstr>
      <vt:lpstr>Environmental &amp; Sustainability Considerations</vt:lpstr>
      <vt:lpstr>Demonstration — System Workflow</vt:lpstr>
      <vt:lpstr>Demonstration — Execution Flow</vt:lpstr>
      <vt:lpstr>Component Architecture</vt:lpstr>
      <vt:lpstr>Results Obtained so far</vt:lpstr>
      <vt:lpstr>Work to be done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Vanishree K</dc:creator>
  <cp:lastModifiedBy>Bhat, Manu (He/Him/His)</cp:lastModifiedBy>
  <cp:revision>16</cp:revision>
  <dcterms:modified xsi:type="dcterms:W3CDTF">2026-05-08T16:19:14Z</dcterms:modified>
</cp:coreProperties>
</file>